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10287000" cx="18288000"/>
  <p:notesSz cx="6858000" cy="9144000"/>
  <p:embeddedFontLst>
    <p:embeddedFont>
      <p:font typeface="Open Sans"/>
      <p:bold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9" roundtripDataSignature="AMtx7mi1+JjZiuz8z9uOmq5+h5tp78ud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boldItalic.fntdata"/><Relationship Id="rId47" Type="http://schemas.openxmlformats.org/officeDocument/2006/relationships/font" Target="fonts/OpenSans-bold.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1"/>
          <p:cNvSpPr/>
          <p:nvPr>
            <p:ph idx="2" type="pic"/>
          </p:nvPr>
        </p:nvSpPr>
        <p:spPr>
          <a:xfrm>
            <a:off x="1792288" y="612775"/>
            <a:ext cx="5486400" cy="4114800"/>
          </a:xfrm>
          <a:prstGeom prst="rect">
            <a:avLst/>
          </a:prstGeom>
          <a:noFill/>
          <a:ln>
            <a:noFill/>
          </a:ln>
        </p:spPr>
      </p:sp>
      <p:sp>
        <p:nvSpPr>
          <p:cNvPr id="64" name="Google Shape;64;p5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jpg"/><Relationship Id="rId11" Type="http://schemas.openxmlformats.org/officeDocument/2006/relationships/image" Target="../media/image15.png"/><Relationship Id="rId10" Type="http://schemas.openxmlformats.org/officeDocument/2006/relationships/slide" Target="/ppt/slides/slide40.xml"/><Relationship Id="rId9" Type="http://schemas.openxmlformats.org/officeDocument/2006/relationships/slide" Target="/ppt/slides/slide23.xml"/><Relationship Id="rId5" Type="http://schemas.openxmlformats.org/officeDocument/2006/relationships/image" Target="../media/image3.jpg"/><Relationship Id="rId6" Type="http://schemas.openxmlformats.org/officeDocument/2006/relationships/slide" Target="/ppt/slides/slide3.xml"/><Relationship Id="rId7" Type="http://schemas.openxmlformats.org/officeDocument/2006/relationships/slide" Target="/ppt/slides/slide4.xml"/><Relationship Id="rId8" Type="http://schemas.openxmlformats.org/officeDocument/2006/relationships/slide" Target="/ppt/slid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5.png"/><Relationship Id="rId5" Type="http://schemas.openxmlformats.org/officeDocument/2006/relationships/image" Target="../media/image1.png"/><Relationship Id="rId6"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15.png"/><Relationship Id="rId5" Type="http://schemas.openxmlformats.org/officeDocument/2006/relationships/image" Target="../media/image20.png"/><Relationship Id="rId6" Type="http://schemas.openxmlformats.org/officeDocument/2006/relationships/image" Target="../media/image1.png"/><Relationship Id="rId7"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image" Target="../media/image15.png"/><Relationship Id="rId5" Type="http://schemas.openxmlformats.org/officeDocument/2006/relationships/image" Target="../media/image20.png"/><Relationship Id="rId6" Type="http://schemas.openxmlformats.org/officeDocument/2006/relationships/image" Target="../media/image1.png"/><Relationship Id="rId7"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4.jpg"/><Relationship Id="rId4" Type="http://schemas.openxmlformats.org/officeDocument/2006/relationships/image" Target="../media/image15.png"/><Relationship Id="rId5" Type="http://schemas.openxmlformats.org/officeDocument/2006/relationships/image" Target="../media/image1.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0.jpg"/><Relationship Id="rId4" Type="http://schemas.openxmlformats.org/officeDocument/2006/relationships/image" Target="../media/image15.png"/><Relationship Id="rId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0.jpg"/><Relationship Id="rId4" Type="http://schemas.openxmlformats.org/officeDocument/2006/relationships/image" Target="../media/image15.png"/><Relationship Id="rId5" Type="http://schemas.openxmlformats.org/officeDocument/2006/relationships/image" Target="../media/image27.png"/><Relationship Id="rId6" Type="http://schemas.openxmlformats.org/officeDocument/2006/relationships/image" Target="../media/image3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0.jp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2.jpg"/><Relationship Id="rId4" Type="http://schemas.openxmlformats.org/officeDocument/2006/relationships/image" Target="../media/image35.png"/><Relationship Id="rId5" Type="http://schemas.openxmlformats.org/officeDocument/2006/relationships/image" Target="../media/image44.jpg"/><Relationship Id="rId6" Type="http://schemas.openxmlformats.org/officeDocument/2006/relationships/image" Target="../media/image37.png"/><Relationship Id="rId7" Type="http://schemas.openxmlformats.org/officeDocument/2006/relationships/image" Target="../media/image29.jpg"/><Relationship Id="rId8" Type="http://schemas.openxmlformats.org/officeDocument/2006/relationships/image" Target="../media/image15.png"/></Relationships>
</file>

<file path=ppt/slides/_rels/slide23.xml.rels><?xml version="1.0" encoding="UTF-8" standalone="yes"?><Relationships xmlns="http://schemas.openxmlformats.org/package/2006/relationships"><Relationship Id="rId11" Type="http://schemas.openxmlformats.org/officeDocument/2006/relationships/image" Target="../media/image15.png"/><Relationship Id="rId10" Type="http://schemas.openxmlformats.org/officeDocument/2006/relationships/image" Target="../media/image45.png"/><Relationship Id="rId13" Type="http://schemas.openxmlformats.org/officeDocument/2006/relationships/image" Target="../media/image60.png"/><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38.jpg"/><Relationship Id="rId9" Type="http://schemas.openxmlformats.org/officeDocument/2006/relationships/image" Target="../media/image31.png"/><Relationship Id="rId15" Type="http://schemas.openxmlformats.org/officeDocument/2006/relationships/image" Target="../media/image41.png"/><Relationship Id="rId14" Type="http://schemas.openxmlformats.org/officeDocument/2006/relationships/image" Target="../media/image61.png"/><Relationship Id="rId17" Type="http://schemas.openxmlformats.org/officeDocument/2006/relationships/image" Target="../media/image46.png"/><Relationship Id="rId16" Type="http://schemas.openxmlformats.org/officeDocument/2006/relationships/image" Target="../media/image47.png"/><Relationship Id="rId5" Type="http://schemas.openxmlformats.org/officeDocument/2006/relationships/image" Target="../media/image34.png"/><Relationship Id="rId6" Type="http://schemas.openxmlformats.org/officeDocument/2006/relationships/image" Target="../media/image32.png"/><Relationship Id="rId7" Type="http://schemas.openxmlformats.org/officeDocument/2006/relationships/image" Target="../media/image28.png"/><Relationship Id="rId8"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55.png"/><Relationship Id="rId8"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2.png"/><Relationship Id="rId4" Type="http://schemas.openxmlformats.org/officeDocument/2006/relationships/image" Target="../media/image17.png"/><Relationship Id="rId5" Type="http://schemas.openxmlformats.org/officeDocument/2006/relationships/image" Target="../media/image48.png"/><Relationship Id="rId6" Type="http://schemas.openxmlformats.org/officeDocument/2006/relationships/image" Target="../media/image15.png"/><Relationship Id="rId7" Type="http://schemas.openxmlformats.org/officeDocument/2006/relationships/image" Target="../media/image5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51.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7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51.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65.png"/><Relationship Id="rId5" Type="http://schemas.openxmlformats.org/officeDocument/2006/relationships/image" Target="../media/image5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5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71.png"/><Relationship Id="rId5" Type="http://schemas.openxmlformats.org/officeDocument/2006/relationships/image" Target="../media/image63.png"/><Relationship Id="rId6" Type="http://schemas.openxmlformats.org/officeDocument/2006/relationships/image" Target="../media/image6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77.png"/><Relationship Id="rId5" Type="http://schemas.openxmlformats.org/officeDocument/2006/relationships/image" Target="../media/image7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80.png"/><Relationship Id="rId5" Type="http://schemas.openxmlformats.org/officeDocument/2006/relationships/image" Target="../media/image7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5.png"/><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5.png"/><Relationship Id="rId4" Type="http://schemas.openxmlformats.org/officeDocument/2006/relationships/image" Target="../media/image8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5.png"/><Relationship Id="rId4" Type="http://schemas.openxmlformats.org/officeDocument/2006/relationships/image" Target="../media/image7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5.png"/><Relationship Id="rId4" Type="http://schemas.openxmlformats.org/officeDocument/2006/relationships/image" Target="../media/image7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5.png"/><Relationship Id="rId4" Type="http://schemas.openxmlformats.org/officeDocument/2006/relationships/image" Target="../media/image64.png"/><Relationship Id="rId5" Type="http://schemas.openxmlformats.org/officeDocument/2006/relationships/image" Target="../media/image7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5.png"/><Relationship Id="rId4" Type="http://schemas.openxmlformats.org/officeDocument/2006/relationships/image" Target="../media/image44.jpg"/><Relationship Id="rId5" Type="http://schemas.openxmlformats.org/officeDocument/2006/relationships/image" Target="../media/image37.png"/><Relationship Id="rId6"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81.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18442"/>
            </a:stretch>
          </a:blipFill>
          <a:ln>
            <a:noFill/>
          </a:ln>
        </p:spPr>
      </p:sp>
      <p:sp>
        <p:nvSpPr>
          <p:cNvPr id="85" name="Google Shape;85;p1"/>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651114" y="7418667"/>
            <a:ext cx="12103716" cy="1839633"/>
          </a:xfrm>
          <a:prstGeom prst="rect">
            <a:avLst/>
          </a:prstGeom>
          <a:noFill/>
          <a:ln>
            <a:noFill/>
          </a:ln>
        </p:spPr>
        <p:txBody>
          <a:bodyPr anchorCtr="0" anchor="t" bIns="0" lIns="0" spcFirstLastPara="1" rIns="0" wrap="square" tIns="0">
            <a:spAutoFit/>
          </a:bodyPr>
          <a:lstStyle/>
          <a:p>
            <a:pPr indent="0" lvl="0" marL="0" marR="0" rtl="0" algn="l">
              <a:lnSpc>
                <a:spcPct val="110006"/>
              </a:lnSpc>
              <a:spcBef>
                <a:spcPts val="0"/>
              </a:spcBef>
              <a:spcAft>
                <a:spcPts val="0"/>
              </a:spcAft>
              <a:buNone/>
            </a:pPr>
            <a:r>
              <a:rPr b="1" i="0" lang="en-US" sz="12852" u="none" cap="none" strike="noStrike">
                <a:solidFill>
                  <a:srgbClr val="FFFFFF"/>
                </a:solidFill>
                <a:latin typeface="Arial"/>
                <a:ea typeface="Arial"/>
                <a:cs typeface="Arial"/>
                <a:sym typeface="Arial"/>
              </a:rPr>
              <a:t>EcoPulse</a:t>
            </a:r>
            <a:endParaRPr/>
          </a:p>
        </p:txBody>
      </p:sp>
      <p:sp>
        <p:nvSpPr>
          <p:cNvPr id="87" name="Google Shape;87;p1"/>
          <p:cNvSpPr txBox="1"/>
          <p:nvPr/>
        </p:nvSpPr>
        <p:spPr>
          <a:xfrm>
            <a:off x="14237453" y="7887729"/>
            <a:ext cx="3021847" cy="995979"/>
          </a:xfrm>
          <a:prstGeom prst="rect">
            <a:avLst/>
          </a:prstGeom>
          <a:noFill/>
          <a:ln>
            <a:noFill/>
          </a:ln>
        </p:spPr>
        <p:txBody>
          <a:bodyPr anchorCtr="0" anchor="t" bIns="0" lIns="0" spcFirstLastPara="1" rIns="0" wrap="square" tIns="0">
            <a:spAutoFit/>
          </a:bodyPr>
          <a:lstStyle/>
          <a:p>
            <a:pPr indent="0" lvl="0" marL="0" marR="0" rtl="0" algn="just">
              <a:lnSpc>
                <a:spcPct val="125046"/>
              </a:lnSpc>
              <a:spcBef>
                <a:spcPts val="0"/>
              </a:spcBef>
              <a:spcAft>
                <a:spcPts val="0"/>
              </a:spcAft>
              <a:buNone/>
            </a:pPr>
            <a:r>
              <a:rPr b="1" i="0" lang="en-US" sz="2152" u="none" cap="none" strike="noStrike">
                <a:solidFill>
                  <a:srgbClr val="FFFFFF"/>
                </a:solidFill>
                <a:latin typeface="Arial"/>
                <a:ea typeface="Arial"/>
                <a:cs typeface="Arial"/>
                <a:sym typeface="Arial"/>
              </a:rPr>
              <a:t>Cristóbal Álvarez Moya</a:t>
            </a:r>
            <a:endParaRPr/>
          </a:p>
          <a:p>
            <a:pPr indent="0" lvl="0" marL="0" marR="0" rtl="0" algn="just">
              <a:lnSpc>
                <a:spcPct val="125046"/>
              </a:lnSpc>
              <a:spcBef>
                <a:spcPts val="0"/>
              </a:spcBef>
              <a:spcAft>
                <a:spcPts val="0"/>
              </a:spcAft>
              <a:buNone/>
            </a:pPr>
            <a:r>
              <a:rPr b="1" i="0" lang="en-US" sz="2152" u="none" cap="none" strike="noStrike">
                <a:solidFill>
                  <a:srgbClr val="FFFFFF"/>
                </a:solidFill>
                <a:latin typeface="Arial"/>
                <a:ea typeface="Arial"/>
                <a:cs typeface="Arial"/>
                <a:sym typeface="Arial"/>
              </a:rPr>
              <a:t>Benjamín Cerón Reyes</a:t>
            </a:r>
            <a:endParaRPr/>
          </a:p>
          <a:p>
            <a:pPr indent="0" lvl="0" marL="0" marR="0" rtl="0" algn="just">
              <a:lnSpc>
                <a:spcPct val="125046"/>
              </a:lnSpc>
              <a:spcBef>
                <a:spcPts val="0"/>
              </a:spcBef>
              <a:spcAft>
                <a:spcPts val="0"/>
              </a:spcAft>
              <a:buNone/>
            </a:pPr>
            <a:r>
              <a:rPr b="1" i="0" lang="en-US" sz="2152" u="none" cap="none" strike="noStrike">
                <a:solidFill>
                  <a:srgbClr val="FFFFFF"/>
                </a:solidFill>
                <a:latin typeface="Arial"/>
                <a:ea typeface="Arial"/>
                <a:cs typeface="Arial"/>
                <a:sym typeface="Arial"/>
              </a:rPr>
              <a:t>Diego Herrera Rodríguez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6BE4"/>
        </a:solidFill>
      </p:bgPr>
    </p:bg>
    <p:spTree>
      <p:nvGrpSpPr>
        <p:cNvPr id="91" name="Shape 91"/>
        <p:cNvGrpSpPr/>
        <p:nvPr/>
      </p:nvGrpSpPr>
      <p:grpSpPr>
        <a:xfrm>
          <a:off x="0" y="0"/>
          <a:ext cx="0" cy="0"/>
          <a:chOff x="0" y="0"/>
          <a:chExt cx="0" cy="0"/>
        </a:xfrm>
      </p:grpSpPr>
      <p:grpSp>
        <p:nvGrpSpPr>
          <p:cNvPr id="92" name="Google Shape;92;p2"/>
          <p:cNvGrpSpPr/>
          <p:nvPr/>
        </p:nvGrpSpPr>
        <p:grpSpPr>
          <a:xfrm>
            <a:off x="10636698" y="-650859"/>
            <a:ext cx="6393874" cy="2584899"/>
            <a:chOff x="0" y="31499"/>
            <a:chExt cx="8525166" cy="3446532"/>
          </a:xfrm>
        </p:grpSpPr>
        <p:sp>
          <p:nvSpPr>
            <p:cNvPr id="93" name="Google Shape;93;p2"/>
            <p:cNvSpPr txBox="1"/>
            <p:nvPr/>
          </p:nvSpPr>
          <p:spPr>
            <a:xfrm>
              <a:off x="0" y="2389429"/>
              <a:ext cx="8525166" cy="1088602"/>
            </a:xfrm>
            <a:prstGeom prst="rect">
              <a:avLst/>
            </a:prstGeom>
            <a:noFill/>
            <a:ln>
              <a:noFill/>
            </a:ln>
          </p:spPr>
          <p:txBody>
            <a:bodyPr anchorCtr="0" anchor="t" bIns="0" lIns="0" spcFirstLastPara="1" rIns="0" wrap="square" tIns="0">
              <a:spAutoFit/>
            </a:bodyPr>
            <a:lstStyle/>
            <a:p>
              <a:pPr indent="0" lvl="0" marL="0" marR="0" rtl="0" algn="just">
                <a:lnSpc>
                  <a:spcPct val="110000"/>
                </a:lnSpc>
                <a:spcBef>
                  <a:spcPts val="0"/>
                </a:spcBef>
                <a:spcAft>
                  <a:spcPts val="0"/>
                </a:spcAft>
                <a:buNone/>
              </a:pPr>
              <a:r>
                <a:rPr b="1" i="0" lang="en-US" sz="5600" u="none" cap="none" strike="noStrike">
                  <a:solidFill>
                    <a:srgbClr val="FFFFFF"/>
                  </a:solidFill>
                  <a:latin typeface="Arial"/>
                  <a:ea typeface="Arial"/>
                  <a:cs typeface="Arial"/>
                  <a:sym typeface="Arial"/>
                </a:rPr>
                <a:t> CONTENIDO</a:t>
              </a:r>
              <a:endParaRPr/>
            </a:p>
          </p:txBody>
        </p:sp>
        <p:sp>
          <p:nvSpPr>
            <p:cNvPr id="94" name="Google Shape;94;p2"/>
            <p:cNvSpPr txBox="1"/>
            <p:nvPr/>
          </p:nvSpPr>
          <p:spPr>
            <a:xfrm>
              <a:off x="0" y="31499"/>
              <a:ext cx="8525166" cy="947858"/>
            </a:xfrm>
            <a:prstGeom prst="rect">
              <a:avLst/>
            </a:prstGeom>
            <a:noFill/>
            <a:ln>
              <a:noFill/>
            </a:ln>
          </p:spPr>
          <p:txBody>
            <a:bodyPr anchorCtr="0" anchor="t" bIns="0" lIns="0" spcFirstLastPara="1" rIns="0" wrap="square" tIns="0">
              <a:spAutoFit/>
            </a:bodyPr>
            <a:lstStyle/>
            <a:p>
              <a:pPr indent="0" lvl="0" marL="0" marR="0" rtl="0" algn="just">
                <a:lnSpc>
                  <a:spcPct val="302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5" name="Google Shape;95;p2"/>
          <p:cNvGrpSpPr/>
          <p:nvPr/>
        </p:nvGrpSpPr>
        <p:grpSpPr>
          <a:xfrm>
            <a:off x="993956" y="1028700"/>
            <a:ext cx="8528528" cy="8545580"/>
            <a:chOff x="0" y="0"/>
            <a:chExt cx="10143351" cy="10163632"/>
          </a:xfrm>
        </p:grpSpPr>
        <p:sp>
          <p:nvSpPr>
            <p:cNvPr id="96" name="Google Shape;96;p2"/>
            <p:cNvSpPr/>
            <p:nvPr/>
          </p:nvSpPr>
          <p:spPr>
            <a:xfrm>
              <a:off x="0" y="0"/>
              <a:ext cx="10143351" cy="10163632"/>
            </a:xfrm>
            <a:custGeom>
              <a:rect b="b" l="l" r="r" t="t"/>
              <a:pathLst>
                <a:path extrusionOk="0" h="10163632" w="10143351">
                  <a:moveTo>
                    <a:pt x="0" y="0"/>
                  </a:moveTo>
                  <a:lnTo>
                    <a:pt x="10143351" y="0"/>
                  </a:lnTo>
                  <a:lnTo>
                    <a:pt x="10143351" y="10163632"/>
                  </a:lnTo>
                  <a:lnTo>
                    <a:pt x="0" y="10163632"/>
                  </a:lnTo>
                  <a:close/>
                </a:path>
              </a:pathLst>
            </a:custGeom>
            <a:blipFill rotWithShape="1">
              <a:blip r:embed="rId3">
                <a:alphaModFix/>
              </a:blip>
              <a:stretch>
                <a:fillRect b="-24" l="0" r="0" t="-24"/>
              </a:stretch>
            </a:blipFill>
            <a:ln>
              <a:noFill/>
            </a:ln>
          </p:spPr>
        </p:sp>
        <p:sp>
          <p:nvSpPr>
            <p:cNvPr id="97" name="Google Shape;97;p2"/>
            <p:cNvSpPr/>
            <p:nvPr/>
          </p:nvSpPr>
          <p:spPr>
            <a:xfrm>
              <a:off x="3149600" y="2368550"/>
              <a:ext cx="5156200" cy="6858000"/>
            </a:xfrm>
            <a:custGeom>
              <a:rect b="b" l="l" r="r" t="t"/>
              <a:pathLst>
                <a:path extrusionOk="0" h="6858000" w="5156200">
                  <a:moveTo>
                    <a:pt x="0" y="0"/>
                  </a:moveTo>
                  <a:lnTo>
                    <a:pt x="5156200" y="0"/>
                  </a:lnTo>
                  <a:lnTo>
                    <a:pt x="5156200" y="6858000"/>
                  </a:lnTo>
                  <a:lnTo>
                    <a:pt x="0" y="6858000"/>
                  </a:lnTo>
                  <a:close/>
                </a:path>
              </a:pathLst>
            </a:custGeom>
            <a:blipFill rotWithShape="1">
              <a:blip r:embed="rId4">
                <a:alphaModFix/>
              </a:blip>
              <a:stretch>
                <a:fillRect b="0" l="-172160" r="-31366" t="0"/>
              </a:stretch>
            </a:blipFill>
            <a:ln>
              <a:noFill/>
            </a:ln>
          </p:spPr>
        </p:sp>
        <p:sp>
          <p:nvSpPr>
            <p:cNvPr id="98" name="Google Shape;98;p2"/>
            <p:cNvSpPr/>
            <p:nvPr/>
          </p:nvSpPr>
          <p:spPr>
            <a:xfrm>
              <a:off x="374650" y="673100"/>
              <a:ext cx="6318250" cy="8427288"/>
            </a:xfrm>
            <a:custGeom>
              <a:rect b="b" l="l" r="r" t="t"/>
              <a:pathLst>
                <a:path extrusionOk="0" h="8427288" w="6318250">
                  <a:moveTo>
                    <a:pt x="2560460" y="1417091"/>
                  </a:moveTo>
                  <a:lnTo>
                    <a:pt x="2559050" y="8427288"/>
                  </a:lnTo>
                  <a:lnTo>
                    <a:pt x="0" y="8427288"/>
                  </a:lnTo>
                  <a:lnTo>
                    <a:pt x="0" y="0"/>
                  </a:lnTo>
                  <a:lnTo>
                    <a:pt x="6318250" y="0"/>
                  </a:lnTo>
                  <a:lnTo>
                    <a:pt x="6318250" y="1098550"/>
                  </a:lnTo>
                  <a:lnTo>
                    <a:pt x="2878087" y="1099439"/>
                  </a:lnTo>
                  <a:cubicBezTo>
                    <a:pt x="2702674" y="1099490"/>
                    <a:pt x="2560498" y="1241679"/>
                    <a:pt x="2560460" y="1417091"/>
                  </a:cubicBezTo>
                  <a:close/>
                </a:path>
              </a:pathLst>
            </a:custGeom>
            <a:blipFill rotWithShape="1">
              <a:blip r:embed="rId5">
                <a:alphaModFix/>
              </a:blip>
              <a:stretch>
                <a:fillRect b="0" l="-44847" r="-4484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 name="Google Shape;99;p2"/>
          <p:cNvGrpSpPr/>
          <p:nvPr/>
        </p:nvGrpSpPr>
        <p:grpSpPr>
          <a:xfrm>
            <a:off x="10636698" y="2096699"/>
            <a:ext cx="6622602" cy="8784733"/>
            <a:chOff x="0" y="12182"/>
            <a:chExt cx="8830136" cy="11712978"/>
          </a:xfrm>
        </p:grpSpPr>
        <p:sp>
          <p:nvSpPr>
            <p:cNvPr id="100" name="Google Shape;100;p2"/>
            <p:cNvSpPr txBox="1"/>
            <p:nvPr/>
          </p:nvSpPr>
          <p:spPr>
            <a:xfrm>
              <a:off x="0" y="11317275"/>
              <a:ext cx="8830136" cy="407885"/>
            </a:xfrm>
            <a:prstGeom prst="rect">
              <a:avLst/>
            </a:prstGeom>
            <a:noFill/>
            <a:ln>
              <a:noFill/>
            </a:ln>
          </p:spPr>
          <p:txBody>
            <a:bodyPr anchorCtr="0" anchor="t" bIns="0" lIns="0" spcFirstLastPara="1" rIns="0" wrap="square" tIns="0">
              <a:spAutoFit/>
            </a:bodyPr>
            <a:lstStyle/>
            <a:p>
              <a:pPr indent="0" lvl="0" marL="0" marR="0" rtl="0" algn="l">
                <a:lnSpc>
                  <a:spcPct val="139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2"/>
            <p:cNvSpPr txBox="1"/>
            <p:nvPr/>
          </p:nvSpPr>
          <p:spPr>
            <a:xfrm>
              <a:off x="0" y="12182"/>
              <a:ext cx="8830136" cy="9922494"/>
            </a:xfrm>
            <a:prstGeom prst="rect">
              <a:avLst/>
            </a:prstGeom>
            <a:noFill/>
            <a:ln>
              <a:noFill/>
            </a:ln>
          </p:spPr>
          <p:txBody>
            <a:bodyPr anchorCtr="0" anchor="t" bIns="0" lIns="0" spcFirstLastPara="1" rIns="0" wrap="square" tIns="0">
              <a:spAutoFit/>
            </a:bodyPr>
            <a:lstStyle/>
            <a:p>
              <a:pPr indent="0" lvl="0" marL="0" marR="0" rtl="0" algn="l">
                <a:lnSpc>
                  <a:spcPct val="109968"/>
                </a:lnSpc>
                <a:spcBef>
                  <a:spcPts val="0"/>
                </a:spcBef>
                <a:spcAft>
                  <a:spcPts val="0"/>
                </a:spcAft>
                <a:buNone/>
              </a:pPr>
              <a:r>
                <a:rPr b="1" i="0" lang="en-US" sz="2849" u="sng" cap="none" strike="noStrike">
                  <a:solidFill>
                    <a:srgbClr val="FFFFFF"/>
                  </a:solidFill>
                  <a:latin typeface="Arial"/>
                  <a:ea typeface="Arial"/>
                  <a:cs typeface="Arial"/>
                  <a:sym typeface="Arial"/>
                  <a:hlinkClick action="ppaction://hlinksldjump" r:id="rId6">
                    <a:extLst>
                      <a:ext uri="{A12FA001-AC4F-418D-AE19-62706E023703}">
                        <ahyp:hlinkClr val="tx"/>
                      </a:ext>
                    </a:extLst>
                  </a:hlinkClick>
                </a:rPr>
                <a:t>01 CONTEXTO</a:t>
              </a:r>
              <a:endParaRPr/>
            </a:p>
            <a:p>
              <a:pPr indent="0" lvl="0" marL="0" marR="0" rtl="0" algn="l">
                <a:lnSpc>
                  <a:spcPct val="109968"/>
                </a:lnSpc>
                <a:spcBef>
                  <a:spcPts val="0"/>
                </a:spcBef>
                <a:spcAft>
                  <a:spcPts val="0"/>
                </a:spcAft>
                <a:buNone/>
              </a:pPr>
              <a:r>
                <a:rPr b="1" i="0" lang="en-US" sz="2849" u="sng" cap="none" strike="noStrike">
                  <a:solidFill>
                    <a:srgbClr val="FFFFFF"/>
                  </a:solidFill>
                  <a:latin typeface="Arial"/>
                  <a:ea typeface="Arial"/>
                  <a:cs typeface="Arial"/>
                  <a:sym typeface="Arial"/>
                  <a:hlinkClick action="ppaction://hlinksldjump" r:id="rId7">
                    <a:extLst>
                      <a:ext uri="{A12FA001-AC4F-418D-AE19-62706E023703}">
                        <ahyp:hlinkClr val="tx"/>
                      </a:ext>
                    </a:extLst>
                  </a:hlinkClick>
                </a:rPr>
                <a:t>02 PROBLEMÁTICA</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03 NECESIDAD</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04 SOLUCIÓN</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05 REQUERIMIENTOS</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06 ÉPICAS</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07 ARQUITECTURA</a:t>
              </a:r>
              <a:endParaRPr/>
            </a:p>
            <a:p>
              <a:pPr indent="0" lvl="0" marL="0" marR="0" rtl="0" algn="l">
                <a:lnSpc>
                  <a:spcPct val="109968"/>
                </a:lnSpc>
                <a:spcBef>
                  <a:spcPts val="0"/>
                </a:spcBef>
                <a:spcAft>
                  <a:spcPts val="0"/>
                </a:spcAft>
                <a:buNone/>
              </a:pPr>
              <a:r>
                <a:rPr b="1" i="0" lang="en-US" sz="2849" u="sng" cap="none" strike="noStrike">
                  <a:solidFill>
                    <a:srgbClr val="FFFFFF"/>
                  </a:solidFill>
                  <a:latin typeface="Arial"/>
                  <a:ea typeface="Arial"/>
                  <a:cs typeface="Arial"/>
                  <a:sym typeface="Arial"/>
                  <a:hlinkClick action="ppaction://hlinksldjump" r:id="rId8">
                    <a:extLst>
                      <a:ext uri="{A12FA001-AC4F-418D-AE19-62706E023703}">
                        <ahyp:hlinkClr val="tx"/>
                      </a:ext>
                    </a:extLst>
                  </a:hlinkClick>
                </a:rPr>
                <a:t>08 </a:t>
              </a:r>
              <a:r>
                <a:rPr b="1" i="0" lang="en-US" sz="2849" u="none" cap="none" strike="noStrike">
                  <a:solidFill>
                    <a:srgbClr val="FFFFFF"/>
                  </a:solidFill>
                  <a:latin typeface="Arial"/>
                  <a:ea typeface="Arial"/>
                  <a:cs typeface="Arial"/>
                  <a:sym typeface="Arial"/>
                </a:rPr>
                <a:t>MODELO DE DATOS</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09 METODOLOGÍA</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10</a:t>
              </a:r>
              <a:r>
                <a:rPr b="1" i="0" lang="en-US" sz="2849" u="sng" cap="none" strike="noStrike">
                  <a:solidFill>
                    <a:srgbClr val="FFFFFF"/>
                  </a:solidFill>
                  <a:latin typeface="Arial"/>
                  <a:ea typeface="Arial"/>
                  <a:cs typeface="Arial"/>
                  <a:sym typeface="Arial"/>
                  <a:hlinkClick action="ppaction://hlinksldjump" r:id="rId9">
                    <a:extLst>
                      <a:ext uri="{A12FA001-AC4F-418D-AE19-62706E023703}">
                        <ahyp:hlinkClr val="tx"/>
                      </a:ext>
                    </a:extLst>
                  </a:hlinkClick>
                </a:rPr>
                <a:t> SPRINTS E HISTORIAS DE USUARIOS</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11</a:t>
              </a:r>
              <a:r>
                <a:rPr b="1" i="0" lang="en-US" sz="2849" u="sng" cap="none" strike="noStrike">
                  <a:solidFill>
                    <a:srgbClr val="FFFFFF"/>
                  </a:solidFill>
                  <a:latin typeface="Arial"/>
                  <a:ea typeface="Arial"/>
                  <a:cs typeface="Arial"/>
                  <a:sym typeface="Arial"/>
                  <a:hlinkClick action="ppaction://hlinksldjump" r:id="rId10">
                    <a:extLst>
                      <a:ext uri="{A12FA001-AC4F-418D-AE19-62706E023703}">
                        <ahyp:hlinkClr val="tx"/>
                      </a:ext>
                    </a:extLst>
                  </a:hlinkClick>
                </a:rPr>
                <a:t> </a:t>
              </a:r>
              <a:r>
                <a:rPr b="1" i="0" lang="en-US" sz="2849" u="none" cap="none" strike="noStrike">
                  <a:solidFill>
                    <a:srgbClr val="FFFFFF"/>
                  </a:solidFill>
                  <a:latin typeface="Arial"/>
                  <a:ea typeface="Arial"/>
                  <a:cs typeface="Arial"/>
                  <a:sym typeface="Arial"/>
                </a:rPr>
                <a:t>ROLES</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12 EVIDENCIAS</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13 CRONOGRAMA</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14 PRODUCT BACKLOG</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15 PRESUPUESTO</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16 MATRIZ DE RIESGOS</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17 EVIDENCIAS ESPECÍFICAS SPRINT 0</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18 EVIDENCIAS ESPECÍFICAS SPRINT 1</a:t>
              </a:r>
              <a:endParaRPr/>
            </a:p>
            <a:p>
              <a:pPr indent="0" lvl="0" marL="0" marR="0" rtl="0" algn="l">
                <a:lnSpc>
                  <a:spcPct val="109968"/>
                </a:lnSpc>
                <a:spcBef>
                  <a:spcPts val="0"/>
                </a:spcBef>
                <a:spcAft>
                  <a:spcPts val="0"/>
                </a:spcAft>
                <a:buNone/>
              </a:pPr>
              <a:r>
                <a:rPr b="1" i="0" lang="en-US" sz="2849" u="none" cap="none" strike="noStrike">
                  <a:solidFill>
                    <a:srgbClr val="FFFFFF"/>
                  </a:solidFill>
                  <a:latin typeface="Arial"/>
                  <a:ea typeface="Arial"/>
                  <a:cs typeface="Arial"/>
                  <a:sym typeface="Arial"/>
                </a:rPr>
                <a:t>19 CONCLUSIONES</a:t>
              </a:r>
              <a:endParaRPr/>
            </a:p>
          </p:txBody>
        </p:sp>
      </p:grpSp>
      <p:sp>
        <p:nvSpPr>
          <p:cNvPr id="102" name="Google Shape;102;p2"/>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11">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p:nvPr/>
        </p:nvSpPr>
        <p:spPr>
          <a:xfrm>
            <a:off x="12893957" y="0"/>
            <a:ext cx="5394043" cy="10287000"/>
          </a:xfrm>
          <a:custGeom>
            <a:rect b="b" l="l" r="r" t="t"/>
            <a:pathLst>
              <a:path extrusionOk="0" h="10287000" w="5394043">
                <a:moveTo>
                  <a:pt x="0" y="0"/>
                </a:moveTo>
                <a:lnTo>
                  <a:pt x="5394043" y="0"/>
                </a:lnTo>
                <a:lnTo>
                  <a:pt x="5394043" y="10287000"/>
                </a:lnTo>
                <a:lnTo>
                  <a:pt x="0" y="10287000"/>
                </a:lnTo>
                <a:lnTo>
                  <a:pt x="0" y="0"/>
                </a:lnTo>
                <a:close/>
              </a:path>
            </a:pathLst>
          </a:custGeom>
          <a:blipFill rotWithShape="1">
            <a:blip r:embed="rId3">
              <a:alphaModFix/>
            </a:blip>
            <a:stretch>
              <a:fillRect b="0" l="-153109" r="-86311" t="0"/>
            </a:stretch>
          </a:blipFill>
          <a:ln>
            <a:noFill/>
          </a:ln>
        </p:spPr>
      </p:sp>
      <p:sp>
        <p:nvSpPr>
          <p:cNvPr id="108" name="Google Shape;108;p3"/>
          <p:cNvSpPr txBox="1"/>
          <p:nvPr/>
        </p:nvSpPr>
        <p:spPr>
          <a:xfrm>
            <a:off x="1028700" y="1076325"/>
            <a:ext cx="7639170" cy="789161"/>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01 CONTEXTO</a:t>
            </a:r>
            <a:endParaRPr/>
          </a:p>
        </p:txBody>
      </p:sp>
      <p:sp>
        <p:nvSpPr>
          <p:cNvPr id="109" name="Google Shape;109;p3"/>
          <p:cNvSpPr txBox="1"/>
          <p:nvPr/>
        </p:nvSpPr>
        <p:spPr>
          <a:xfrm>
            <a:off x="1028700" y="3573222"/>
            <a:ext cx="10365305" cy="3650615"/>
          </a:xfrm>
          <a:prstGeom prst="rect">
            <a:avLst/>
          </a:prstGeom>
          <a:noFill/>
          <a:ln>
            <a:noFill/>
          </a:ln>
        </p:spPr>
        <p:txBody>
          <a:bodyPr anchorCtr="0" anchor="t" bIns="0" lIns="0" spcFirstLastPara="1" rIns="0" wrap="square" tIns="0">
            <a:spAutoFit/>
          </a:bodyPr>
          <a:lstStyle/>
          <a:p>
            <a:pPr indent="0" lvl="0" marL="0" marR="0" rtl="0" algn="just">
              <a:lnSpc>
                <a:spcPct val="130010"/>
              </a:lnSpc>
              <a:spcBef>
                <a:spcPts val="0"/>
              </a:spcBef>
              <a:spcAft>
                <a:spcPts val="0"/>
              </a:spcAft>
              <a:buNone/>
            </a:pPr>
            <a:r>
              <a:rPr b="0" i="0" lang="en-US" sz="2799" u="none" cap="none" strike="noStrike">
                <a:solidFill>
                  <a:srgbClr val="050217"/>
                </a:solidFill>
                <a:latin typeface="Arial"/>
                <a:ea typeface="Arial"/>
                <a:cs typeface="Arial"/>
                <a:sym typeface="Arial"/>
              </a:rPr>
              <a:t>Chile se caracteriza por su amplia diversidad de climas y ecosistemas, que van desde el desierto más árido del mundo hasta los glaciares en el sur. Esta riqueza natural convierte al monitoreo ambiental en una tarea esencial para estudiar variables como temperatura, humedad y fenómenos naturales. Gracias a esto, es posible comprender el comportamiento del entorno, generar información valiosa y apoyar la gestión sostenible de los recursos a nivel nacional.</a:t>
            </a:r>
            <a:endParaRPr/>
          </a:p>
        </p:txBody>
      </p:sp>
      <p:sp>
        <p:nvSpPr>
          <p:cNvPr id="110" name="Google Shape;110;p3"/>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116" name="Google Shape;116;p4"/>
          <p:cNvSpPr/>
          <p:nvPr/>
        </p:nvSpPr>
        <p:spPr>
          <a:xfrm>
            <a:off x="0" y="0"/>
            <a:ext cx="6516109" cy="10287000"/>
          </a:xfrm>
          <a:custGeom>
            <a:rect b="b" l="l" r="r" t="t"/>
            <a:pathLst>
              <a:path extrusionOk="0" h="10287000" w="6516109">
                <a:moveTo>
                  <a:pt x="0" y="0"/>
                </a:moveTo>
                <a:lnTo>
                  <a:pt x="6516109" y="0"/>
                </a:lnTo>
                <a:lnTo>
                  <a:pt x="6516109" y="10287000"/>
                </a:lnTo>
                <a:lnTo>
                  <a:pt x="0" y="10287000"/>
                </a:lnTo>
                <a:lnTo>
                  <a:pt x="0" y="0"/>
                </a:lnTo>
                <a:close/>
              </a:path>
            </a:pathLst>
          </a:custGeom>
          <a:blipFill rotWithShape="1">
            <a:blip r:embed="rId4">
              <a:alphaModFix/>
            </a:blip>
            <a:stretch>
              <a:fillRect b="0" l="-85847" r="-34936" t="0"/>
            </a:stretch>
          </a:blipFill>
          <a:ln>
            <a:noFill/>
          </a:ln>
        </p:spPr>
      </p:sp>
      <p:sp>
        <p:nvSpPr>
          <p:cNvPr id="117" name="Google Shape;117;p4"/>
          <p:cNvSpPr txBox="1"/>
          <p:nvPr/>
        </p:nvSpPr>
        <p:spPr>
          <a:xfrm>
            <a:off x="9021700" y="1076325"/>
            <a:ext cx="72477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02 PROBLEMÁTICA</a:t>
            </a:r>
            <a:endParaRPr/>
          </a:p>
        </p:txBody>
      </p:sp>
      <p:sp>
        <p:nvSpPr>
          <p:cNvPr id="118" name="Google Shape;118;p4"/>
          <p:cNvSpPr txBox="1"/>
          <p:nvPr/>
        </p:nvSpPr>
        <p:spPr>
          <a:xfrm>
            <a:off x="8455570" y="3443544"/>
            <a:ext cx="7736640" cy="410781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2800" u="none" cap="none" strike="noStrike">
                <a:solidFill>
                  <a:srgbClr val="050217"/>
                </a:solidFill>
                <a:latin typeface="Arial"/>
                <a:ea typeface="Arial"/>
                <a:cs typeface="Arial"/>
                <a:sym typeface="Arial"/>
              </a:rPr>
              <a:t>El cambio climático y la contaminación ambiental afectan cada vez más la calidad de vida. En Chile se reflejan en temperaturas extremas, peor calidad del aire, menor disponibilidad de agua y mayor frecuencia de fenómenos climáticos extremos, impactando la salud, la seguridad, la economía y el bienestar social.</a:t>
            </a:r>
            <a:endParaRPr/>
          </a:p>
          <a:p>
            <a:pPr indent="0" lvl="0" marL="0" marR="0" rtl="0" algn="just">
              <a:lnSpc>
                <a:spcPct val="130000"/>
              </a:lnSpc>
              <a:spcBef>
                <a:spcPts val="0"/>
              </a:spcBef>
              <a:spcAft>
                <a:spcPts val="0"/>
              </a:spcAft>
              <a:buNone/>
            </a:pPr>
            <a:r>
              <a:t/>
            </a:r>
            <a:endParaRPr b="0" i="0" sz="2800" u="none" cap="none" strike="noStrike">
              <a:solidFill>
                <a:srgbClr val="050217"/>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p:nvPr/>
        </p:nvSpPr>
        <p:spPr>
          <a:xfrm>
            <a:off x="0" y="0"/>
            <a:ext cx="7361179" cy="10287000"/>
          </a:xfrm>
          <a:custGeom>
            <a:rect b="b" l="l" r="r" t="t"/>
            <a:pathLst>
              <a:path extrusionOk="0" h="10287000" w="7361179">
                <a:moveTo>
                  <a:pt x="0" y="0"/>
                </a:moveTo>
                <a:lnTo>
                  <a:pt x="7361179" y="0"/>
                </a:lnTo>
                <a:lnTo>
                  <a:pt x="7361179" y="10287000"/>
                </a:lnTo>
                <a:lnTo>
                  <a:pt x="0" y="10287000"/>
                </a:lnTo>
                <a:lnTo>
                  <a:pt x="0" y="0"/>
                </a:lnTo>
                <a:close/>
              </a:path>
            </a:pathLst>
          </a:custGeom>
          <a:blipFill rotWithShape="1">
            <a:blip r:embed="rId3">
              <a:alphaModFix/>
            </a:blip>
            <a:stretch>
              <a:fillRect b="0" l="-80788" r="-28719" t="0"/>
            </a:stretch>
          </a:blipFill>
          <a:ln>
            <a:noFill/>
          </a:ln>
        </p:spPr>
      </p:sp>
      <p:sp>
        <p:nvSpPr>
          <p:cNvPr id="124" name="Google Shape;124;p5"/>
          <p:cNvSpPr txBox="1"/>
          <p:nvPr/>
        </p:nvSpPr>
        <p:spPr>
          <a:xfrm>
            <a:off x="9021704" y="1076325"/>
            <a:ext cx="6385166" cy="8045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03 NECESIDAD</a:t>
            </a:r>
            <a:endParaRPr/>
          </a:p>
        </p:txBody>
      </p:sp>
      <p:sp>
        <p:nvSpPr>
          <p:cNvPr id="125" name="Google Shape;125;p5"/>
          <p:cNvSpPr txBox="1"/>
          <p:nvPr/>
        </p:nvSpPr>
        <p:spPr>
          <a:xfrm>
            <a:off x="9021704" y="3075305"/>
            <a:ext cx="7736640" cy="410781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2800" u="none" cap="none" strike="noStrike">
                <a:solidFill>
                  <a:srgbClr val="050217"/>
                </a:solidFill>
                <a:latin typeface="Arial"/>
                <a:ea typeface="Arial"/>
                <a:cs typeface="Arial"/>
                <a:sym typeface="Arial"/>
              </a:rPr>
              <a:t>Frente al aumento del cambio climático y la contaminación ambiental, es fundamental contar con información que complemente los sistemas de monitoreo existentes. Disponer de datos precisos y accesibles permitiría fortalecer la prevención, mejorar los protocolos de emergencia y aumentar la capacidad de respuesta de las autoridades y comunidades ante eventos climáticos extremos.</a:t>
            </a:r>
            <a:endParaRPr/>
          </a:p>
        </p:txBody>
      </p:sp>
      <p:sp>
        <p:nvSpPr>
          <p:cNvPr id="126" name="Google Shape;126;p5"/>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130" name="Shape 130"/>
        <p:cNvGrpSpPr/>
        <p:nvPr/>
      </p:nvGrpSpPr>
      <p:grpSpPr>
        <a:xfrm>
          <a:off x="0" y="0"/>
          <a:ext cx="0" cy="0"/>
          <a:chOff x="0" y="0"/>
          <a:chExt cx="0" cy="0"/>
        </a:xfrm>
      </p:grpSpPr>
      <p:sp>
        <p:nvSpPr>
          <p:cNvPr id="131" name="Google Shape;131;p6"/>
          <p:cNvSpPr txBox="1"/>
          <p:nvPr/>
        </p:nvSpPr>
        <p:spPr>
          <a:xfrm>
            <a:off x="1505512" y="3158630"/>
            <a:ext cx="8168259" cy="3521710"/>
          </a:xfrm>
          <a:prstGeom prst="rect">
            <a:avLst/>
          </a:prstGeom>
          <a:noFill/>
          <a:ln>
            <a:noFill/>
          </a:ln>
        </p:spPr>
        <p:txBody>
          <a:bodyPr anchorCtr="0" anchor="t" bIns="0" lIns="0" spcFirstLastPara="1" rIns="0" wrap="square" tIns="0">
            <a:spAutoFit/>
          </a:bodyPr>
          <a:lstStyle/>
          <a:p>
            <a:pPr indent="0" lvl="0" marL="0" marR="0" rtl="0" algn="just">
              <a:lnSpc>
                <a:spcPct val="110003"/>
              </a:lnSpc>
              <a:spcBef>
                <a:spcPts val="0"/>
              </a:spcBef>
              <a:spcAft>
                <a:spcPts val="0"/>
              </a:spcAft>
              <a:buNone/>
            </a:pPr>
            <a:r>
              <a:rPr b="0" i="0" lang="en-US" sz="2799" u="none" cap="none" strike="noStrike">
                <a:solidFill>
                  <a:srgbClr val="FFFFFF"/>
                </a:solidFill>
                <a:latin typeface="Arial"/>
                <a:ea typeface="Arial"/>
                <a:cs typeface="Arial"/>
                <a:sym typeface="Arial"/>
              </a:rPr>
              <a:t>EcoPulse ofrece una plataforma web, integrada con dispositivos IoT para el monitoreo ambiental en tiempo real. La plataforma permite la recolección, almacenamiento, procesamiento y análisis de datos medioambientales mediante técnicas avanzadas, como clustering. Esto facilita la toma de decisiones informadas, fortalece los sistemas de prevención y respuesta ante eventos extremos.</a:t>
            </a:r>
            <a:endParaRPr/>
          </a:p>
          <a:p>
            <a:pPr indent="0" lvl="0" marL="0" marR="0" rtl="0" algn="just">
              <a:lnSpc>
                <a:spcPct val="110003"/>
              </a:lnSpc>
              <a:spcBef>
                <a:spcPts val="0"/>
              </a:spcBef>
              <a:spcAft>
                <a:spcPts val="0"/>
              </a:spcAft>
              <a:buNone/>
            </a:pPr>
            <a:r>
              <a:t/>
            </a:r>
            <a:endParaRPr b="0" i="0" sz="2799" u="none" cap="none" strike="noStrike">
              <a:solidFill>
                <a:srgbClr val="FFFFFF"/>
              </a:solidFill>
              <a:latin typeface="Arial"/>
              <a:ea typeface="Arial"/>
              <a:cs typeface="Arial"/>
              <a:sym typeface="Arial"/>
            </a:endParaRPr>
          </a:p>
        </p:txBody>
      </p:sp>
      <p:sp>
        <p:nvSpPr>
          <p:cNvPr id="132" name="Google Shape;132;p6"/>
          <p:cNvSpPr/>
          <p:nvPr/>
        </p:nvSpPr>
        <p:spPr>
          <a:xfrm>
            <a:off x="7122317" y="7099122"/>
            <a:ext cx="767046" cy="767046"/>
          </a:xfrm>
          <a:custGeom>
            <a:rect b="b" l="l" r="r" t="t"/>
            <a:pathLst>
              <a:path extrusionOk="0" h="767046" w="767046">
                <a:moveTo>
                  <a:pt x="0" y="0"/>
                </a:moveTo>
                <a:lnTo>
                  <a:pt x="767046" y="0"/>
                </a:lnTo>
                <a:lnTo>
                  <a:pt x="767046" y="767046"/>
                </a:lnTo>
                <a:lnTo>
                  <a:pt x="0" y="767046"/>
                </a:lnTo>
                <a:lnTo>
                  <a:pt x="0" y="0"/>
                </a:lnTo>
                <a:close/>
              </a:path>
            </a:pathLst>
          </a:custGeom>
          <a:blipFill rotWithShape="1">
            <a:blip r:embed="rId3">
              <a:alphaModFix/>
            </a:blip>
            <a:stretch>
              <a:fillRect b="0" l="0" r="0" t="0"/>
            </a:stretch>
          </a:blipFill>
          <a:ln>
            <a:noFill/>
          </a:ln>
        </p:spPr>
      </p:sp>
      <p:sp>
        <p:nvSpPr>
          <p:cNvPr id="133" name="Google Shape;133;p6"/>
          <p:cNvSpPr/>
          <p:nvPr/>
        </p:nvSpPr>
        <p:spPr>
          <a:xfrm>
            <a:off x="2760831" y="7109759"/>
            <a:ext cx="768108" cy="768108"/>
          </a:xfrm>
          <a:custGeom>
            <a:rect b="b" l="l" r="r" t="t"/>
            <a:pathLst>
              <a:path extrusionOk="0" h="768108" w="768108">
                <a:moveTo>
                  <a:pt x="0" y="0"/>
                </a:moveTo>
                <a:lnTo>
                  <a:pt x="768109" y="0"/>
                </a:lnTo>
                <a:lnTo>
                  <a:pt x="768109" y="768108"/>
                </a:lnTo>
                <a:lnTo>
                  <a:pt x="0" y="768108"/>
                </a:lnTo>
                <a:lnTo>
                  <a:pt x="0" y="0"/>
                </a:lnTo>
                <a:close/>
              </a:path>
            </a:pathLst>
          </a:custGeom>
          <a:blipFill rotWithShape="1">
            <a:blip r:embed="rId4">
              <a:alphaModFix/>
            </a:blip>
            <a:stretch>
              <a:fillRect b="0" l="0" r="0" t="0"/>
            </a:stretch>
          </a:blipFill>
          <a:ln>
            <a:noFill/>
          </a:ln>
        </p:spPr>
      </p:sp>
      <p:sp>
        <p:nvSpPr>
          <p:cNvPr id="134" name="Google Shape;134;p6"/>
          <p:cNvSpPr/>
          <p:nvPr/>
        </p:nvSpPr>
        <p:spPr>
          <a:xfrm>
            <a:off x="4938640" y="7099122"/>
            <a:ext cx="773082" cy="778746"/>
          </a:xfrm>
          <a:custGeom>
            <a:rect b="b" l="l" r="r" t="t"/>
            <a:pathLst>
              <a:path extrusionOk="0" h="778746" w="773082">
                <a:moveTo>
                  <a:pt x="0" y="0"/>
                </a:moveTo>
                <a:lnTo>
                  <a:pt x="773082" y="0"/>
                </a:lnTo>
                <a:lnTo>
                  <a:pt x="773082" y="778745"/>
                </a:lnTo>
                <a:lnTo>
                  <a:pt x="0" y="778745"/>
                </a:lnTo>
                <a:lnTo>
                  <a:pt x="0" y="0"/>
                </a:lnTo>
                <a:close/>
              </a:path>
            </a:pathLst>
          </a:custGeom>
          <a:blipFill rotWithShape="1">
            <a:blip r:embed="rId5">
              <a:alphaModFix/>
            </a:blip>
            <a:stretch>
              <a:fillRect b="0" l="0" r="0" t="0"/>
            </a:stretch>
          </a:blipFill>
          <a:ln>
            <a:noFill/>
          </a:ln>
        </p:spPr>
      </p:sp>
      <p:sp>
        <p:nvSpPr>
          <p:cNvPr id="135" name="Google Shape;135;p6"/>
          <p:cNvSpPr/>
          <p:nvPr/>
        </p:nvSpPr>
        <p:spPr>
          <a:xfrm>
            <a:off x="11571613" y="0"/>
            <a:ext cx="11508008" cy="10287000"/>
          </a:xfrm>
          <a:custGeom>
            <a:rect b="b" l="l" r="r" t="t"/>
            <a:pathLst>
              <a:path extrusionOk="0" h="10287000" w="11508008">
                <a:moveTo>
                  <a:pt x="0" y="0"/>
                </a:moveTo>
                <a:lnTo>
                  <a:pt x="11508008" y="0"/>
                </a:lnTo>
                <a:lnTo>
                  <a:pt x="11508008" y="10287000"/>
                </a:lnTo>
                <a:lnTo>
                  <a:pt x="0" y="10287000"/>
                </a:lnTo>
                <a:lnTo>
                  <a:pt x="0" y="0"/>
                </a:lnTo>
                <a:close/>
              </a:path>
            </a:pathLst>
          </a:custGeom>
          <a:blipFill rotWithShape="1">
            <a:blip r:embed="rId6">
              <a:alphaModFix/>
            </a:blip>
            <a:stretch>
              <a:fillRect b="-4818" l="-3262" r="-34353" t="-4819"/>
            </a:stretch>
          </a:blipFill>
          <a:ln>
            <a:noFill/>
          </a:ln>
        </p:spPr>
      </p:sp>
      <p:sp>
        <p:nvSpPr>
          <p:cNvPr id="136" name="Google Shape;136;p6"/>
          <p:cNvSpPr txBox="1"/>
          <p:nvPr/>
        </p:nvSpPr>
        <p:spPr>
          <a:xfrm>
            <a:off x="1505512" y="1076325"/>
            <a:ext cx="7639170" cy="789161"/>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FFFFFF"/>
                </a:solidFill>
                <a:latin typeface="Arial"/>
                <a:ea typeface="Arial"/>
                <a:cs typeface="Arial"/>
                <a:sym typeface="Arial"/>
              </a:rPr>
              <a:t>04 SOLUCIÓN</a:t>
            </a:r>
            <a:endParaRPr/>
          </a:p>
        </p:txBody>
      </p:sp>
      <p:sp>
        <p:nvSpPr>
          <p:cNvPr id="137" name="Google Shape;137;p6"/>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7"/>
          <p:cNvSpPr/>
          <p:nvPr/>
        </p:nvSpPr>
        <p:spPr>
          <a:xfrm>
            <a:off x="14953669" y="0"/>
            <a:ext cx="3667443" cy="10287000"/>
          </a:xfrm>
          <a:custGeom>
            <a:rect b="b" l="l" r="r" t="t"/>
            <a:pathLst>
              <a:path extrusionOk="0" h="10287000" w="3667443">
                <a:moveTo>
                  <a:pt x="0" y="0"/>
                </a:moveTo>
                <a:lnTo>
                  <a:pt x="3667443" y="0"/>
                </a:lnTo>
                <a:lnTo>
                  <a:pt x="3667443" y="10287000"/>
                </a:lnTo>
                <a:lnTo>
                  <a:pt x="0" y="10287000"/>
                </a:lnTo>
                <a:lnTo>
                  <a:pt x="0" y="0"/>
                </a:lnTo>
                <a:close/>
              </a:path>
            </a:pathLst>
          </a:custGeom>
          <a:blipFill rotWithShape="1">
            <a:blip r:embed="rId3">
              <a:alphaModFix/>
            </a:blip>
            <a:stretch>
              <a:fillRect b="0" l="-130713" r="-190250" t="0"/>
            </a:stretch>
          </a:blipFill>
          <a:ln>
            <a:noFill/>
          </a:ln>
        </p:spPr>
      </p:sp>
      <p:sp>
        <p:nvSpPr>
          <p:cNvPr id="143" name="Google Shape;143;p7"/>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
        <p:nvSpPr>
          <p:cNvPr id="144" name="Google Shape;144;p7"/>
          <p:cNvSpPr/>
          <p:nvPr/>
        </p:nvSpPr>
        <p:spPr>
          <a:xfrm>
            <a:off x="1082664" y="2180233"/>
            <a:ext cx="665960" cy="634131"/>
          </a:xfrm>
          <a:custGeom>
            <a:rect b="b" l="l" r="r" t="t"/>
            <a:pathLst>
              <a:path extrusionOk="0" h="634131" w="665960">
                <a:moveTo>
                  <a:pt x="0" y="0"/>
                </a:moveTo>
                <a:lnTo>
                  <a:pt x="665959" y="0"/>
                </a:lnTo>
                <a:lnTo>
                  <a:pt x="665959" y="634130"/>
                </a:lnTo>
                <a:lnTo>
                  <a:pt x="0" y="634130"/>
                </a:lnTo>
                <a:lnTo>
                  <a:pt x="0" y="0"/>
                </a:lnTo>
                <a:close/>
              </a:path>
            </a:pathLst>
          </a:custGeom>
          <a:blipFill rotWithShape="1">
            <a:blip r:embed="rId5">
              <a:alphaModFix/>
            </a:blip>
            <a:stretch>
              <a:fillRect b="0" l="0" r="0" t="0"/>
            </a:stretch>
          </a:blipFill>
          <a:ln>
            <a:noFill/>
          </a:ln>
        </p:spPr>
      </p:sp>
      <p:sp>
        <p:nvSpPr>
          <p:cNvPr id="145" name="Google Shape;145;p7"/>
          <p:cNvSpPr/>
          <p:nvPr/>
        </p:nvSpPr>
        <p:spPr>
          <a:xfrm>
            <a:off x="1345743" y="3098704"/>
            <a:ext cx="665960" cy="634131"/>
          </a:xfrm>
          <a:custGeom>
            <a:rect b="b" l="l" r="r" t="t"/>
            <a:pathLst>
              <a:path extrusionOk="0" h="634131" w="665960">
                <a:moveTo>
                  <a:pt x="0" y="0"/>
                </a:moveTo>
                <a:lnTo>
                  <a:pt x="665959" y="0"/>
                </a:lnTo>
                <a:lnTo>
                  <a:pt x="665959" y="634130"/>
                </a:lnTo>
                <a:lnTo>
                  <a:pt x="0" y="634130"/>
                </a:lnTo>
                <a:lnTo>
                  <a:pt x="0" y="0"/>
                </a:lnTo>
                <a:close/>
              </a:path>
            </a:pathLst>
          </a:custGeom>
          <a:blipFill rotWithShape="1">
            <a:blip r:embed="rId5">
              <a:alphaModFix/>
            </a:blip>
            <a:stretch>
              <a:fillRect b="0" l="0" r="0" t="0"/>
            </a:stretch>
          </a:blipFill>
          <a:ln>
            <a:noFill/>
          </a:ln>
        </p:spPr>
      </p:sp>
      <p:sp>
        <p:nvSpPr>
          <p:cNvPr id="146" name="Google Shape;146;p7"/>
          <p:cNvSpPr/>
          <p:nvPr/>
        </p:nvSpPr>
        <p:spPr>
          <a:xfrm>
            <a:off x="1299142" y="4930117"/>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5">
              <a:alphaModFix/>
            </a:blip>
            <a:stretch>
              <a:fillRect b="0" l="0" r="0" t="0"/>
            </a:stretch>
          </a:blipFill>
          <a:ln>
            <a:noFill/>
          </a:ln>
        </p:spPr>
      </p:sp>
      <p:sp>
        <p:nvSpPr>
          <p:cNvPr id="147" name="Google Shape;147;p7"/>
          <p:cNvSpPr/>
          <p:nvPr/>
        </p:nvSpPr>
        <p:spPr>
          <a:xfrm>
            <a:off x="966162" y="3953518"/>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5">
              <a:alphaModFix/>
            </a:blip>
            <a:stretch>
              <a:fillRect b="0" l="0" r="0" t="0"/>
            </a:stretch>
          </a:blipFill>
          <a:ln>
            <a:noFill/>
          </a:ln>
        </p:spPr>
      </p:sp>
      <p:sp>
        <p:nvSpPr>
          <p:cNvPr id="148" name="Google Shape;148;p7"/>
          <p:cNvSpPr/>
          <p:nvPr/>
        </p:nvSpPr>
        <p:spPr>
          <a:xfrm>
            <a:off x="1299142" y="6803458"/>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5">
              <a:alphaModFix/>
            </a:blip>
            <a:stretch>
              <a:fillRect b="0" l="0" r="0" t="0"/>
            </a:stretch>
          </a:blipFill>
          <a:ln>
            <a:noFill/>
          </a:ln>
        </p:spPr>
      </p:sp>
      <p:sp>
        <p:nvSpPr>
          <p:cNvPr id="149" name="Google Shape;149;p7"/>
          <p:cNvSpPr/>
          <p:nvPr/>
        </p:nvSpPr>
        <p:spPr>
          <a:xfrm>
            <a:off x="966162" y="5893102"/>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5">
              <a:alphaModFix/>
            </a:blip>
            <a:stretch>
              <a:fillRect b="0" l="0" r="0" t="0"/>
            </a:stretch>
          </a:blipFill>
          <a:ln>
            <a:noFill/>
          </a:ln>
        </p:spPr>
      </p:sp>
      <p:sp>
        <p:nvSpPr>
          <p:cNvPr id="150" name="Google Shape;150;p7"/>
          <p:cNvSpPr/>
          <p:nvPr/>
        </p:nvSpPr>
        <p:spPr>
          <a:xfrm>
            <a:off x="1311373" y="8624169"/>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5">
              <a:alphaModFix/>
            </a:blip>
            <a:stretch>
              <a:fillRect b="0" l="0" r="0" t="0"/>
            </a:stretch>
          </a:blipFill>
          <a:ln>
            <a:noFill/>
          </a:ln>
        </p:spPr>
      </p:sp>
      <p:sp>
        <p:nvSpPr>
          <p:cNvPr id="151" name="Google Shape;151;p7"/>
          <p:cNvSpPr/>
          <p:nvPr/>
        </p:nvSpPr>
        <p:spPr>
          <a:xfrm>
            <a:off x="978394" y="7713814"/>
            <a:ext cx="665960" cy="634131"/>
          </a:xfrm>
          <a:custGeom>
            <a:rect b="b" l="l" r="r" t="t"/>
            <a:pathLst>
              <a:path extrusionOk="0" h="634131" w="665960">
                <a:moveTo>
                  <a:pt x="0" y="0"/>
                </a:moveTo>
                <a:lnTo>
                  <a:pt x="665959" y="0"/>
                </a:lnTo>
                <a:lnTo>
                  <a:pt x="665959" y="634130"/>
                </a:lnTo>
                <a:lnTo>
                  <a:pt x="0" y="634130"/>
                </a:lnTo>
                <a:lnTo>
                  <a:pt x="0" y="0"/>
                </a:lnTo>
                <a:close/>
              </a:path>
            </a:pathLst>
          </a:custGeom>
          <a:blipFill rotWithShape="1">
            <a:blip r:embed="rId5">
              <a:alphaModFix/>
            </a:blip>
            <a:stretch>
              <a:fillRect b="0" l="0" r="0" t="0"/>
            </a:stretch>
          </a:blipFill>
          <a:ln>
            <a:noFill/>
          </a:ln>
        </p:spPr>
      </p:sp>
      <p:sp>
        <p:nvSpPr>
          <p:cNvPr id="152" name="Google Shape;152;p7"/>
          <p:cNvSpPr/>
          <p:nvPr/>
        </p:nvSpPr>
        <p:spPr>
          <a:xfrm>
            <a:off x="5930319" y="2390914"/>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6">
              <a:alphaModFix/>
            </a:blip>
            <a:stretch>
              <a:fillRect b="0" l="0" r="0" t="0"/>
            </a:stretch>
          </a:blipFill>
          <a:ln>
            <a:noFill/>
          </a:ln>
        </p:spPr>
      </p:sp>
      <p:sp>
        <p:nvSpPr>
          <p:cNvPr id="153" name="Google Shape;153;p7"/>
          <p:cNvSpPr txBox="1"/>
          <p:nvPr/>
        </p:nvSpPr>
        <p:spPr>
          <a:xfrm>
            <a:off x="1028700" y="650277"/>
            <a:ext cx="13241185" cy="804471"/>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05 REQUERIMIENTOS FUNCIONALES</a:t>
            </a:r>
            <a:endParaRPr/>
          </a:p>
        </p:txBody>
      </p:sp>
      <p:sp>
        <p:nvSpPr>
          <p:cNvPr id="154" name="Google Shape;154;p7"/>
          <p:cNvSpPr txBox="1"/>
          <p:nvPr/>
        </p:nvSpPr>
        <p:spPr>
          <a:xfrm>
            <a:off x="2081603" y="2387354"/>
            <a:ext cx="3650406"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Conexión con los equipos de medición</a:t>
            </a:r>
            <a:endParaRPr/>
          </a:p>
        </p:txBody>
      </p:sp>
      <p:sp>
        <p:nvSpPr>
          <p:cNvPr id="155" name="Google Shape;155;p7"/>
          <p:cNvSpPr txBox="1"/>
          <p:nvPr/>
        </p:nvSpPr>
        <p:spPr>
          <a:xfrm>
            <a:off x="7103000" y="2180233"/>
            <a:ext cx="6646200" cy="670821"/>
          </a:xfrm>
          <a:prstGeom prst="rect">
            <a:avLst/>
          </a:prstGeom>
          <a:noFill/>
          <a:ln>
            <a:noFill/>
          </a:ln>
        </p:spPr>
        <p:txBody>
          <a:bodyPr anchorCtr="0" anchor="t" bIns="0" lIns="0" spcFirstLastPara="1" rIns="0" wrap="square" tIns="0">
            <a:spAutoFit/>
          </a:bodyPr>
          <a:lstStyle/>
          <a:p>
            <a:pPr indent="0" lvl="0" marL="0" marR="0" rtl="0" algn="ctr">
              <a:lnSpc>
                <a:spcPct val="109961"/>
              </a:lnSpc>
              <a:spcBef>
                <a:spcPts val="0"/>
              </a:spcBef>
              <a:spcAft>
                <a:spcPts val="0"/>
              </a:spcAft>
              <a:buNone/>
            </a:pPr>
            <a:r>
              <a:rPr b="1" i="0" lang="en-US" sz="1556" u="none" cap="none" strike="noStrike">
                <a:solidFill>
                  <a:srgbClr val="336BE4"/>
                </a:solidFill>
                <a:latin typeface="Arial"/>
                <a:ea typeface="Arial"/>
                <a:cs typeface="Arial"/>
                <a:sym typeface="Arial"/>
              </a:rPr>
              <a:t>El sistema debe establecer y mantener una conexión estable y segura con los equipos de medición medioambiental en tiempo real, permitiendo la transmisión continua de datos desde los sensores hacia la nube.</a:t>
            </a:r>
            <a:endParaRPr/>
          </a:p>
        </p:txBody>
      </p:sp>
      <p:sp>
        <p:nvSpPr>
          <p:cNvPr id="156" name="Google Shape;156;p7"/>
          <p:cNvSpPr txBox="1"/>
          <p:nvPr/>
        </p:nvSpPr>
        <p:spPr>
          <a:xfrm>
            <a:off x="2260943" y="3307039"/>
            <a:ext cx="2969768"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Captura de Datos en streaming</a:t>
            </a:r>
            <a:endParaRPr/>
          </a:p>
        </p:txBody>
      </p:sp>
      <p:sp>
        <p:nvSpPr>
          <p:cNvPr id="157" name="Google Shape;157;p7"/>
          <p:cNvSpPr txBox="1"/>
          <p:nvPr/>
        </p:nvSpPr>
        <p:spPr>
          <a:xfrm>
            <a:off x="1977333" y="4264983"/>
            <a:ext cx="2787611"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Validación de datos recibidos</a:t>
            </a:r>
            <a:endParaRPr/>
          </a:p>
        </p:txBody>
      </p:sp>
      <p:sp>
        <p:nvSpPr>
          <p:cNvPr id="158" name="Google Shape;158;p7"/>
          <p:cNvSpPr txBox="1"/>
          <p:nvPr/>
        </p:nvSpPr>
        <p:spPr>
          <a:xfrm>
            <a:off x="2708644" y="5161145"/>
            <a:ext cx="2559942"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Registro de datos erroneos</a:t>
            </a:r>
            <a:endParaRPr/>
          </a:p>
        </p:txBody>
      </p:sp>
      <p:sp>
        <p:nvSpPr>
          <p:cNvPr id="159" name="Google Shape;159;p7"/>
          <p:cNvSpPr txBox="1"/>
          <p:nvPr/>
        </p:nvSpPr>
        <p:spPr>
          <a:xfrm>
            <a:off x="2008303" y="6100224"/>
            <a:ext cx="3564003"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Registro de datos en la Base de Datos</a:t>
            </a:r>
            <a:endParaRPr/>
          </a:p>
        </p:txBody>
      </p:sp>
      <p:sp>
        <p:nvSpPr>
          <p:cNvPr id="160" name="Google Shape;160;p7"/>
          <p:cNvSpPr txBox="1"/>
          <p:nvPr/>
        </p:nvSpPr>
        <p:spPr>
          <a:xfrm>
            <a:off x="2163412" y="7034487"/>
            <a:ext cx="4124893"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Almacemaniento Centralizado de los Datos</a:t>
            </a:r>
            <a:endParaRPr/>
          </a:p>
        </p:txBody>
      </p:sp>
      <p:sp>
        <p:nvSpPr>
          <p:cNvPr id="161" name="Google Shape;161;p7"/>
          <p:cNvSpPr txBox="1"/>
          <p:nvPr/>
        </p:nvSpPr>
        <p:spPr>
          <a:xfrm>
            <a:off x="2175643" y="7968749"/>
            <a:ext cx="2289974"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Procesamiento de datos</a:t>
            </a:r>
            <a:endParaRPr/>
          </a:p>
        </p:txBody>
      </p:sp>
      <p:sp>
        <p:nvSpPr>
          <p:cNvPr id="162" name="Google Shape;162;p7"/>
          <p:cNvSpPr txBox="1"/>
          <p:nvPr/>
        </p:nvSpPr>
        <p:spPr>
          <a:xfrm>
            <a:off x="2302263" y="8838576"/>
            <a:ext cx="3397166"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Aplicación de un modelo Clustering</a:t>
            </a:r>
            <a:endParaRPr/>
          </a:p>
        </p:txBody>
      </p:sp>
      <p:sp>
        <p:nvSpPr>
          <p:cNvPr id="163" name="Google Shape;163;p7"/>
          <p:cNvSpPr/>
          <p:nvPr/>
        </p:nvSpPr>
        <p:spPr>
          <a:xfrm>
            <a:off x="5478361" y="3333209"/>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6">
              <a:alphaModFix/>
            </a:blip>
            <a:stretch>
              <a:fillRect b="0" l="0" r="0" t="0"/>
            </a:stretch>
          </a:blipFill>
          <a:ln>
            <a:noFill/>
          </a:ln>
        </p:spPr>
      </p:sp>
      <p:sp>
        <p:nvSpPr>
          <p:cNvPr id="164" name="Google Shape;164;p7"/>
          <p:cNvSpPr/>
          <p:nvPr/>
        </p:nvSpPr>
        <p:spPr>
          <a:xfrm>
            <a:off x="4908323" y="4268542"/>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6">
              <a:alphaModFix/>
            </a:blip>
            <a:stretch>
              <a:fillRect b="0" l="0" r="0" t="0"/>
            </a:stretch>
          </a:blipFill>
          <a:ln>
            <a:noFill/>
          </a:ln>
        </p:spPr>
      </p:sp>
      <p:sp>
        <p:nvSpPr>
          <p:cNvPr id="165" name="Google Shape;165;p7"/>
          <p:cNvSpPr/>
          <p:nvPr/>
        </p:nvSpPr>
        <p:spPr>
          <a:xfrm>
            <a:off x="5431760" y="5164705"/>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6">
              <a:alphaModFix/>
            </a:blip>
            <a:stretch>
              <a:fillRect b="0" l="0" r="0" t="0"/>
            </a:stretch>
          </a:blipFill>
          <a:ln>
            <a:noFill/>
          </a:ln>
        </p:spPr>
      </p:sp>
      <p:sp>
        <p:nvSpPr>
          <p:cNvPr id="166" name="Google Shape;166;p7"/>
          <p:cNvSpPr/>
          <p:nvPr/>
        </p:nvSpPr>
        <p:spPr>
          <a:xfrm>
            <a:off x="5801977" y="6106378"/>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6">
              <a:alphaModFix/>
            </a:blip>
            <a:stretch>
              <a:fillRect b="0" l="0" r="0" t="0"/>
            </a:stretch>
          </a:blipFill>
          <a:ln>
            <a:noFill/>
          </a:ln>
        </p:spPr>
      </p:sp>
      <p:sp>
        <p:nvSpPr>
          <p:cNvPr id="167" name="Google Shape;167;p7"/>
          <p:cNvSpPr/>
          <p:nvPr/>
        </p:nvSpPr>
        <p:spPr>
          <a:xfrm>
            <a:off x="6488330" y="7038046"/>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6">
              <a:alphaModFix/>
            </a:blip>
            <a:stretch>
              <a:fillRect b="0" l="0" r="0" t="0"/>
            </a:stretch>
          </a:blipFill>
          <a:ln>
            <a:noFill/>
          </a:ln>
        </p:spPr>
      </p:sp>
      <p:sp>
        <p:nvSpPr>
          <p:cNvPr id="168" name="Google Shape;168;p7"/>
          <p:cNvSpPr/>
          <p:nvPr/>
        </p:nvSpPr>
        <p:spPr>
          <a:xfrm>
            <a:off x="4710013" y="7972309"/>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6">
              <a:alphaModFix/>
            </a:blip>
            <a:stretch>
              <a:fillRect b="0" l="0" r="0" t="0"/>
            </a:stretch>
          </a:blipFill>
          <a:ln>
            <a:noFill/>
          </a:ln>
        </p:spPr>
      </p:sp>
      <p:sp>
        <p:nvSpPr>
          <p:cNvPr id="169" name="Google Shape;169;p7"/>
          <p:cNvSpPr/>
          <p:nvPr/>
        </p:nvSpPr>
        <p:spPr>
          <a:xfrm>
            <a:off x="5930319" y="8819526"/>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6">
              <a:alphaModFix/>
            </a:blip>
            <a:stretch>
              <a:fillRect b="0" l="0" r="0" t="0"/>
            </a:stretch>
          </a:blipFill>
          <a:ln>
            <a:noFill/>
          </a:ln>
        </p:spPr>
      </p:sp>
      <p:sp>
        <p:nvSpPr>
          <p:cNvPr id="170" name="Google Shape;170;p7"/>
          <p:cNvSpPr txBox="1"/>
          <p:nvPr/>
        </p:nvSpPr>
        <p:spPr>
          <a:xfrm>
            <a:off x="6698667" y="3333209"/>
            <a:ext cx="7234578" cy="250392"/>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capturar datos en tiempo real mediante flujos de streaming.</a:t>
            </a:r>
            <a:endParaRPr/>
          </a:p>
        </p:txBody>
      </p:sp>
      <p:sp>
        <p:nvSpPr>
          <p:cNvPr id="171" name="Google Shape;171;p7"/>
          <p:cNvSpPr txBox="1"/>
          <p:nvPr/>
        </p:nvSpPr>
        <p:spPr>
          <a:xfrm>
            <a:off x="6023854" y="4192538"/>
            <a:ext cx="8308568"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validar los datos recibidos para asegurar que cumplen con el formato, tipo rechazando o marcando aquellos que sean inconsistentes o incompletos.</a:t>
            </a:r>
            <a:endParaRPr/>
          </a:p>
        </p:txBody>
      </p:sp>
      <p:sp>
        <p:nvSpPr>
          <p:cNvPr id="172" name="Google Shape;172;p7"/>
          <p:cNvSpPr txBox="1"/>
          <p:nvPr/>
        </p:nvSpPr>
        <p:spPr>
          <a:xfrm>
            <a:off x="6652066" y="5157120"/>
            <a:ext cx="6365923"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registrar en un log los errores detectados durante la validación.</a:t>
            </a:r>
            <a:endParaRPr/>
          </a:p>
        </p:txBody>
      </p:sp>
      <p:sp>
        <p:nvSpPr>
          <p:cNvPr id="173" name="Google Shape;173;p7"/>
          <p:cNvSpPr txBox="1"/>
          <p:nvPr/>
        </p:nvSpPr>
        <p:spPr>
          <a:xfrm>
            <a:off x="6890744" y="6060032"/>
            <a:ext cx="5705571"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realizar el registro de los datos validados que han sido enviados desde los equipos de medición.</a:t>
            </a:r>
            <a:endParaRPr/>
          </a:p>
        </p:txBody>
      </p:sp>
      <p:sp>
        <p:nvSpPr>
          <p:cNvPr id="174" name="Google Shape;174;p7"/>
          <p:cNvSpPr txBox="1"/>
          <p:nvPr/>
        </p:nvSpPr>
        <p:spPr>
          <a:xfrm>
            <a:off x="7661011" y="6977831"/>
            <a:ext cx="5915274"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almacenar los datos en un blob en la nube para su registro y futura utilización.</a:t>
            </a:r>
            <a:endParaRPr/>
          </a:p>
        </p:txBody>
      </p:sp>
      <p:sp>
        <p:nvSpPr>
          <p:cNvPr id="175" name="Google Shape;175;p7"/>
          <p:cNvSpPr txBox="1"/>
          <p:nvPr/>
        </p:nvSpPr>
        <p:spPr>
          <a:xfrm>
            <a:off x="5930319" y="7908204"/>
            <a:ext cx="6529659"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realizar el procesamiento de los datos en tiempo real utilizando herramienta en la nube como Pub/Sub y Dataflow.</a:t>
            </a:r>
            <a:endParaRPr/>
          </a:p>
        </p:txBody>
      </p:sp>
      <p:sp>
        <p:nvSpPr>
          <p:cNvPr id="176" name="Google Shape;176;p7"/>
          <p:cNvSpPr txBox="1"/>
          <p:nvPr/>
        </p:nvSpPr>
        <p:spPr>
          <a:xfrm>
            <a:off x="7281852" y="8705557"/>
            <a:ext cx="6294433"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desplegar un modelo de clustering entrenado con datos historicos en la plataforma web.</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8"/>
          <p:cNvSpPr/>
          <p:nvPr/>
        </p:nvSpPr>
        <p:spPr>
          <a:xfrm>
            <a:off x="14953669" y="0"/>
            <a:ext cx="3667443" cy="10287000"/>
          </a:xfrm>
          <a:custGeom>
            <a:rect b="b" l="l" r="r" t="t"/>
            <a:pathLst>
              <a:path extrusionOk="0" h="10287000" w="3667443">
                <a:moveTo>
                  <a:pt x="0" y="0"/>
                </a:moveTo>
                <a:lnTo>
                  <a:pt x="3667443" y="0"/>
                </a:lnTo>
                <a:lnTo>
                  <a:pt x="3667443" y="10287000"/>
                </a:lnTo>
                <a:lnTo>
                  <a:pt x="0" y="10287000"/>
                </a:lnTo>
                <a:lnTo>
                  <a:pt x="0" y="0"/>
                </a:lnTo>
                <a:close/>
              </a:path>
            </a:pathLst>
          </a:custGeom>
          <a:blipFill rotWithShape="1">
            <a:blip r:embed="rId3">
              <a:alphaModFix/>
            </a:blip>
            <a:stretch>
              <a:fillRect b="0" l="-130713" r="-190250" t="0"/>
            </a:stretch>
          </a:blipFill>
          <a:ln>
            <a:noFill/>
          </a:ln>
        </p:spPr>
      </p:sp>
      <p:sp>
        <p:nvSpPr>
          <p:cNvPr id="182" name="Google Shape;182;p8"/>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
        <p:nvSpPr>
          <p:cNvPr id="183" name="Google Shape;183;p8"/>
          <p:cNvSpPr/>
          <p:nvPr/>
        </p:nvSpPr>
        <p:spPr>
          <a:xfrm>
            <a:off x="482350" y="220514"/>
            <a:ext cx="641407" cy="843956"/>
          </a:xfrm>
          <a:custGeom>
            <a:rect b="b" l="l" r="r" t="t"/>
            <a:pathLst>
              <a:path extrusionOk="0" h="843956" w="641407">
                <a:moveTo>
                  <a:pt x="0" y="0"/>
                </a:moveTo>
                <a:lnTo>
                  <a:pt x="641407" y="0"/>
                </a:lnTo>
                <a:lnTo>
                  <a:pt x="641407" y="843956"/>
                </a:lnTo>
                <a:lnTo>
                  <a:pt x="0" y="843956"/>
                </a:lnTo>
                <a:lnTo>
                  <a:pt x="0" y="0"/>
                </a:lnTo>
                <a:close/>
              </a:path>
            </a:pathLst>
          </a:custGeom>
          <a:blipFill rotWithShape="1">
            <a:blip r:embed="rId5">
              <a:alphaModFix/>
            </a:blip>
            <a:stretch>
              <a:fillRect b="0" l="0" r="0" t="0"/>
            </a:stretch>
          </a:blipFill>
          <a:ln>
            <a:noFill/>
          </a:ln>
        </p:spPr>
      </p:sp>
      <p:sp>
        <p:nvSpPr>
          <p:cNvPr id="184" name="Google Shape;184;p8"/>
          <p:cNvSpPr/>
          <p:nvPr/>
        </p:nvSpPr>
        <p:spPr>
          <a:xfrm>
            <a:off x="1341805" y="2208664"/>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6">
              <a:alphaModFix/>
            </a:blip>
            <a:stretch>
              <a:fillRect b="0" l="0" r="0" t="0"/>
            </a:stretch>
          </a:blipFill>
          <a:ln>
            <a:noFill/>
          </a:ln>
        </p:spPr>
      </p:sp>
      <p:sp>
        <p:nvSpPr>
          <p:cNvPr id="185" name="Google Shape;185;p8"/>
          <p:cNvSpPr/>
          <p:nvPr/>
        </p:nvSpPr>
        <p:spPr>
          <a:xfrm>
            <a:off x="1604884" y="3127135"/>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6">
              <a:alphaModFix/>
            </a:blip>
            <a:stretch>
              <a:fillRect b="0" l="0" r="0" t="0"/>
            </a:stretch>
          </a:blipFill>
          <a:ln>
            <a:noFill/>
          </a:ln>
        </p:spPr>
      </p:sp>
      <p:sp>
        <p:nvSpPr>
          <p:cNvPr id="186" name="Google Shape;186;p8"/>
          <p:cNvSpPr/>
          <p:nvPr/>
        </p:nvSpPr>
        <p:spPr>
          <a:xfrm>
            <a:off x="1582791" y="4842639"/>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6">
              <a:alphaModFix/>
            </a:blip>
            <a:stretch>
              <a:fillRect b="0" l="0" r="0" t="0"/>
            </a:stretch>
          </a:blipFill>
          <a:ln>
            <a:noFill/>
          </a:ln>
        </p:spPr>
      </p:sp>
      <p:sp>
        <p:nvSpPr>
          <p:cNvPr id="187" name="Google Shape;187;p8"/>
          <p:cNvSpPr/>
          <p:nvPr/>
        </p:nvSpPr>
        <p:spPr>
          <a:xfrm>
            <a:off x="1249811" y="3946300"/>
            <a:ext cx="665960" cy="634131"/>
          </a:xfrm>
          <a:custGeom>
            <a:rect b="b" l="l" r="r" t="t"/>
            <a:pathLst>
              <a:path extrusionOk="0" h="634131" w="665960">
                <a:moveTo>
                  <a:pt x="0" y="0"/>
                </a:moveTo>
                <a:lnTo>
                  <a:pt x="665960" y="0"/>
                </a:lnTo>
                <a:lnTo>
                  <a:pt x="665960" y="634130"/>
                </a:lnTo>
                <a:lnTo>
                  <a:pt x="0" y="634130"/>
                </a:lnTo>
                <a:lnTo>
                  <a:pt x="0" y="0"/>
                </a:lnTo>
                <a:close/>
              </a:path>
            </a:pathLst>
          </a:custGeom>
          <a:blipFill rotWithShape="1">
            <a:blip r:embed="rId6">
              <a:alphaModFix/>
            </a:blip>
            <a:stretch>
              <a:fillRect b="0" l="0" r="0" t="0"/>
            </a:stretch>
          </a:blipFill>
          <a:ln>
            <a:noFill/>
          </a:ln>
        </p:spPr>
      </p:sp>
      <p:sp>
        <p:nvSpPr>
          <p:cNvPr id="188" name="Google Shape;188;p8"/>
          <p:cNvSpPr/>
          <p:nvPr/>
        </p:nvSpPr>
        <p:spPr>
          <a:xfrm>
            <a:off x="1582791" y="6715980"/>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6">
              <a:alphaModFix/>
            </a:blip>
            <a:stretch>
              <a:fillRect b="0" l="0" r="0" t="0"/>
            </a:stretch>
          </a:blipFill>
          <a:ln>
            <a:noFill/>
          </a:ln>
        </p:spPr>
      </p:sp>
      <p:sp>
        <p:nvSpPr>
          <p:cNvPr id="189" name="Google Shape;189;p8"/>
          <p:cNvSpPr/>
          <p:nvPr/>
        </p:nvSpPr>
        <p:spPr>
          <a:xfrm>
            <a:off x="1249811" y="5805625"/>
            <a:ext cx="665960" cy="634131"/>
          </a:xfrm>
          <a:custGeom>
            <a:rect b="b" l="l" r="r" t="t"/>
            <a:pathLst>
              <a:path extrusionOk="0" h="634131" w="665960">
                <a:moveTo>
                  <a:pt x="0" y="0"/>
                </a:moveTo>
                <a:lnTo>
                  <a:pt x="665960" y="0"/>
                </a:lnTo>
                <a:lnTo>
                  <a:pt x="665960" y="634130"/>
                </a:lnTo>
                <a:lnTo>
                  <a:pt x="0" y="634130"/>
                </a:lnTo>
                <a:lnTo>
                  <a:pt x="0" y="0"/>
                </a:lnTo>
                <a:close/>
              </a:path>
            </a:pathLst>
          </a:custGeom>
          <a:blipFill rotWithShape="1">
            <a:blip r:embed="rId6">
              <a:alphaModFix/>
            </a:blip>
            <a:stretch>
              <a:fillRect b="0" l="0" r="0" t="0"/>
            </a:stretch>
          </a:blipFill>
          <a:ln>
            <a:noFill/>
          </a:ln>
        </p:spPr>
      </p:sp>
      <p:sp>
        <p:nvSpPr>
          <p:cNvPr id="190" name="Google Shape;190;p8"/>
          <p:cNvSpPr/>
          <p:nvPr/>
        </p:nvSpPr>
        <p:spPr>
          <a:xfrm>
            <a:off x="1595022" y="8536692"/>
            <a:ext cx="665960" cy="634131"/>
          </a:xfrm>
          <a:custGeom>
            <a:rect b="b" l="l" r="r" t="t"/>
            <a:pathLst>
              <a:path extrusionOk="0" h="634131" w="665960">
                <a:moveTo>
                  <a:pt x="0" y="0"/>
                </a:moveTo>
                <a:lnTo>
                  <a:pt x="665960" y="0"/>
                </a:lnTo>
                <a:lnTo>
                  <a:pt x="665960" y="634130"/>
                </a:lnTo>
                <a:lnTo>
                  <a:pt x="0" y="634130"/>
                </a:lnTo>
                <a:lnTo>
                  <a:pt x="0" y="0"/>
                </a:lnTo>
                <a:close/>
              </a:path>
            </a:pathLst>
          </a:custGeom>
          <a:blipFill rotWithShape="1">
            <a:blip r:embed="rId6">
              <a:alphaModFix/>
            </a:blip>
            <a:stretch>
              <a:fillRect b="0" l="0" r="0" t="0"/>
            </a:stretch>
          </a:blipFill>
          <a:ln>
            <a:noFill/>
          </a:ln>
        </p:spPr>
      </p:sp>
      <p:sp>
        <p:nvSpPr>
          <p:cNvPr id="191" name="Google Shape;191;p8"/>
          <p:cNvSpPr/>
          <p:nvPr/>
        </p:nvSpPr>
        <p:spPr>
          <a:xfrm>
            <a:off x="1262043" y="7626336"/>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6">
              <a:alphaModFix/>
            </a:blip>
            <a:stretch>
              <a:fillRect b="0" l="0" r="0" t="0"/>
            </a:stretch>
          </a:blipFill>
          <a:ln>
            <a:noFill/>
          </a:ln>
        </p:spPr>
      </p:sp>
      <p:sp>
        <p:nvSpPr>
          <p:cNvPr id="192" name="Google Shape;192;p8"/>
          <p:cNvSpPr/>
          <p:nvPr/>
        </p:nvSpPr>
        <p:spPr>
          <a:xfrm>
            <a:off x="4742753" y="2525730"/>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7">
              <a:alphaModFix/>
            </a:blip>
            <a:stretch>
              <a:fillRect b="0" l="0" r="0" t="0"/>
            </a:stretch>
          </a:blipFill>
          <a:ln>
            <a:noFill/>
          </a:ln>
        </p:spPr>
      </p:sp>
      <p:sp>
        <p:nvSpPr>
          <p:cNvPr id="193" name="Google Shape;193;p8"/>
          <p:cNvSpPr txBox="1"/>
          <p:nvPr/>
        </p:nvSpPr>
        <p:spPr>
          <a:xfrm>
            <a:off x="2191807" y="2522170"/>
            <a:ext cx="2325177"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Visualización interactiva</a:t>
            </a:r>
            <a:endParaRPr/>
          </a:p>
        </p:txBody>
      </p:sp>
      <p:sp>
        <p:nvSpPr>
          <p:cNvPr id="194" name="Google Shape;194;p8"/>
          <p:cNvSpPr txBox="1"/>
          <p:nvPr/>
        </p:nvSpPr>
        <p:spPr>
          <a:xfrm>
            <a:off x="2447061" y="3358081"/>
            <a:ext cx="2486607"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Generación de Dashboard</a:t>
            </a:r>
            <a:endParaRPr/>
          </a:p>
        </p:txBody>
      </p:sp>
      <p:sp>
        <p:nvSpPr>
          <p:cNvPr id="195" name="Google Shape;195;p8"/>
          <p:cNvSpPr txBox="1"/>
          <p:nvPr/>
        </p:nvSpPr>
        <p:spPr>
          <a:xfrm>
            <a:off x="2085415" y="4257764"/>
            <a:ext cx="3138744"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Creación de informes y reportes.</a:t>
            </a:r>
            <a:endParaRPr/>
          </a:p>
        </p:txBody>
      </p:sp>
      <p:sp>
        <p:nvSpPr>
          <p:cNvPr id="196" name="Google Shape;196;p8"/>
          <p:cNvSpPr txBox="1"/>
          <p:nvPr/>
        </p:nvSpPr>
        <p:spPr>
          <a:xfrm>
            <a:off x="2418889" y="5201552"/>
            <a:ext cx="2867818"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Consultar informes y reportes</a:t>
            </a:r>
            <a:endParaRPr/>
          </a:p>
        </p:txBody>
      </p:sp>
      <p:sp>
        <p:nvSpPr>
          <p:cNvPr id="197" name="Google Shape;197;p8"/>
          <p:cNvSpPr txBox="1"/>
          <p:nvPr/>
        </p:nvSpPr>
        <p:spPr>
          <a:xfrm>
            <a:off x="2184098" y="6012746"/>
            <a:ext cx="3295893"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Exportación de reportes históricos</a:t>
            </a:r>
            <a:endParaRPr/>
          </a:p>
        </p:txBody>
      </p:sp>
      <p:sp>
        <p:nvSpPr>
          <p:cNvPr id="198" name="Google Shape;198;p8"/>
          <p:cNvSpPr txBox="1"/>
          <p:nvPr/>
        </p:nvSpPr>
        <p:spPr>
          <a:xfrm>
            <a:off x="2447061" y="6947009"/>
            <a:ext cx="1847029"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Contador de visitas</a:t>
            </a:r>
            <a:endParaRPr/>
          </a:p>
        </p:txBody>
      </p:sp>
      <p:sp>
        <p:nvSpPr>
          <p:cNvPr id="199" name="Google Shape;199;p8"/>
          <p:cNvSpPr txBox="1"/>
          <p:nvPr/>
        </p:nvSpPr>
        <p:spPr>
          <a:xfrm>
            <a:off x="2113052" y="7829432"/>
            <a:ext cx="3011730"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Exportación de datos históricos</a:t>
            </a:r>
            <a:endParaRPr/>
          </a:p>
        </p:txBody>
      </p:sp>
      <p:sp>
        <p:nvSpPr>
          <p:cNvPr id="200" name="Google Shape;200;p8"/>
          <p:cNvSpPr txBox="1"/>
          <p:nvPr/>
        </p:nvSpPr>
        <p:spPr>
          <a:xfrm>
            <a:off x="2021248" y="8751099"/>
            <a:ext cx="3883032" cy="475393"/>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Generar gráficos de Estadística descriptiva</a:t>
            </a:r>
            <a:endParaRPr/>
          </a:p>
        </p:txBody>
      </p:sp>
      <p:sp>
        <p:nvSpPr>
          <p:cNvPr id="201" name="Google Shape;201;p8"/>
          <p:cNvSpPr/>
          <p:nvPr/>
        </p:nvSpPr>
        <p:spPr>
          <a:xfrm>
            <a:off x="5152983" y="3361640"/>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7">
              <a:alphaModFix/>
            </a:blip>
            <a:stretch>
              <a:fillRect b="0" l="0" r="0" t="0"/>
            </a:stretch>
          </a:blipFill>
          <a:ln>
            <a:noFill/>
          </a:ln>
        </p:spPr>
      </p:sp>
      <p:sp>
        <p:nvSpPr>
          <p:cNvPr id="202" name="Google Shape;202;p8"/>
          <p:cNvSpPr/>
          <p:nvPr/>
        </p:nvSpPr>
        <p:spPr>
          <a:xfrm>
            <a:off x="5279503" y="4261323"/>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7">
              <a:alphaModFix/>
            </a:blip>
            <a:stretch>
              <a:fillRect b="0" l="0" r="0" t="0"/>
            </a:stretch>
          </a:blipFill>
          <a:ln>
            <a:noFill/>
          </a:ln>
        </p:spPr>
      </p:sp>
      <p:sp>
        <p:nvSpPr>
          <p:cNvPr id="203" name="Google Shape;203;p8"/>
          <p:cNvSpPr/>
          <p:nvPr/>
        </p:nvSpPr>
        <p:spPr>
          <a:xfrm>
            <a:off x="5496750" y="5205111"/>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7">
              <a:alphaModFix/>
            </a:blip>
            <a:stretch>
              <a:fillRect b="0" l="0" r="0" t="0"/>
            </a:stretch>
          </a:blipFill>
          <a:ln>
            <a:noFill/>
          </a:ln>
        </p:spPr>
      </p:sp>
      <p:sp>
        <p:nvSpPr>
          <p:cNvPr id="204" name="Google Shape;204;p8"/>
          <p:cNvSpPr/>
          <p:nvPr/>
        </p:nvSpPr>
        <p:spPr>
          <a:xfrm>
            <a:off x="5840864" y="6019866"/>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7">
              <a:alphaModFix/>
            </a:blip>
            <a:stretch>
              <a:fillRect b="0" l="0" r="0" t="0"/>
            </a:stretch>
          </a:blipFill>
          <a:ln>
            <a:noFill/>
          </a:ln>
        </p:spPr>
      </p:sp>
      <p:sp>
        <p:nvSpPr>
          <p:cNvPr id="205" name="Google Shape;205;p8"/>
          <p:cNvSpPr/>
          <p:nvPr/>
        </p:nvSpPr>
        <p:spPr>
          <a:xfrm>
            <a:off x="4494115" y="6921168"/>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7">
              <a:alphaModFix/>
            </a:blip>
            <a:stretch>
              <a:fillRect b="0" l="0" r="0" t="0"/>
            </a:stretch>
          </a:blipFill>
          <a:ln>
            <a:noFill/>
          </a:ln>
        </p:spPr>
      </p:sp>
      <p:sp>
        <p:nvSpPr>
          <p:cNvPr id="206" name="Google Shape;206;p8"/>
          <p:cNvSpPr/>
          <p:nvPr/>
        </p:nvSpPr>
        <p:spPr>
          <a:xfrm>
            <a:off x="5286707" y="7837017"/>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7">
              <a:alphaModFix/>
            </a:blip>
            <a:stretch>
              <a:fillRect b="0" l="0" r="0" t="0"/>
            </a:stretch>
          </a:blipFill>
          <a:ln>
            <a:noFill/>
          </a:ln>
        </p:spPr>
      </p:sp>
      <p:sp>
        <p:nvSpPr>
          <p:cNvPr id="207" name="Google Shape;207;p8"/>
          <p:cNvSpPr/>
          <p:nvPr/>
        </p:nvSpPr>
        <p:spPr>
          <a:xfrm>
            <a:off x="5639311" y="8774634"/>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7">
              <a:alphaModFix/>
            </a:blip>
            <a:stretch>
              <a:fillRect b="0" l="0" r="0" t="0"/>
            </a:stretch>
          </a:blipFill>
          <a:ln>
            <a:noFill/>
          </a:ln>
        </p:spPr>
      </p:sp>
      <p:sp>
        <p:nvSpPr>
          <p:cNvPr id="208" name="Google Shape;208;p8"/>
          <p:cNvSpPr txBox="1"/>
          <p:nvPr/>
        </p:nvSpPr>
        <p:spPr>
          <a:xfrm>
            <a:off x="6307503" y="3361640"/>
            <a:ext cx="8308568" cy="479884"/>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desplegar la información de estadistica descriptiva y el modelo clustering que sea comprensible y facil de enntender.</a:t>
            </a:r>
            <a:endParaRPr/>
          </a:p>
        </p:txBody>
      </p:sp>
      <p:sp>
        <p:nvSpPr>
          <p:cNvPr id="209" name="Google Shape;209;p8"/>
          <p:cNvSpPr txBox="1"/>
          <p:nvPr/>
        </p:nvSpPr>
        <p:spPr>
          <a:xfrm>
            <a:off x="6307503" y="4185319"/>
            <a:ext cx="8520112" cy="688395"/>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a los usuarios generar informes y reportes de la diferentes mediciones meteorológicas. Además, esta información debe estar almacenada en la base de datos.</a:t>
            </a:r>
            <a:endParaRPr/>
          </a:p>
        </p:txBody>
      </p:sp>
      <p:sp>
        <p:nvSpPr>
          <p:cNvPr id="210" name="Google Shape;210;p8"/>
          <p:cNvSpPr txBox="1"/>
          <p:nvPr/>
        </p:nvSpPr>
        <p:spPr>
          <a:xfrm>
            <a:off x="6678956" y="5091142"/>
            <a:ext cx="7705690"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a los usuarios realizar consultas de los distintos informes y reportes en el momento que se requiera esta información.</a:t>
            </a:r>
            <a:endParaRPr/>
          </a:p>
        </p:txBody>
      </p:sp>
      <p:sp>
        <p:nvSpPr>
          <p:cNvPr id="211" name="Google Shape;211;p8"/>
          <p:cNvSpPr txBox="1"/>
          <p:nvPr/>
        </p:nvSpPr>
        <p:spPr>
          <a:xfrm>
            <a:off x="6926675" y="5905896"/>
            <a:ext cx="7210253"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a los usuarios realizar migraciones de los diferentes informes en formato PDF cuando estos se requieran.</a:t>
            </a:r>
            <a:endParaRPr/>
          </a:p>
        </p:txBody>
      </p:sp>
      <p:sp>
        <p:nvSpPr>
          <p:cNvPr id="212" name="Google Shape;212;p8"/>
          <p:cNvSpPr txBox="1"/>
          <p:nvPr/>
        </p:nvSpPr>
        <p:spPr>
          <a:xfrm>
            <a:off x="5715409" y="6894244"/>
            <a:ext cx="8893050"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una funcionalidad que pueda llevar un conteo de cuantos usuarios han visitado la plataforma a lo largo del tiempo.</a:t>
            </a:r>
            <a:endParaRPr/>
          </a:p>
        </p:txBody>
      </p:sp>
      <p:sp>
        <p:nvSpPr>
          <p:cNvPr id="213" name="Google Shape;213;p8"/>
          <p:cNvSpPr txBox="1"/>
          <p:nvPr/>
        </p:nvSpPr>
        <p:spPr>
          <a:xfrm>
            <a:off x="6390608" y="7829432"/>
            <a:ext cx="8402103"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a los usuarios exportar registros de datos histórico en formato CSV cuando estos se requieran.</a:t>
            </a:r>
            <a:endParaRPr/>
          </a:p>
        </p:txBody>
      </p:sp>
      <p:sp>
        <p:nvSpPr>
          <p:cNvPr id="214" name="Google Shape;214;p8"/>
          <p:cNvSpPr txBox="1"/>
          <p:nvPr/>
        </p:nvSpPr>
        <p:spPr>
          <a:xfrm>
            <a:off x="6781213" y="8711065"/>
            <a:ext cx="7569002"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el despliegue y la visualización de diferentes tipos de gráficos de estadística descriptiva. </a:t>
            </a:r>
            <a:endParaRPr/>
          </a:p>
        </p:txBody>
      </p:sp>
      <p:sp>
        <p:nvSpPr>
          <p:cNvPr id="215" name="Google Shape;215;p8"/>
          <p:cNvSpPr/>
          <p:nvPr/>
        </p:nvSpPr>
        <p:spPr>
          <a:xfrm>
            <a:off x="1341805" y="549290"/>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6">
              <a:alphaModFix/>
            </a:blip>
            <a:stretch>
              <a:fillRect b="0" l="0" r="0" t="0"/>
            </a:stretch>
          </a:blipFill>
          <a:ln>
            <a:noFill/>
          </a:ln>
        </p:spPr>
      </p:sp>
      <p:sp>
        <p:nvSpPr>
          <p:cNvPr id="216" name="Google Shape;216;p8"/>
          <p:cNvSpPr/>
          <p:nvPr/>
        </p:nvSpPr>
        <p:spPr>
          <a:xfrm>
            <a:off x="1604884" y="1467761"/>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6">
              <a:alphaModFix/>
            </a:blip>
            <a:stretch>
              <a:fillRect b="0" l="0" r="0" t="0"/>
            </a:stretch>
          </a:blipFill>
          <a:ln>
            <a:noFill/>
          </a:ln>
        </p:spPr>
      </p:sp>
      <p:sp>
        <p:nvSpPr>
          <p:cNvPr id="217" name="Google Shape;217;p8"/>
          <p:cNvSpPr txBox="1"/>
          <p:nvPr/>
        </p:nvSpPr>
        <p:spPr>
          <a:xfrm>
            <a:off x="2191807" y="885406"/>
            <a:ext cx="2925961"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Conexión con la Base de Datos</a:t>
            </a:r>
            <a:endParaRPr/>
          </a:p>
        </p:txBody>
      </p:sp>
      <p:sp>
        <p:nvSpPr>
          <p:cNvPr id="218" name="Google Shape;218;p8"/>
          <p:cNvSpPr/>
          <p:nvPr/>
        </p:nvSpPr>
        <p:spPr>
          <a:xfrm>
            <a:off x="5417952" y="890230"/>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7">
              <a:alphaModFix/>
            </a:blip>
            <a:stretch>
              <a:fillRect b="0" l="0" r="0" t="0"/>
            </a:stretch>
          </a:blipFill>
          <a:ln>
            <a:noFill/>
          </a:ln>
        </p:spPr>
      </p:sp>
      <p:sp>
        <p:nvSpPr>
          <p:cNvPr id="219" name="Google Shape;219;p8"/>
          <p:cNvSpPr/>
          <p:nvPr/>
        </p:nvSpPr>
        <p:spPr>
          <a:xfrm>
            <a:off x="6213968" y="1654788"/>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7">
              <a:alphaModFix/>
            </a:blip>
            <a:stretch>
              <a:fillRect b="0" l="0" r="0" t="0"/>
            </a:stretch>
          </a:blipFill>
          <a:ln>
            <a:noFill/>
          </a:ln>
        </p:spPr>
      </p:sp>
      <p:sp>
        <p:nvSpPr>
          <p:cNvPr id="220" name="Google Shape;220;p8"/>
          <p:cNvSpPr txBox="1"/>
          <p:nvPr/>
        </p:nvSpPr>
        <p:spPr>
          <a:xfrm>
            <a:off x="2418889" y="1678792"/>
            <a:ext cx="3706750"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Conexión con librerías de visualización</a:t>
            </a:r>
            <a:endParaRPr/>
          </a:p>
        </p:txBody>
      </p:sp>
      <p:sp>
        <p:nvSpPr>
          <p:cNvPr id="221" name="Google Shape;221;p8"/>
          <p:cNvSpPr txBox="1"/>
          <p:nvPr/>
        </p:nvSpPr>
        <p:spPr>
          <a:xfrm>
            <a:off x="7381494" y="1583381"/>
            <a:ext cx="7234578" cy="479884"/>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integrase por solicitudes API con la aplicación que se utilizara para desplegar paneles interactivos.</a:t>
            </a:r>
            <a:endParaRPr/>
          </a:p>
        </p:txBody>
      </p:sp>
      <p:sp>
        <p:nvSpPr>
          <p:cNvPr id="222" name="Google Shape;222;p8"/>
          <p:cNvSpPr txBox="1"/>
          <p:nvPr/>
        </p:nvSpPr>
        <p:spPr>
          <a:xfrm>
            <a:off x="5833865" y="2539515"/>
            <a:ext cx="8993750" cy="250392"/>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presentar la infromación obtenida mediante diferentes dashboards interactivo.</a:t>
            </a:r>
            <a:endParaRPr/>
          </a:p>
        </p:txBody>
      </p:sp>
      <p:sp>
        <p:nvSpPr>
          <p:cNvPr id="223" name="Google Shape;223;p8"/>
          <p:cNvSpPr txBox="1"/>
          <p:nvPr/>
        </p:nvSpPr>
        <p:spPr>
          <a:xfrm>
            <a:off x="6571583" y="822955"/>
            <a:ext cx="7988263" cy="479884"/>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conectarse con la fuente de datos en la nube a traves de credenciales seguras.</a:t>
            </a:r>
            <a:endParaRPr/>
          </a:p>
        </p:txBody>
      </p:sp>
      <p:sp>
        <p:nvSpPr>
          <p:cNvPr id="224" name="Google Shape;224;p8"/>
          <p:cNvSpPr/>
          <p:nvPr/>
        </p:nvSpPr>
        <p:spPr>
          <a:xfrm>
            <a:off x="1249038" y="9370847"/>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6">
              <a:alphaModFix/>
            </a:blip>
            <a:stretch>
              <a:fillRect b="0" l="0" r="0" t="0"/>
            </a:stretch>
          </a:blipFill>
          <a:ln>
            <a:noFill/>
          </a:ln>
        </p:spPr>
      </p:sp>
      <p:sp>
        <p:nvSpPr>
          <p:cNvPr id="225" name="Google Shape;225;p8"/>
          <p:cNvSpPr txBox="1"/>
          <p:nvPr/>
        </p:nvSpPr>
        <p:spPr>
          <a:xfrm>
            <a:off x="2201397" y="9669029"/>
            <a:ext cx="2338358"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Estadísticas descriptivas</a:t>
            </a:r>
            <a:endParaRPr/>
          </a:p>
        </p:txBody>
      </p:sp>
      <p:sp>
        <p:nvSpPr>
          <p:cNvPr id="226" name="Google Shape;226;p8"/>
          <p:cNvSpPr/>
          <p:nvPr/>
        </p:nvSpPr>
        <p:spPr>
          <a:xfrm>
            <a:off x="4933667" y="9672589"/>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7">
              <a:alphaModFix/>
            </a:blip>
            <a:stretch>
              <a:fillRect b="0" l="0" r="0" t="0"/>
            </a:stretch>
          </a:blipFill>
          <a:ln>
            <a:noFill/>
          </a:ln>
        </p:spPr>
      </p:sp>
      <p:sp>
        <p:nvSpPr>
          <p:cNvPr id="227" name="Google Shape;227;p8"/>
          <p:cNvSpPr txBox="1"/>
          <p:nvPr/>
        </p:nvSpPr>
        <p:spPr>
          <a:xfrm>
            <a:off x="6100948" y="9589922"/>
            <a:ext cx="8507511"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calcular y mostrar medidas estadísticas como media, mediana y desviación estándar.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9"/>
          <p:cNvSpPr/>
          <p:nvPr/>
        </p:nvSpPr>
        <p:spPr>
          <a:xfrm>
            <a:off x="14953669" y="0"/>
            <a:ext cx="3667443" cy="10287000"/>
          </a:xfrm>
          <a:custGeom>
            <a:rect b="b" l="l" r="r" t="t"/>
            <a:pathLst>
              <a:path extrusionOk="0" h="10287000" w="3667443">
                <a:moveTo>
                  <a:pt x="0" y="0"/>
                </a:moveTo>
                <a:lnTo>
                  <a:pt x="3667443" y="0"/>
                </a:lnTo>
                <a:lnTo>
                  <a:pt x="3667443" y="10287000"/>
                </a:lnTo>
                <a:lnTo>
                  <a:pt x="0" y="10287000"/>
                </a:lnTo>
                <a:lnTo>
                  <a:pt x="0" y="0"/>
                </a:lnTo>
                <a:close/>
              </a:path>
            </a:pathLst>
          </a:custGeom>
          <a:blipFill rotWithShape="1">
            <a:blip r:embed="rId3">
              <a:alphaModFix/>
            </a:blip>
            <a:stretch>
              <a:fillRect b="0" l="-130713" r="-190250" t="0"/>
            </a:stretch>
          </a:blipFill>
          <a:ln>
            <a:noFill/>
          </a:ln>
        </p:spPr>
      </p:sp>
      <p:sp>
        <p:nvSpPr>
          <p:cNvPr id="233" name="Google Shape;233;p9"/>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
        <p:nvSpPr>
          <p:cNvPr id="234" name="Google Shape;234;p9"/>
          <p:cNvSpPr/>
          <p:nvPr/>
        </p:nvSpPr>
        <p:spPr>
          <a:xfrm>
            <a:off x="482350" y="220514"/>
            <a:ext cx="641407" cy="843956"/>
          </a:xfrm>
          <a:custGeom>
            <a:rect b="b" l="l" r="r" t="t"/>
            <a:pathLst>
              <a:path extrusionOk="0" h="843956" w="641407">
                <a:moveTo>
                  <a:pt x="0" y="0"/>
                </a:moveTo>
                <a:lnTo>
                  <a:pt x="641407" y="0"/>
                </a:lnTo>
                <a:lnTo>
                  <a:pt x="641407" y="843956"/>
                </a:lnTo>
                <a:lnTo>
                  <a:pt x="0" y="843956"/>
                </a:lnTo>
                <a:lnTo>
                  <a:pt x="0" y="0"/>
                </a:lnTo>
                <a:close/>
              </a:path>
            </a:pathLst>
          </a:custGeom>
          <a:blipFill rotWithShape="1">
            <a:blip r:embed="rId5">
              <a:alphaModFix/>
            </a:blip>
            <a:stretch>
              <a:fillRect b="0" l="0" r="0" t="0"/>
            </a:stretch>
          </a:blipFill>
          <a:ln>
            <a:noFill/>
          </a:ln>
        </p:spPr>
      </p:sp>
      <p:sp>
        <p:nvSpPr>
          <p:cNvPr id="235" name="Google Shape;235;p9"/>
          <p:cNvSpPr/>
          <p:nvPr/>
        </p:nvSpPr>
        <p:spPr>
          <a:xfrm>
            <a:off x="895048" y="3129026"/>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6">
              <a:alphaModFix/>
            </a:blip>
            <a:stretch>
              <a:fillRect b="0" l="0" r="0" t="0"/>
            </a:stretch>
          </a:blipFill>
          <a:ln>
            <a:noFill/>
          </a:ln>
        </p:spPr>
      </p:sp>
      <p:sp>
        <p:nvSpPr>
          <p:cNvPr id="236" name="Google Shape;236;p9"/>
          <p:cNvSpPr/>
          <p:nvPr/>
        </p:nvSpPr>
        <p:spPr>
          <a:xfrm>
            <a:off x="1158127" y="4047497"/>
            <a:ext cx="665960" cy="634131"/>
          </a:xfrm>
          <a:custGeom>
            <a:rect b="b" l="l" r="r" t="t"/>
            <a:pathLst>
              <a:path extrusionOk="0" h="634131" w="665960">
                <a:moveTo>
                  <a:pt x="0" y="0"/>
                </a:moveTo>
                <a:lnTo>
                  <a:pt x="665959" y="0"/>
                </a:lnTo>
                <a:lnTo>
                  <a:pt x="665959" y="634130"/>
                </a:lnTo>
                <a:lnTo>
                  <a:pt x="0" y="634130"/>
                </a:lnTo>
                <a:lnTo>
                  <a:pt x="0" y="0"/>
                </a:lnTo>
                <a:close/>
              </a:path>
            </a:pathLst>
          </a:custGeom>
          <a:blipFill rotWithShape="1">
            <a:blip r:embed="rId6">
              <a:alphaModFix/>
            </a:blip>
            <a:stretch>
              <a:fillRect b="0" l="0" r="0" t="0"/>
            </a:stretch>
          </a:blipFill>
          <a:ln>
            <a:noFill/>
          </a:ln>
        </p:spPr>
      </p:sp>
      <p:sp>
        <p:nvSpPr>
          <p:cNvPr id="237" name="Google Shape;237;p9"/>
          <p:cNvSpPr/>
          <p:nvPr/>
        </p:nvSpPr>
        <p:spPr>
          <a:xfrm>
            <a:off x="1136034" y="5763001"/>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6">
              <a:alphaModFix/>
            </a:blip>
            <a:stretch>
              <a:fillRect b="0" l="0" r="0" t="0"/>
            </a:stretch>
          </a:blipFill>
          <a:ln>
            <a:noFill/>
          </a:ln>
        </p:spPr>
      </p:sp>
      <p:sp>
        <p:nvSpPr>
          <p:cNvPr id="238" name="Google Shape;238;p9"/>
          <p:cNvSpPr/>
          <p:nvPr/>
        </p:nvSpPr>
        <p:spPr>
          <a:xfrm>
            <a:off x="803054" y="4866661"/>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6">
              <a:alphaModFix/>
            </a:blip>
            <a:stretch>
              <a:fillRect b="0" l="0" r="0" t="0"/>
            </a:stretch>
          </a:blipFill>
          <a:ln>
            <a:noFill/>
          </a:ln>
        </p:spPr>
      </p:sp>
      <p:sp>
        <p:nvSpPr>
          <p:cNvPr id="239" name="Google Shape;239;p9"/>
          <p:cNvSpPr/>
          <p:nvPr/>
        </p:nvSpPr>
        <p:spPr>
          <a:xfrm>
            <a:off x="1136034" y="7636342"/>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6">
              <a:alphaModFix/>
            </a:blip>
            <a:stretch>
              <a:fillRect b="0" l="0" r="0" t="0"/>
            </a:stretch>
          </a:blipFill>
          <a:ln>
            <a:noFill/>
          </a:ln>
        </p:spPr>
      </p:sp>
      <p:sp>
        <p:nvSpPr>
          <p:cNvPr id="240" name="Google Shape;240;p9"/>
          <p:cNvSpPr/>
          <p:nvPr/>
        </p:nvSpPr>
        <p:spPr>
          <a:xfrm>
            <a:off x="803054" y="6725986"/>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6">
              <a:alphaModFix/>
            </a:blip>
            <a:stretch>
              <a:fillRect b="0" l="0" r="0" t="0"/>
            </a:stretch>
          </a:blipFill>
          <a:ln>
            <a:noFill/>
          </a:ln>
        </p:spPr>
      </p:sp>
      <p:sp>
        <p:nvSpPr>
          <p:cNvPr id="241" name="Google Shape;241;p9"/>
          <p:cNvSpPr/>
          <p:nvPr/>
        </p:nvSpPr>
        <p:spPr>
          <a:xfrm>
            <a:off x="3853026" y="3446091"/>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7">
              <a:alphaModFix/>
            </a:blip>
            <a:stretch>
              <a:fillRect b="0" l="0" r="0" t="0"/>
            </a:stretch>
          </a:blipFill>
          <a:ln>
            <a:noFill/>
          </a:ln>
        </p:spPr>
      </p:sp>
      <p:sp>
        <p:nvSpPr>
          <p:cNvPr id="242" name="Google Shape;242;p9"/>
          <p:cNvSpPr txBox="1"/>
          <p:nvPr/>
        </p:nvSpPr>
        <p:spPr>
          <a:xfrm>
            <a:off x="1801993" y="3442532"/>
            <a:ext cx="1814360"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Historial de alertas</a:t>
            </a:r>
            <a:endParaRPr/>
          </a:p>
        </p:txBody>
      </p:sp>
      <p:sp>
        <p:nvSpPr>
          <p:cNvPr id="243" name="Google Shape;243;p9"/>
          <p:cNvSpPr txBox="1"/>
          <p:nvPr/>
        </p:nvSpPr>
        <p:spPr>
          <a:xfrm>
            <a:off x="2282494" y="4278442"/>
            <a:ext cx="1922224"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Simulación de datos</a:t>
            </a:r>
            <a:endParaRPr/>
          </a:p>
        </p:txBody>
      </p:sp>
      <p:sp>
        <p:nvSpPr>
          <p:cNvPr id="244" name="Google Shape;244;p9"/>
          <p:cNvSpPr txBox="1"/>
          <p:nvPr/>
        </p:nvSpPr>
        <p:spPr>
          <a:xfrm>
            <a:off x="1926510" y="5178125"/>
            <a:ext cx="2563040"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Filtros por rango de fechas</a:t>
            </a:r>
            <a:endParaRPr/>
          </a:p>
        </p:txBody>
      </p:sp>
      <p:sp>
        <p:nvSpPr>
          <p:cNvPr id="245" name="Google Shape;245;p9"/>
          <p:cNvSpPr txBox="1"/>
          <p:nvPr/>
        </p:nvSpPr>
        <p:spPr>
          <a:xfrm>
            <a:off x="2301692" y="6121913"/>
            <a:ext cx="2208696"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Login de administrador</a:t>
            </a:r>
            <a:endParaRPr/>
          </a:p>
        </p:txBody>
      </p:sp>
      <p:sp>
        <p:nvSpPr>
          <p:cNvPr id="246" name="Google Shape;246;p9"/>
          <p:cNvSpPr txBox="1"/>
          <p:nvPr/>
        </p:nvSpPr>
        <p:spPr>
          <a:xfrm>
            <a:off x="1801993" y="6985611"/>
            <a:ext cx="2533357"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Validación de credenciales</a:t>
            </a:r>
            <a:endParaRPr/>
          </a:p>
        </p:txBody>
      </p:sp>
      <p:sp>
        <p:nvSpPr>
          <p:cNvPr id="247" name="Google Shape;247;p9"/>
          <p:cNvSpPr txBox="1"/>
          <p:nvPr/>
        </p:nvSpPr>
        <p:spPr>
          <a:xfrm>
            <a:off x="1927159" y="7910349"/>
            <a:ext cx="3639817"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Creación de cuentas de administrador</a:t>
            </a:r>
            <a:endParaRPr/>
          </a:p>
        </p:txBody>
      </p:sp>
      <p:sp>
        <p:nvSpPr>
          <p:cNvPr id="248" name="Google Shape;248;p9"/>
          <p:cNvSpPr/>
          <p:nvPr/>
        </p:nvSpPr>
        <p:spPr>
          <a:xfrm>
            <a:off x="4412456" y="4273371"/>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7">
              <a:alphaModFix/>
            </a:blip>
            <a:stretch>
              <a:fillRect b="0" l="0" r="0" t="0"/>
            </a:stretch>
          </a:blipFill>
          <a:ln>
            <a:noFill/>
          </a:ln>
        </p:spPr>
      </p:sp>
      <p:sp>
        <p:nvSpPr>
          <p:cNvPr id="249" name="Google Shape;249;p9"/>
          <p:cNvSpPr/>
          <p:nvPr/>
        </p:nvSpPr>
        <p:spPr>
          <a:xfrm>
            <a:off x="4832746" y="5181685"/>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7">
              <a:alphaModFix/>
            </a:blip>
            <a:stretch>
              <a:fillRect b="0" l="0" r="0" t="0"/>
            </a:stretch>
          </a:blipFill>
          <a:ln>
            <a:noFill/>
          </a:ln>
        </p:spPr>
      </p:sp>
      <p:sp>
        <p:nvSpPr>
          <p:cNvPr id="250" name="Google Shape;250;p9"/>
          <p:cNvSpPr/>
          <p:nvPr/>
        </p:nvSpPr>
        <p:spPr>
          <a:xfrm>
            <a:off x="5049993" y="6125473"/>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7">
              <a:alphaModFix/>
            </a:blip>
            <a:stretch>
              <a:fillRect b="0" l="0" r="0" t="0"/>
            </a:stretch>
          </a:blipFill>
          <a:ln>
            <a:noFill/>
          </a:ln>
        </p:spPr>
      </p:sp>
      <p:sp>
        <p:nvSpPr>
          <p:cNvPr id="251" name="Google Shape;251;p9"/>
          <p:cNvSpPr/>
          <p:nvPr/>
        </p:nvSpPr>
        <p:spPr>
          <a:xfrm>
            <a:off x="4668725" y="7000014"/>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7">
              <a:alphaModFix/>
            </a:blip>
            <a:stretch>
              <a:fillRect b="0" l="0" r="0" t="0"/>
            </a:stretch>
          </a:blipFill>
          <a:ln>
            <a:noFill/>
          </a:ln>
        </p:spPr>
      </p:sp>
      <p:sp>
        <p:nvSpPr>
          <p:cNvPr id="252" name="Google Shape;252;p9"/>
          <p:cNvSpPr/>
          <p:nvPr/>
        </p:nvSpPr>
        <p:spPr>
          <a:xfrm>
            <a:off x="5678882" y="7913908"/>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7">
              <a:alphaModFix/>
            </a:blip>
            <a:stretch>
              <a:fillRect b="0" l="0" r="0" t="0"/>
            </a:stretch>
          </a:blipFill>
          <a:ln>
            <a:noFill/>
          </a:ln>
        </p:spPr>
      </p:sp>
      <p:sp>
        <p:nvSpPr>
          <p:cNvPr id="253" name="Google Shape;253;p9"/>
          <p:cNvSpPr txBox="1"/>
          <p:nvPr/>
        </p:nvSpPr>
        <p:spPr>
          <a:xfrm>
            <a:off x="5566976" y="4273371"/>
            <a:ext cx="8308568" cy="479884"/>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permitir simular datos de entrada en la plataforma para realizar pruebas en caso de falla o ausencia de sensores</a:t>
            </a:r>
            <a:endParaRPr/>
          </a:p>
        </p:txBody>
      </p:sp>
      <p:sp>
        <p:nvSpPr>
          <p:cNvPr id="254" name="Google Shape;254;p9"/>
          <p:cNvSpPr txBox="1"/>
          <p:nvPr/>
        </p:nvSpPr>
        <p:spPr>
          <a:xfrm>
            <a:off x="6022649" y="5185943"/>
            <a:ext cx="8520112"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búsquedas personalizadas por rango de fecha y tipo de métrica.</a:t>
            </a:r>
            <a:endParaRPr/>
          </a:p>
        </p:txBody>
      </p:sp>
      <p:sp>
        <p:nvSpPr>
          <p:cNvPr id="255" name="Google Shape;255;p9"/>
          <p:cNvSpPr txBox="1"/>
          <p:nvPr/>
        </p:nvSpPr>
        <p:spPr>
          <a:xfrm>
            <a:off x="6232199" y="6011503"/>
            <a:ext cx="7705690"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el acceso solo a usuarios administradores mediante login con usuario y contraseña.</a:t>
            </a:r>
            <a:endParaRPr/>
          </a:p>
        </p:txBody>
      </p:sp>
      <p:sp>
        <p:nvSpPr>
          <p:cNvPr id="256" name="Google Shape;256;p9"/>
          <p:cNvSpPr txBox="1"/>
          <p:nvPr/>
        </p:nvSpPr>
        <p:spPr>
          <a:xfrm>
            <a:off x="5706793" y="7019064"/>
            <a:ext cx="7210253"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validar credenciales contra una base de datos segura.</a:t>
            </a:r>
            <a:endParaRPr/>
          </a:p>
        </p:txBody>
      </p:sp>
      <p:sp>
        <p:nvSpPr>
          <p:cNvPr id="257" name="Google Shape;257;p9"/>
          <p:cNvSpPr txBox="1"/>
          <p:nvPr/>
        </p:nvSpPr>
        <p:spPr>
          <a:xfrm>
            <a:off x="6765838" y="7932958"/>
            <a:ext cx="7716385"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que un administrador cree nuevas cuentas con rol de administrador</a:t>
            </a:r>
            <a:endParaRPr/>
          </a:p>
        </p:txBody>
      </p:sp>
      <p:sp>
        <p:nvSpPr>
          <p:cNvPr id="258" name="Google Shape;258;p9"/>
          <p:cNvSpPr/>
          <p:nvPr/>
        </p:nvSpPr>
        <p:spPr>
          <a:xfrm>
            <a:off x="1158127" y="2388123"/>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6">
              <a:alphaModFix/>
            </a:blip>
            <a:stretch>
              <a:fillRect b="0" l="0" r="0" t="0"/>
            </a:stretch>
          </a:blipFill>
          <a:ln>
            <a:noFill/>
          </a:ln>
        </p:spPr>
      </p:sp>
      <p:sp>
        <p:nvSpPr>
          <p:cNvPr id="259" name="Google Shape;259;p9"/>
          <p:cNvSpPr/>
          <p:nvPr/>
        </p:nvSpPr>
        <p:spPr>
          <a:xfrm>
            <a:off x="4421450" y="2598804"/>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7">
              <a:alphaModFix/>
            </a:blip>
            <a:stretch>
              <a:fillRect b="0" l="0" r="0" t="0"/>
            </a:stretch>
          </a:blipFill>
          <a:ln>
            <a:noFill/>
          </a:ln>
        </p:spPr>
      </p:sp>
      <p:sp>
        <p:nvSpPr>
          <p:cNvPr id="260" name="Google Shape;260;p9"/>
          <p:cNvSpPr txBox="1"/>
          <p:nvPr/>
        </p:nvSpPr>
        <p:spPr>
          <a:xfrm>
            <a:off x="2000303" y="2639912"/>
            <a:ext cx="2101453"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Generación de alertas</a:t>
            </a:r>
            <a:endParaRPr/>
          </a:p>
        </p:txBody>
      </p:sp>
      <p:sp>
        <p:nvSpPr>
          <p:cNvPr id="261" name="Google Shape;261;p9"/>
          <p:cNvSpPr txBox="1"/>
          <p:nvPr/>
        </p:nvSpPr>
        <p:spPr>
          <a:xfrm>
            <a:off x="5678882" y="2506005"/>
            <a:ext cx="8259007" cy="479884"/>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generar una alerta en la plataforma cuando un valor ambiental supere un umbral crítico.</a:t>
            </a:r>
            <a:endParaRPr/>
          </a:p>
        </p:txBody>
      </p:sp>
      <p:sp>
        <p:nvSpPr>
          <p:cNvPr id="262" name="Google Shape;262;p9"/>
          <p:cNvSpPr txBox="1"/>
          <p:nvPr/>
        </p:nvSpPr>
        <p:spPr>
          <a:xfrm>
            <a:off x="4944138" y="3459877"/>
            <a:ext cx="8993750" cy="479884"/>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almacenar las alertas en una base de datos para se pueda aceder al un historial de alertas cuando se requiera.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0"/>
          <p:cNvSpPr/>
          <p:nvPr/>
        </p:nvSpPr>
        <p:spPr>
          <a:xfrm>
            <a:off x="0" y="-205740"/>
            <a:ext cx="2992044" cy="10698480"/>
          </a:xfrm>
          <a:custGeom>
            <a:rect b="b" l="l" r="r" t="t"/>
            <a:pathLst>
              <a:path extrusionOk="0" h="10698480" w="2992044">
                <a:moveTo>
                  <a:pt x="0" y="0"/>
                </a:moveTo>
                <a:lnTo>
                  <a:pt x="2992044" y="0"/>
                </a:lnTo>
                <a:lnTo>
                  <a:pt x="2992044" y="10698480"/>
                </a:lnTo>
                <a:lnTo>
                  <a:pt x="0" y="10698480"/>
                </a:lnTo>
                <a:lnTo>
                  <a:pt x="0" y="0"/>
                </a:lnTo>
                <a:close/>
              </a:path>
            </a:pathLst>
          </a:custGeom>
          <a:blipFill rotWithShape="1">
            <a:blip r:embed="rId3">
              <a:alphaModFix/>
            </a:blip>
            <a:stretch>
              <a:fillRect b="0" l="-250809" r="-260325" t="0"/>
            </a:stretch>
          </a:blipFill>
          <a:ln>
            <a:noFill/>
          </a:ln>
        </p:spPr>
      </p:sp>
      <p:sp>
        <p:nvSpPr>
          <p:cNvPr id="268" name="Google Shape;268;p10"/>
          <p:cNvSpPr/>
          <p:nvPr/>
        </p:nvSpPr>
        <p:spPr>
          <a:xfrm>
            <a:off x="16451114" y="264423"/>
            <a:ext cx="1616373" cy="1616373"/>
          </a:xfrm>
          <a:custGeom>
            <a:rect b="b" l="l" r="r" t="t"/>
            <a:pathLst>
              <a:path extrusionOk="0" h="1616373" w="1616373">
                <a:moveTo>
                  <a:pt x="0" y="0"/>
                </a:moveTo>
                <a:lnTo>
                  <a:pt x="1616372" y="0"/>
                </a:lnTo>
                <a:lnTo>
                  <a:pt x="1616372" y="1616373"/>
                </a:lnTo>
                <a:lnTo>
                  <a:pt x="0" y="1616373"/>
                </a:lnTo>
                <a:lnTo>
                  <a:pt x="0" y="0"/>
                </a:lnTo>
                <a:close/>
              </a:path>
            </a:pathLst>
          </a:custGeom>
          <a:blipFill rotWithShape="1">
            <a:blip r:embed="rId4">
              <a:alphaModFix/>
            </a:blip>
            <a:stretch>
              <a:fillRect b="0" l="0" r="0" t="0"/>
            </a:stretch>
          </a:blipFill>
          <a:ln>
            <a:noFill/>
          </a:ln>
        </p:spPr>
      </p:sp>
      <p:sp>
        <p:nvSpPr>
          <p:cNvPr id="269" name="Google Shape;269;p10"/>
          <p:cNvSpPr txBox="1"/>
          <p:nvPr/>
        </p:nvSpPr>
        <p:spPr>
          <a:xfrm>
            <a:off x="3109404" y="268139"/>
            <a:ext cx="13509138" cy="804471"/>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06 REQUERIMIENTOS NO FUNCIONALES</a:t>
            </a:r>
            <a:endParaRPr/>
          </a:p>
        </p:txBody>
      </p:sp>
      <p:sp>
        <p:nvSpPr>
          <p:cNvPr id="270" name="Google Shape;270;p10"/>
          <p:cNvSpPr/>
          <p:nvPr/>
        </p:nvSpPr>
        <p:spPr>
          <a:xfrm>
            <a:off x="3731986" y="2097732"/>
            <a:ext cx="665960" cy="634131"/>
          </a:xfrm>
          <a:custGeom>
            <a:rect b="b" l="l" r="r" t="t"/>
            <a:pathLst>
              <a:path extrusionOk="0" h="634131" w="665960">
                <a:moveTo>
                  <a:pt x="0" y="0"/>
                </a:moveTo>
                <a:lnTo>
                  <a:pt x="665960" y="0"/>
                </a:lnTo>
                <a:lnTo>
                  <a:pt x="665960" y="634130"/>
                </a:lnTo>
                <a:lnTo>
                  <a:pt x="0" y="634130"/>
                </a:lnTo>
                <a:lnTo>
                  <a:pt x="0" y="0"/>
                </a:lnTo>
                <a:close/>
              </a:path>
            </a:pathLst>
          </a:custGeom>
          <a:blipFill rotWithShape="1">
            <a:blip r:embed="rId5">
              <a:alphaModFix/>
            </a:blip>
            <a:stretch>
              <a:fillRect b="0" l="0" r="0" t="0"/>
            </a:stretch>
          </a:blipFill>
          <a:ln>
            <a:noFill/>
          </a:ln>
        </p:spPr>
      </p:sp>
      <p:sp>
        <p:nvSpPr>
          <p:cNvPr id="271" name="Google Shape;271;p10"/>
          <p:cNvSpPr/>
          <p:nvPr/>
        </p:nvSpPr>
        <p:spPr>
          <a:xfrm>
            <a:off x="3995065" y="3016202"/>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5">
              <a:alphaModFix/>
            </a:blip>
            <a:stretch>
              <a:fillRect b="0" l="0" r="0" t="0"/>
            </a:stretch>
          </a:blipFill>
          <a:ln>
            <a:noFill/>
          </a:ln>
        </p:spPr>
      </p:sp>
      <p:sp>
        <p:nvSpPr>
          <p:cNvPr id="272" name="Google Shape;272;p10"/>
          <p:cNvSpPr/>
          <p:nvPr/>
        </p:nvSpPr>
        <p:spPr>
          <a:xfrm>
            <a:off x="3948465" y="4847616"/>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5">
              <a:alphaModFix/>
            </a:blip>
            <a:stretch>
              <a:fillRect b="0" l="0" r="0" t="0"/>
            </a:stretch>
          </a:blipFill>
          <a:ln>
            <a:noFill/>
          </a:ln>
        </p:spPr>
      </p:sp>
      <p:sp>
        <p:nvSpPr>
          <p:cNvPr id="273" name="Google Shape;273;p10"/>
          <p:cNvSpPr/>
          <p:nvPr/>
        </p:nvSpPr>
        <p:spPr>
          <a:xfrm>
            <a:off x="3615485" y="3871017"/>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5">
              <a:alphaModFix/>
            </a:blip>
            <a:stretch>
              <a:fillRect b="0" l="0" r="0" t="0"/>
            </a:stretch>
          </a:blipFill>
          <a:ln>
            <a:noFill/>
          </a:ln>
        </p:spPr>
      </p:sp>
      <p:sp>
        <p:nvSpPr>
          <p:cNvPr id="274" name="Google Shape;274;p10"/>
          <p:cNvSpPr/>
          <p:nvPr/>
        </p:nvSpPr>
        <p:spPr>
          <a:xfrm>
            <a:off x="3948465" y="6720957"/>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5">
              <a:alphaModFix/>
            </a:blip>
            <a:stretch>
              <a:fillRect b="0" l="0" r="0" t="0"/>
            </a:stretch>
          </a:blipFill>
          <a:ln>
            <a:noFill/>
          </a:ln>
        </p:spPr>
      </p:sp>
      <p:sp>
        <p:nvSpPr>
          <p:cNvPr id="275" name="Google Shape;275;p10"/>
          <p:cNvSpPr/>
          <p:nvPr/>
        </p:nvSpPr>
        <p:spPr>
          <a:xfrm>
            <a:off x="3615485" y="5810601"/>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5">
              <a:alphaModFix/>
            </a:blip>
            <a:stretch>
              <a:fillRect b="0" l="0" r="0" t="0"/>
            </a:stretch>
          </a:blipFill>
          <a:ln>
            <a:noFill/>
          </a:ln>
        </p:spPr>
      </p:sp>
      <p:sp>
        <p:nvSpPr>
          <p:cNvPr id="276" name="Google Shape;276;p10"/>
          <p:cNvSpPr/>
          <p:nvPr/>
        </p:nvSpPr>
        <p:spPr>
          <a:xfrm>
            <a:off x="3960696" y="8541668"/>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5">
              <a:alphaModFix/>
            </a:blip>
            <a:stretch>
              <a:fillRect b="0" l="0" r="0" t="0"/>
            </a:stretch>
          </a:blipFill>
          <a:ln>
            <a:noFill/>
          </a:ln>
        </p:spPr>
      </p:sp>
      <p:sp>
        <p:nvSpPr>
          <p:cNvPr id="277" name="Google Shape;277;p10"/>
          <p:cNvSpPr/>
          <p:nvPr/>
        </p:nvSpPr>
        <p:spPr>
          <a:xfrm>
            <a:off x="3627716" y="7631313"/>
            <a:ext cx="665960" cy="634131"/>
          </a:xfrm>
          <a:custGeom>
            <a:rect b="b" l="l" r="r" t="t"/>
            <a:pathLst>
              <a:path extrusionOk="0" h="634131" w="665960">
                <a:moveTo>
                  <a:pt x="0" y="0"/>
                </a:moveTo>
                <a:lnTo>
                  <a:pt x="665960" y="0"/>
                </a:lnTo>
                <a:lnTo>
                  <a:pt x="665960" y="634130"/>
                </a:lnTo>
                <a:lnTo>
                  <a:pt x="0" y="634130"/>
                </a:lnTo>
                <a:lnTo>
                  <a:pt x="0" y="0"/>
                </a:lnTo>
                <a:close/>
              </a:path>
            </a:pathLst>
          </a:custGeom>
          <a:blipFill rotWithShape="1">
            <a:blip r:embed="rId5">
              <a:alphaModFix/>
            </a:blip>
            <a:stretch>
              <a:fillRect b="0" l="0" r="0" t="0"/>
            </a:stretch>
          </a:blipFill>
          <a:ln>
            <a:noFill/>
          </a:ln>
        </p:spPr>
      </p:sp>
      <p:sp>
        <p:nvSpPr>
          <p:cNvPr id="278" name="Google Shape;278;p10"/>
          <p:cNvSpPr/>
          <p:nvPr/>
        </p:nvSpPr>
        <p:spPr>
          <a:xfrm>
            <a:off x="6725377" y="2297395"/>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6">
              <a:alphaModFix/>
            </a:blip>
            <a:stretch>
              <a:fillRect b="0" l="0" r="0" t="0"/>
            </a:stretch>
          </a:blipFill>
          <a:ln>
            <a:noFill/>
          </a:ln>
        </p:spPr>
      </p:sp>
      <p:sp>
        <p:nvSpPr>
          <p:cNvPr id="279" name="Google Shape;279;p10"/>
          <p:cNvSpPr txBox="1"/>
          <p:nvPr/>
        </p:nvSpPr>
        <p:spPr>
          <a:xfrm>
            <a:off x="4682268" y="2304853"/>
            <a:ext cx="1757359"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Colores amigables</a:t>
            </a:r>
            <a:endParaRPr/>
          </a:p>
        </p:txBody>
      </p:sp>
      <p:sp>
        <p:nvSpPr>
          <p:cNvPr id="280" name="Google Shape;280;p10"/>
          <p:cNvSpPr txBox="1"/>
          <p:nvPr/>
        </p:nvSpPr>
        <p:spPr>
          <a:xfrm>
            <a:off x="7880033" y="2296406"/>
            <a:ext cx="5632638" cy="236782"/>
          </a:xfrm>
          <a:prstGeom prst="rect">
            <a:avLst/>
          </a:prstGeom>
          <a:noFill/>
          <a:ln>
            <a:noFill/>
          </a:ln>
        </p:spPr>
        <p:txBody>
          <a:bodyPr anchorCtr="0" anchor="t" bIns="0" lIns="0" spcFirstLastPara="1" rIns="0" wrap="square" tIns="0">
            <a:spAutoFit/>
          </a:bodyPr>
          <a:lstStyle/>
          <a:p>
            <a:pPr indent="0" lvl="0" marL="0" marR="0" rtl="0" algn="ctr">
              <a:lnSpc>
                <a:spcPct val="109961"/>
              </a:lnSpc>
              <a:spcBef>
                <a:spcPts val="0"/>
              </a:spcBef>
              <a:spcAft>
                <a:spcPts val="0"/>
              </a:spcAft>
              <a:buNone/>
            </a:pPr>
            <a:r>
              <a:rPr b="1" i="0" lang="en-US" sz="1556" u="none" cap="none" strike="noStrike">
                <a:solidFill>
                  <a:srgbClr val="336BE4"/>
                </a:solidFill>
                <a:latin typeface="Arial"/>
                <a:ea typeface="Arial"/>
                <a:cs typeface="Arial"/>
                <a:sym typeface="Arial"/>
              </a:rPr>
              <a:t>El sistema debe presenta colores amigable con el usuario.</a:t>
            </a:r>
            <a:endParaRPr/>
          </a:p>
        </p:txBody>
      </p:sp>
      <p:sp>
        <p:nvSpPr>
          <p:cNvPr id="281" name="Google Shape;281;p10"/>
          <p:cNvSpPr txBox="1"/>
          <p:nvPr/>
        </p:nvSpPr>
        <p:spPr>
          <a:xfrm>
            <a:off x="4824965" y="3223324"/>
            <a:ext cx="2715908"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Navegación multiplataforma</a:t>
            </a:r>
            <a:endParaRPr/>
          </a:p>
        </p:txBody>
      </p:sp>
      <p:sp>
        <p:nvSpPr>
          <p:cNvPr id="282" name="Google Shape;282;p10"/>
          <p:cNvSpPr txBox="1"/>
          <p:nvPr/>
        </p:nvSpPr>
        <p:spPr>
          <a:xfrm>
            <a:off x="4648244" y="4182482"/>
            <a:ext cx="2643417"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Compatibilidad de sistemas</a:t>
            </a:r>
            <a:endParaRPr/>
          </a:p>
        </p:txBody>
      </p:sp>
      <p:sp>
        <p:nvSpPr>
          <p:cNvPr id="283" name="Google Shape;283;p10"/>
          <p:cNvSpPr txBox="1"/>
          <p:nvPr/>
        </p:nvSpPr>
        <p:spPr>
          <a:xfrm>
            <a:off x="4812734" y="5054737"/>
            <a:ext cx="1593057"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Interfaz intuitiva</a:t>
            </a:r>
            <a:endParaRPr/>
          </a:p>
        </p:txBody>
      </p:sp>
      <p:sp>
        <p:nvSpPr>
          <p:cNvPr id="284" name="Google Shape;284;p10"/>
          <p:cNvSpPr txBox="1"/>
          <p:nvPr/>
        </p:nvSpPr>
        <p:spPr>
          <a:xfrm>
            <a:off x="4520599" y="6042927"/>
            <a:ext cx="2571546"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Cumplimiento de objetivos</a:t>
            </a:r>
            <a:endParaRPr/>
          </a:p>
        </p:txBody>
      </p:sp>
      <p:sp>
        <p:nvSpPr>
          <p:cNvPr id="285" name="Google Shape;285;p10"/>
          <p:cNvSpPr txBox="1"/>
          <p:nvPr/>
        </p:nvSpPr>
        <p:spPr>
          <a:xfrm>
            <a:off x="4846640" y="6996240"/>
            <a:ext cx="1919464"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Respaldo en la nube</a:t>
            </a:r>
            <a:endParaRPr/>
          </a:p>
        </p:txBody>
      </p:sp>
      <p:sp>
        <p:nvSpPr>
          <p:cNvPr id="286" name="Google Shape;286;p10"/>
          <p:cNvSpPr txBox="1"/>
          <p:nvPr/>
        </p:nvSpPr>
        <p:spPr>
          <a:xfrm>
            <a:off x="4770499" y="7886248"/>
            <a:ext cx="2398908"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Uso eficiente de recursos</a:t>
            </a:r>
            <a:endParaRPr/>
          </a:p>
        </p:txBody>
      </p:sp>
      <p:sp>
        <p:nvSpPr>
          <p:cNvPr id="287" name="Google Shape;287;p10"/>
          <p:cNvSpPr txBox="1"/>
          <p:nvPr/>
        </p:nvSpPr>
        <p:spPr>
          <a:xfrm>
            <a:off x="4776552" y="8802568"/>
            <a:ext cx="3806541"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Soporte de grandes volúmenes de datos</a:t>
            </a:r>
            <a:endParaRPr/>
          </a:p>
        </p:txBody>
      </p:sp>
      <p:sp>
        <p:nvSpPr>
          <p:cNvPr id="288" name="Google Shape;288;p10"/>
          <p:cNvSpPr/>
          <p:nvPr/>
        </p:nvSpPr>
        <p:spPr>
          <a:xfrm>
            <a:off x="7702798" y="3204274"/>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6">
              <a:alphaModFix/>
            </a:blip>
            <a:stretch>
              <a:fillRect b="0" l="0" r="0" t="0"/>
            </a:stretch>
          </a:blipFill>
          <a:ln>
            <a:noFill/>
          </a:ln>
        </p:spPr>
      </p:sp>
      <p:sp>
        <p:nvSpPr>
          <p:cNvPr id="289" name="Google Shape;289;p10"/>
          <p:cNvSpPr/>
          <p:nvPr/>
        </p:nvSpPr>
        <p:spPr>
          <a:xfrm>
            <a:off x="7557646" y="4186041"/>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6">
              <a:alphaModFix/>
            </a:blip>
            <a:stretch>
              <a:fillRect b="0" l="0" r="0" t="0"/>
            </a:stretch>
          </a:blipFill>
          <a:ln>
            <a:noFill/>
          </a:ln>
        </p:spPr>
      </p:sp>
      <p:sp>
        <p:nvSpPr>
          <p:cNvPr id="290" name="Google Shape;290;p10"/>
          <p:cNvSpPr/>
          <p:nvPr/>
        </p:nvSpPr>
        <p:spPr>
          <a:xfrm>
            <a:off x="6605816" y="5080907"/>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6">
              <a:alphaModFix/>
            </a:blip>
            <a:stretch>
              <a:fillRect b="0" l="0" r="0" t="0"/>
            </a:stretch>
          </a:blipFill>
          <a:ln>
            <a:noFill/>
          </a:ln>
        </p:spPr>
      </p:sp>
      <p:sp>
        <p:nvSpPr>
          <p:cNvPr id="291" name="Google Shape;291;p10"/>
          <p:cNvSpPr/>
          <p:nvPr/>
        </p:nvSpPr>
        <p:spPr>
          <a:xfrm>
            <a:off x="7299183" y="6082273"/>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6">
              <a:alphaModFix/>
            </a:blip>
            <a:stretch>
              <a:fillRect b="0" l="0" r="0" t="0"/>
            </a:stretch>
          </a:blipFill>
          <a:ln>
            <a:noFill/>
          </a:ln>
        </p:spPr>
      </p:sp>
      <p:sp>
        <p:nvSpPr>
          <p:cNvPr id="292" name="Google Shape;292;p10"/>
          <p:cNvSpPr/>
          <p:nvPr/>
        </p:nvSpPr>
        <p:spPr>
          <a:xfrm>
            <a:off x="6994704" y="6978485"/>
            <a:ext cx="972656" cy="212768"/>
          </a:xfrm>
          <a:custGeom>
            <a:rect b="b" l="l" r="r" t="t"/>
            <a:pathLst>
              <a:path extrusionOk="0" h="212768" w="972656">
                <a:moveTo>
                  <a:pt x="0" y="0"/>
                </a:moveTo>
                <a:lnTo>
                  <a:pt x="972655" y="0"/>
                </a:lnTo>
                <a:lnTo>
                  <a:pt x="972655" y="212769"/>
                </a:lnTo>
                <a:lnTo>
                  <a:pt x="0" y="212769"/>
                </a:lnTo>
                <a:lnTo>
                  <a:pt x="0" y="0"/>
                </a:lnTo>
                <a:close/>
              </a:path>
            </a:pathLst>
          </a:custGeom>
          <a:blipFill rotWithShape="1">
            <a:blip r:embed="rId6">
              <a:alphaModFix/>
            </a:blip>
            <a:stretch>
              <a:fillRect b="0" l="0" r="0" t="0"/>
            </a:stretch>
          </a:blipFill>
          <a:ln>
            <a:noFill/>
          </a:ln>
        </p:spPr>
      </p:sp>
      <p:sp>
        <p:nvSpPr>
          <p:cNvPr id="293" name="Google Shape;293;p10"/>
          <p:cNvSpPr/>
          <p:nvPr/>
        </p:nvSpPr>
        <p:spPr>
          <a:xfrm>
            <a:off x="7359336" y="7889808"/>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6">
              <a:alphaModFix/>
            </a:blip>
            <a:stretch>
              <a:fillRect b="0" l="0" r="0" t="0"/>
            </a:stretch>
          </a:blipFill>
          <a:ln>
            <a:noFill/>
          </a:ln>
        </p:spPr>
      </p:sp>
      <p:sp>
        <p:nvSpPr>
          <p:cNvPr id="294" name="Google Shape;294;p10"/>
          <p:cNvSpPr/>
          <p:nvPr/>
        </p:nvSpPr>
        <p:spPr>
          <a:xfrm>
            <a:off x="8732990" y="8806128"/>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6">
              <a:alphaModFix/>
            </a:blip>
            <a:stretch>
              <a:fillRect b="0" l="0" r="0" t="0"/>
            </a:stretch>
          </a:blipFill>
          <a:ln>
            <a:noFill/>
          </a:ln>
        </p:spPr>
      </p:sp>
      <p:sp>
        <p:nvSpPr>
          <p:cNvPr id="295" name="Google Shape;295;p10"/>
          <p:cNvSpPr txBox="1"/>
          <p:nvPr/>
        </p:nvSpPr>
        <p:spPr>
          <a:xfrm>
            <a:off x="8923104" y="3204274"/>
            <a:ext cx="7234578" cy="250392"/>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capturar datos en tiempo real mediante flujos de streaming.</a:t>
            </a:r>
            <a:endParaRPr/>
          </a:p>
        </p:txBody>
      </p:sp>
      <p:sp>
        <p:nvSpPr>
          <p:cNvPr id="296" name="Google Shape;296;p10"/>
          <p:cNvSpPr txBox="1"/>
          <p:nvPr/>
        </p:nvSpPr>
        <p:spPr>
          <a:xfrm>
            <a:off x="8675454" y="4140465"/>
            <a:ext cx="9392032"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ser capaz de operar y ser fácil de navegar en cualquier tipo de sistema operativo instalado en los equipos que utilizan los usuarios.</a:t>
            </a:r>
            <a:endParaRPr/>
          </a:p>
        </p:txBody>
      </p:sp>
      <p:sp>
        <p:nvSpPr>
          <p:cNvPr id="297" name="Google Shape;297;p10"/>
          <p:cNvSpPr txBox="1"/>
          <p:nvPr/>
        </p:nvSpPr>
        <p:spPr>
          <a:xfrm>
            <a:off x="7702798" y="5099957"/>
            <a:ext cx="9488162"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asegurar que los usuarios puedan interactuar fácil e intuitiva con la plataforma.</a:t>
            </a:r>
            <a:endParaRPr/>
          </a:p>
        </p:txBody>
      </p:sp>
      <p:sp>
        <p:nvSpPr>
          <p:cNvPr id="298" name="Google Shape;298;p10"/>
          <p:cNvSpPr txBox="1"/>
          <p:nvPr/>
        </p:nvSpPr>
        <p:spPr>
          <a:xfrm>
            <a:off x="8348752" y="6082622"/>
            <a:ext cx="6637583"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ayudar a cumplir los objetivos de forma eficiente.</a:t>
            </a:r>
            <a:endParaRPr/>
          </a:p>
        </p:txBody>
      </p:sp>
      <p:sp>
        <p:nvSpPr>
          <p:cNvPr id="299" name="Google Shape;299;p10"/>
          <p:cNvSpPr txBox="1"/>
          <p:nvPr/>
        </p:nvSpPr>
        <p:spPr>
          <a:xfrm>
            <a:off x="8091538" y="6978835"/>
            <a:ext cx="8897712"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ser responsable teniendo un respaldo de los datos en un servicio de Cloud.</a:t>
            </a:r>
            <a:endParaRPr/>
          </a:p>
        </p:txBody>
      </p:sp>
      <p:sp>
        <p:nvSpPr>
          <p:cNvPr id="300" name="Google Shape;300;p10"/>
          <p:cNvSpPr txBox="1"/>
          <p:nvPr/>
        </p:nvSpPr>
        <p:spPr>
          <a:xfrm>
            <a:off x="8522492" y="7805686"/>
            <a:ext cx="8288292"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ser eficiente en el uso de recursos, minimizando la carga de trabajo innecesaria, garantizando un rendimiento óptimo sin sacrificar la seguridad.</a:t>
            </a:r>
            <a:endParaRPr/>
          </a:p>
        </p:txBody>
      </p:sp>
      <p:sp>
        <p:nvSpPr>
          <p:cNvPr id="301" name="Google Shape;301;p10"/>
          <p:cNvSpPr txBox="1"/>
          <p:nvPr/>
        </p:nvSpPr>
        <p:spPr>
          <a:xfrm>
            <a:off x="9804592" y="8798543"/>
            <a:ext cx="7704101"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asegurar que la plataforma soporte el procesamiento grandes volúmenes de datos en tiempo real.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1"/>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307" name="Google Shape;307;p11"/>
          <p:cNvSpPr/>
          <p:nvPr/>
        </p:nvSpPr>
        <p:spPr>
          <a:xfrm>
            <a:off x="2034501" y="1137511"/>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4">
              <a:alphaModFix/>
            </a:blip>
            <a:stretch>
              <a:fillRect b="0" l="0" r="0" t="0"/>
            </a:stretch>
          </a:blipFill>
          <a:ln>
            <a:noFill/>
          </a:ln>
        </p:spPr>
      </p:sp>
      <p:sp>
        <p:nvSpPr>
          <p:cNvPr id="308" name="Google Shape;308;p11"/>
          <p:cNvSpPr/>
          <p:nvPr/>
        </p:nvSpPr>
        <p:spPr>
          <a:xfrm>
            <a:off x="2297580" y="2055982"/>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4">
              <a:alphaModFix/>
            </a:blip>
            <a:stretch>
              <a:fillRect b="0" l="0" r="0" t="0"/>
            </a:stretch>
          </a:blipFill>
          <a:ln>
            <a:noFill/>
          </a:ln>
        </p:spPr>
      </p:sp>
      <p:sp>
        <p:nvSpPr>
          <p:cNvPr id="309" name="Google Shape;309;p11"/>
          <p:cNvSpPr/>
          <p:nvPr/>
        </p:nvSpPr>
        <p:spPr>
          <a:xfrm>
            <a:off x="2250979" y="3887396"/>
            <a:ext cx="665960" cy="634131"/>
          </a:xfrm>
          <a:custGeom>
            <a:rect b="b" l="l" r="r" t="t"/>
            <a:pathLst>
              <a:path extrusionOk="0" h="634131" w="665960">
                <a:moveTo>
                  <a:pt x="0" y="0"/>
                </a:moveTo>
                <a:lnTo>
                  <a:pt x="665960" y="0"/>
                </a:lnTo>
                <a:lnTo>
                  <a:pt x="665960" y="634130"/>
                </a:lnTo>
                <a:lnTo>
                  <a:pt x="0" y="634130"/>
                </a:lnTo>
                <a:lnTo>
                  <a:pt x="0" y="0"/>
                </a:lnTo>
                <a:close/>
              </a:path>
            </a:pathLst>
          </a:custGeom>
          <a:blipFill rotWithShape="1">
            <a:blip r:embed="rId4">
              <a:alphaModFix/>
            </a:blip>
            <a:stretch>
              <a:fillRect b="0" l="0" r="0" t="0"/>
            </a:stretch>
          </a:blipFill>
          <a:ln>
            <a:noFill/>
          </a:ln>
        </p:spPr>
      </p:sp>
      <p:sp>
        <p:nvSpPr>
          <p:cNvPr id="310" name="Google Shape;310;p11"/>
          <p:cNvSpPr/>
          <p:nvPr/>
        </p:nvSpPr>
        <p:spPr>
          <a:xfrm>
            <a:off x="1917999" y="2910797"/>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4">
              <a:alphaModFix/>
            </a:blip>
            <a:stretch>
              <a:fillRect b="0" l="0" r="0" t="0"/>
            </a:stretch>
          </a:blipFill>
          <a:ln>
            <a:noFill/>
          </a:ln>
        </p:spPr>
      </p:sp>
      <p:sp>
        <p:nvSpPr>
          <p:cNvPr id="311" name="Google Shape;311;p11"/>
          <p:cNvSpPr/>
          <p:nvPr/>
        </p:nvSpPr>
        <p:spPr>
          <a:xfrm>
            <a:off x="2250979" y="5760737"/>
            <a:ext cx="665960" cy="634131"/>
          </a:xfrm>
          <a:custGeom>
            <a:rect b="b" l="l" r="r" t="t"/>
            <a:pathLst>
              <a:path extrusionOk="0" h="634131" w="665960">
                <a:moveTo>
                  <a:pt x="0" y="0"/>
                </a:moveTo>
                <a:lnTo>
                  <a:pt x="665960" y="0"/>
                </a:lnTo>
                <a:lnTo>
                  <a:pt x="665960" y="634130"/>
                </a:lnTo>
                <a:lnTo>
                  <a:pt x="0" y="634130"/>
                </a:lnTo>
                <a:lnTo>
                  <a:pt x="0" y="0"/>
                </a:lnTo>
                <a:close/>
              </a:path>
            </a:pathLst>
          </a:custGeom>
          <a:blipFill rotWithShape="1">
            <a:blip r:embed="rId4">
              <a:alphaModFix/>
            </a:blip>
            <a:stretch>
              <a:fillRect b="0" l="0" r="0" t="0"/>
            </a:stretch>
          </a:blipFill>
          <a:ln>
            <a:noFill/>
          </a:ln>
        </p:spPr>
      </p:sp>
      <p:sp>
        <p:nvSpPr>
          <p:cNvPr id="312" name="Google Shape;312;p11"/>
          <p:cNvSpPr/>
          <p:nvPr/>
        </p:nvSpPr>
        <p:spPr>
          <a:xfrm>
            <a:off x="1917999" y="4850381"/>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4">
              <a:alphaModFix/>
            </a:blip>
            <a:stretch>
              <a:fillRect b="0" l="0" r="0" t="0"/>
            </a:stretch>
          </a:blipFill>
          <a:ln>
            <a:noFill/>
          </a:ln>
        </p:spPr>
      </p:sp>
      <p:sp>
        <p:nvSpPr>
          <p:cNvPr id="313" name="Google Shape;313;p11"/>
          <p:cNvSpPr/>
          <p:nvPr/>
        </p:nvSpPr>
        <p:spPr>
          <a:xfrm>
            <a:off x="2263210" y="7581448"/>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4">
              <a:alphaModFix/>
            </a:blip>
            <a:stretch>
              <a:fillRect b="0" l="0" r="0" t="0"/>
            </a:stretch>
          </a:blipFill>
          <a:ln>
            <a:noFill/>
          </a:ln>
        </p:spPr>
      </p:sp>
      <p:sp>
        <p:nvSpPr>
          <p:cNvPr id="314" name="Google Shape;314;p11"/>
          <p:cNvSpPr/>
          <p:nvPr/>
        </p:nvSpPr>
        <p:spPr>
          <a:xfrm>
            <a:off x="1930230" y="6671092"/>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4">
              <a:alphaModFix/>
            </a:blip>
            <a:stretch>
              <a:fillRect b="0" l="0" r="0" t="0"/>
            </a:stretch>
          </a:blipFill>
          <a:ln>
            <a:noFill/>
          </a:ln>
        </p:spPr>
      </p:sp>
      <p:sp>
        <p:nvSpPr>
          <p:cNvPr id="315" name="Google Shape;315;p11"/>
          <p:cNvSpPr/>
          <p:nvPr/>
        </p:nvSpPr>
        <p:spPr>
          <a:xfrm>
            <a:off x="6269874" y="1391564"/>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5">
              <a:alphaModFix/>
            </a:blip>
            <a:stretch>
              <a:fillRect b="0" l="0" r="0" t="0"/>
            </a:stretch>
          </a:blipFill>
          <a:ln>
            <a:noFill/>
          </a:ln>
        </p:spPr>
      </p:sp>
      <p:sp>
        <p:nvSpPr>
          <p:cNvPr id="316" name="Google Shape;316;p11"/>
          <p:cNvSpPr txBox="1"/>
          <p:nvPr/>
        </p:nvSpPr>
        <p:spPr>
          <a:xfrm>
            <a:off x="2850357" y="1388419"/>
            <a:ext cx="3222839"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Soporte de usuarios concurrentes</a:t>
            </a:r>
            <a:endParaRPr/>
          </a:p>
        </p:txBody>
      </p:sp>
      <p:sp>
        <p:nvSpPr>
          <p:cNvPr id="317" name="Google Shape;317;p11"/>
          <p:cNvSpPr txBox="1"/>
          <p:nvPr/>
        </p:nvSpPr>
        <p:spPr>
          <a:xfrm>
            <a:off x="7424530" y="1390575"/>
            <a:ext cx="5632638" cy="236782"/>
          </a:xfrm>
          <a:prstGeom prst="rect">
            <a:avLst/>
          </a:prstGeom>
          <a:noFill/>
          <a:ln>
            <a:noFill/>
          </a:ln>
        </p:spPr>
        <p:txBody>
          <a:bodyPr anchorCtr="0" anchor="t" bIns="0" lIns="0" spcFirstLastPara="1" rIns="0" wrap="square" tIns="0">
            <a:spAutoFit/>
          </a:bodyPr>
          <a:lstStyle/>
          <a:p>
            <a:pPr indent="0" lvl="0" marL="0" marR="0" rtl="0" algn="ctr">
              <a:lnSpc>
                <a:spcPct val="109961"/>
              </a:lnSpc>
              <a:spcBef>
                <a:spcPts val="0"/>
              </a:spcBef>
              <a:spcAft>
                <a:spcPts val="0"/>
              </a:spcAft>
              <a:buNone/>
            </a:pPr>
            <a:r>
              <a:rPr b="1" i="0" lang="en-US" sz="1556" u="none" cap="none" strike="noStrike">
                <a:solidFill>
                  <a:srgbClr val="336BE4"/>
                </a:solidFill>
                <a:latin typeface="Arial"/>
                <a:ea typeface="Arial"/>
                <a:cs typeface="Arial"/>
                <a:sym typeface="Arial"/>
              </a:rPr>
              <a:t>El sistema debe presenta colores amigable con el usuario.</a:t>
            </a:r>
            <a:endParaRPr/>
          </a:p>
        </p:txBody>
      </p:sp>
      <p:sp>
        <p:nvSpPr>
          <p:cNvPr id="318" name="Google Shape;318;p11"/>
          <p:cNvSpPr txBox="1"/>
          <p:nvPr/>
        </p:nvSpPr>
        <p:spPr>
          <a:xfrm>
            <a:off x="3149154" y="2263104"/>
            <a:ext cx="3504917"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Mantenimiento y seguridad continua</a:t>
            </a:r>
            <a:endParaRPr/>
          </a:p>
        </p:txBody>
      </p:sp>
      <p:sp>
        <p:nvSpPr>
          <p:cNvPr id="319" name="Google Shape;319;p11"/>
          <p:cNvSpPr txBox="1"/>
          <p:nvPr/>
        </p:nvSpPr>
        <p:spPr>
          <a:xfrm>
            <a:off x="2792165" y="3222261"/>
            <a:ext cx="2239224"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Confiabilidad operativa</a:t>
            </a:r>
            <a:endParaRPr/>
          </a:p>
        </p:txBody>
      </p:sp>
      <p:sp>
        <p:nvSpPr>
          <p:cNvPr id="320" name="Google Shape;320;p11"/>
          <p:cNvSpPr txBox="1"/>
          <p:nvPr/>
        </p:nvSpPr>
        <p:spPr>
          <a:xfrm>
            <a:off x="3079067" y="4157969"/>
            <a:ext cx="2375758"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Alta disponibilidad (99%)</a:t>
            </a:r>
            <a:endParaRPr/>
          </a:p>
        </p:txBody>
      </p:sp>
      <p:sp>
        <p:nvSpPr>
          <p:cNvPr id="321" name="Google Shape;321;p11"/>
          <p:cNvSpPr txBox="1"/>
          <p:nvPr/>
        </p:nvSpPr>
        <p:spPr>
          <a:xfrm>
            <a:off x="2861443" y="5082707"/>
            <a:ext cx="2494886"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Tiempo de respuesta (&lt;3s)</a:t>
            </a:r>
            <a:endParaRPr/>
          </a:p>
        </p:txBody>
      </p:sp>
      <p:sp>
        <p:nvSpPr>
          <p:cNvPr id="322" name="Google Shape;322;p11"/>
          <p:cNvSpPr txBox="1"/>
          <p:nvPr/>
        </p:nvSpPr>
        <p:spPr>
          <a:xfrm>
            <a:off x="3073013" y="6068246"/>
            <a:ext cx="3280460"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Tiempo de respuesta de validación</a:t>
            </a:r>
            <a:endParaRPr/>
          </a:p>
        </p:txBody>
      </p:sp>
      <p:sp>
        <p:nvSpPr>
          <p:cNvPr id="323" name="Google Shape;323;p11"/>
          <p:cNvSpPr txBox="1"/>
          <p:nvPr/>
        </p:nvSpPr>
        <p:spPr>
          <a:xfrm>
            <a:off x="2764758" y="6928267"/>
            <a:ext cx="2728525"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Consistencia de los registros</a:t>
            </a:r>
            <a:endParaRPr/>
          </a:p>
        </p:txBody>
      </p:sp>
      <p:sp>
        <p:nvSpPr>
          <p:cNvPr id="324" name="Google Shape;324;p11"/>
          <p:cNvSpPr txBox="1"/>
          <p:nvPr/>
        </p:nvSpPr>
        <p:spPr>
          <a:xfrm>
            <a:off x="3095598" y="7819738"/>
            <a:ext cx="1171347"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Portabilidad</a:t>
            </a:r>
            <a:endParaRPr/>
          </a:p>
        </p:txBody>
      </p:sp>
      <p:sp>
        <p:nvSpPr>
          <p:cNvPr id="325" name="Google Shape;325;p11"/>
          <p:cNvSpPr/>
          <p:nvPr/>
        </p:nvSpPr>
        <p:spPr>
          <a:xfrm>
            <a:off x="6806795" y="2251650"/>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5">
              <a:alphaModFix/>
            </a:blip>
            <a:stretch>
              <a:fillRect b="0" l="0" r="0" t="0"/>
            </a:stretch>
          </a:blipFill>
          <a:ln>
            <a:noFill/>
          </a:ln>
        </p:spPr>
      </p:sp>
      <p:sp>
        <p:nvSpPr>
          <p:cNvPr id="326" name="Google Shape;326;p11"/>
          <p:cNvSpPr/>
          <p:nvPr/>
        </p:nvSpPr>
        <p:spPr>
          <a:xfrm>
            <a:off x="5240939" y="3267837"/>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5">
              <a:alphaModFix/>
            </a:blip>
            <a:stretch>
              <a:fillRect b="0" l="0" r="0" t="0"/>
            </a:stretch>
          </a:blipFill>
          <a:ln>
            <a:noFill/>
          </a:ln>
        </p:spPr>
      </p:sp>
      <p:sp>
        <p:nvSpPr>
          <p:cNvPr id="327" name="Google Shape;327;p11"/>
          <p:cNvSpPr/>
          <p:nvPr/>
        </p:nvSpPr>
        <p:spPr>
          <a:xfrm>
            <a:off x="5559599" y="4138919"/>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5">
              <a:alphaModFix/>
            </a:blip>
            <a:stretch>
              <a:fillRect b="0" l="0" r="0" t="0"/>
            </a:stretch>
          </a:blipFill>
          <a:ln>
            <a:noFill/>
          </a:ln>
        </p:spPr>
      </p:sp>
      <p:sp>
        <p:nvSpPr>
          <p:cNvPr id="328" name="Google Shape;328;p11"/>
          <p:cNvSpPr/>
          <p:nvPr/>
        </p:nvSpPr>
        <p:spPr>
          <a:xfrm>
            <a:off x="5601697" y="5122053"/>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5">
              <a:alphaModFix/>
            </a:blip>
            <a:stretch>
              <a:fillRect b="0" l="0" r="0" t="0"/>
            </a:stretch>
          </a:blipFill>
          <a:ln>
            <a:noFill/>
          </a:ln>
        </p:spPr>
      </p:sp>
      <p:sp>
        <p:nvSpPr>
          <p:cNvPr id="329" name="Google Shape;329;p11"/>
          <p:cNvSpPr/>
          <p:nvPr/>
        </p:nvSpPr>
        <p:spPr>
          <a:xfrm>
            <a:off x="6532255" y="6067897"/>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5">
              <a:alphaModFix/>
            </a:blip>
            <a:stretch>
              <a:fillRect b="0" l="0" r="0" t="0"/>
            </a:stretch>
          </a:blipFill>
          <a:ln>
            <a:noFill/>
          </a:ln>
        </p:spPr>
      </p:sp>
      <p:sp>
        <p:nvSpPr>
          <p:cNvPr id="330" name="Google Shape;330;p11"/>
          <p:cNvSpPr/>
          <p:nvPr/>
        </p:nvSpPr>
        <p:spPr>
          <a:xfrm>
            <a:off x="5661850" y="6929588"/>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5">
              <a:alphaModFix/>
            </a:blip>
            <a:stretch>
              <a:fillRect b="0" l="0" r="0" t="0"/>
            </a:stretch>
          </a:blipFill>
          <a:ln>
            <a:noFill/>
          </a:ln>
        </p:spPr>
      </p:sp>
      <p:sp>
        <p:nvSpPr>
          <p:cNvPr id="331" name="Google Shape;331;p11"/>
          <p:cNvSpPr/>
          <p:nvPr/>
        </p:nvSpPr>
        <p:spPr>
          <a:xfrm>
            <a:off x="4428871" y="7803440"/>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5">
              <a:alphaModFix/>
            </a:blip>
            <a:stretch>
              <a:fillRect b="0" l="0" r="0" t="0"/>
            </a:stretch>
          </a:blipFill>
          <a:ln>
            <a:noFill/>
          </a:ln>
        </p:spPr>
      </p:sp>
      <p:sp>
        <p:nvSpPr>
          <p:cNvPr id="332" name="Google Shape;332;p11"/>
          <p:cNvSpPr txBox="1"/>
          <p:nvPr/>
        </p:nvSpPr>
        <p:spPr>
          <a:xfrm>
            <a:off x="7931851" y="2205061"/>
            <a:ext cx="8424013" cy="479884"/>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contar con procesos y procedimientos de mantenimiento de seguridad para garantizar su disponibilidad continua y la corrección de vulnerabilidades.</a:t>
            </a:r>
            <a:endParaRPr/>
          </a:p>
        </p:txBody>
      </p:sp>
      <p:sp>
        <p:nvSpPr>
          <p:cNvPr id="333" name="Google Shape;333;p11"/>
          <p:cNvSpPr txBox="1"/>
          <p:nvPr/>
        </p:nvSpPr>
        <p:spPr>
          <a:xfrm>
            <a:off x="6394052" y="3246912"/>
            <a:ext cx="10900552"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ser confiable y estar diseñado para garantizar un funcionamiento sin interrupciones, minimizando el riesgo que puedan afectar la disponibilidad de los servicios.</a:t>
            </a:r>
            <a:endParaRPr/>
          </a:p>
        </p:txBody>
      </p:sp>
      <p:sp>
        <p:nvSpPr>
          <p:cNvPr id="334" name="Google Shape;334;p11"/>
          <p:cNvSpPr txBox="1"/>
          <p:nvPr/>
        </p:nvSpPr>
        <p:spPr>
          <a:xfrm>
            <a:off x="6637030" y="4165787"/>
            <a:ext cx="9488162"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garantizar la disponibilidad de la información en un 99% de tiempo operativo.</a:t>
            </a:r>
            <a:endParaRPr/>
          </a:p>
        </p:txBody>
      </p:sp>
      <p:sp>
        <p:nvSpPr>
          <p:cNvPr id="335" name="Google Shape;335;p11"/>
          <p:cNvSpPr txBox="1"/>
          <p:nvPr/>
        </p:nvSpPr>
        <p:spPr>
          <a:xfrm>
            <a:off x="6756202" y="5130269"/>
            <a:ext cx="6637583"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tener un tiempo de respuesta menor a 3 segundos.</a:t>
            </a:r>
            <a:endParaRPr/>
          </a:p>
        </p:txBody>
      </p:sp>
      <p:sp>
        <p:nvSpPr>
          <p:cNvPr id="336" name="Google Shape;336;p11"/>
          <p:cNvSpPr txBox="1"/>
          <p:nvPr/>
        </p:nvSpPr>
        <p:spPr>
          <a:xfrm>
            <a:off x="7629089" y="6068246"/>
            <a:ext cx="8897712"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ser responsable teniendo un respaldo de los datos en un servicio de Cloud.</a:t>
            </a:r>
            <a:endParaRPr/>
          </a:p>
        </p:txBody>
      </p:sp>
      <p:sp>
        <p:nvSpPr>
          <p:cNvPr id="337" name="Google Shape;337;p11"/>
          <p:cNvSpPr txBox="1"/>
          <p:nvPr/>
        </p:nvSpPr>
        <p:spPr>
          <a:xfrm>
            <a:off x="6805956" y="6928267"/>
            <a:ext cx="9441657"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garantizar que al menos el 99% de los datos válidos sean procesados sin pérdida.</a:t>
            </a:r>
            <a:endParaRPr/>
          </a:p>
        </p:txBody>
      </p:sp>
      <p:sp>
        <p:nvSpPr>
          <p:cNvPr id="338" name="Google Shape;338;p11"/>
          <p:cNvSpPr txBox="1"/>
          <p:nvPr/>
        </p:nvSpPr>
        <p:spPr>
          <a:xfrm>
            <a:off x="5493283" y="7827556"/>
            <a:ext cx="9206969"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permitir que la solución pueda desplegarse en distintos proveedores cloud.</a:t>
            </a:r>
            <a:endParaRPr/>
          </a:p>
        </p:txBody>
      </p:sp>
      <p:sp>
        <p:nvSpPr>
          <p:cNvPr id="339" name="Google Shape;339;p11"/>
          <p:cNvSpPr/>
          <p:nvPr/>
        </p:nvSpPr>
        <p:spPr>
          <a:xfrm>
            <a:off x="2034501" y="8432857"/>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4">
              <a:alphaModFix/>
            </a:blip>
            <a:stretch>
              <a:fillRect b="0" l="0" r="0" t="0"/>
            </a:stretch>
          </a:blipFill>
          <a:ln>
            <a:noFill/>
          </a:ln>
        </p:spPr>
      </p:sp>
      <p:sp>
        <p:nvSpPr>
          <p:cNvPr id="340" name="Google Shape;340;p11"/>
          <p:cNvSpPr txBox="1"/>
          <p:nvPr/>
        </p:nvSpPr>
        <p:spPr>
          <a:xfrm>
            <a:off x="2850357" y="8716366"/>
            <a:ext cx="1020451"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Resiliencia</a:t>
            </a:r>
            <a:endParaRPr/>
          </a:p>
        </p:txBody>
      </p:sp>
      <p:sp>
        <p:nvSpPr>
          <p:cNvPr id="341" name="Google Shape;341;p11"/>
          <p:cNvSpPr/>
          <p:nvPr/>
        </p:nvSpPr>
        <p:spPr>
          <a:xfrm>
            <a:off x="4023208" y="8752061"/>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5">
              <a:alphaModFix/>
            </a:blip>
            <a:stretch>
              <a:fillRect b="0" l="0" r="0" t="0"/>
            </a:stretch>
          </a:blipFill>
          <a:ln>
            <a:noFill/>
          </a:ln>
        </p:spPr>
      </p:sp>
      <p:sp>
        <p:nvSpPr>
          <p:cNvPr id="342" name="Google Shape;342;p11"/>
          <p:cNvSpPr txBox="1"/>
          <p:nvPr/>
        </p:nvSpPr>
        <p:spPr>
          <a:xfrm>
            <a:off x="5094810" y="8744476"/>
            <a:ext cx="9055518" cy="231120"/>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recuperarse automáticamente o notificar en caso de caída de algún servicio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2"/>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348" name="Google Shape;348;p12"/>
          <p:cNvSpPr/>
          <p:nvPr/>
        </p:nvSpPr>
        <p:spPr>
          <a:xfrm>
            <a:off x="1572199" y="3451493"/>
            <a:ext cx="665960" cy="634131"/>
          </a:xfrm>
          <a:custGeom>
            <a:rect b="b" l="l" r="r" t="t"/>
            <a:pathLst>
              <a:path extrusionOk="0" h="634131" w="665960">
                <a:moveTo>
                  <a:pt x="0" y="0"/>
                </a:moveTo>
                <a:lnTo>
                  <a:pt x="665960" y="0"/>
                </a:lnTo>
                <a:lnTo>
                  <a:pt x="665960" y="634130"/>
                </a:lnTo>
                <a:lnTo>
                  <a:pt x="0" y="634130"/>
                </a:lnTo>
                <a:lnTo>
                  <a:pt x="0" y="0"/>
                </a:lnTo>
                <a:close/>
              </a:path>
            </a:pathLst>
          </a:custGeom>
          <a:blipFill rotWithShape="1">
            <a:blip r:embed="rId4">
              <a:alphaModFix/>
            </a:blip>
            <a:stretch>
              <a:fillRect b="0" l="0" r="0" t="0"/>
            </a:stretch>
          </a:blipFill>
          <a:ln>
            <a:noFill/>
          </a:ln>
        </p:spPr>
      </p:sp>
      <p:sp>
        <p:nvSpPr>
          <p:cNvPr id="349" name="Google Shape;349;p12"/>
          <p:cNvSpPr/>
          <p:nvPr/>
        </p:nvSpPr>
        <p:spPr>
          <a:xfrm>
            <a:off x="1835278" y="4369963"/>
            <a:ext cx="665960" cy="634131"/>
          </a:xfrm>
          <a:custGeom>
            <a:rect b="b" l="l" r="r" t="t"/>
            <a:pathLst>
              <a:path extrusionOk="0" h="634131" w="665960">
                <a:moveTo>
                  <a:pt x="0" y="0"/>
                </a:moveTo>
                <a:lnTo>
                  <a:pt x="665960" y="0"/>
                </a:lnTo>
                <a:lnTo>
                  <a:pt x="665960" y="634131"/>
                </a:lnTo>
                <a:lnTo>
                  <a:pt x="0" y="634131"/>
                </a:lnTo>
                <a:lnTo>
                  <a:pt x="0" y="0"/>
                </a:lnTo>
                <a:close/>
              </a:path>
            </a:pathLst>
          </a:custGeom>
          <a:blipFill rotWithShape="1">
            <a:blip r:embed="rId4">
              <a:alphaModFix/>
            </a:blip>
            <a:stretch>
              <a:fillRect b="0" l="0" r="0" t="0"/>
            </a:stretch>
          </a:blipFill>
          <a:ln>
            <a:noFill/>
          </a:ln>
        </p:spPr>
      </p:sp>
      <p:sp>
        <p:nvSpPr>
          <p:cNvPr id="350" name="Google Shape;350;p12"/>
          <p:cNvSpPr/>
          <p:nvPr/>
        </p:nvSpPr>
        <p:spPr>
          <a:xfrm>
            <a:off x="1788677" y="6201377"/>
            <a:ext cx="665960" cy="634131"/>
          </a:xfrm>
          <a:custGeom>
            <a:rect b="b" l="l" r="r" t="t"/>
            <a:pathLst>
              <a:path extrusionOk="0" h="634131" w="665960">
                <a:moveTo>
                  <a:pt x="0" y="0"/>
                </a:moveTo>
                <a:lnTo>
                  <a:pt x="665960" y="0"/>
                </a:lnTo>
                <a:lnTo>
                  <a:pt x="665960" y="634130"/>
                </a:lnTo>
                <a:lnTo>
                  <a:pt x="0" y="634130"/>
                </a:lnTo>
                <a:lnTo>
                  <a:pt x="0" y="0"/>
                </a:lnTo>
                <a:close/>
              </a:path>
            </a:pathLst>
          </a:custGeom>
          <a:blipFill rotWithShape="1">
            <a:blip r:embed="rId4">
              <a:alphaModFix/>
            </a:blip>
            <a:stretch>
              <a:fillRect b="0" l="0" r="0" t="0"/>
            </a:stretch>
          </a:blipFill>
          <a:ln>
            <a:noFill/>
          </a:ln>
        </p:spPr>
      </p:sp>
      <p:sp>
        <p:nvSpPr>
          <p:cNvPr id="351" name="Google Shape;351;p12"/>
          <p:cNvSpPr/>
          <p:nvPr/>
        </p:nvSpPr>
        <p:spPr>
          <a:xfrm>
            <a:off x="1455698" y="5224778"/>
            <a:ext cx="665960" cy="634131"/>
          </a:xfrm>
          <a:custGeom>
            <a:rect b="b" l="l" r="r" t="t"/>
            <a:pathLst>
              <a:path extrusionOk="0" h="634131" w="665960">
                <a:moveTo>
                  <a:pt x="0" y="0"/>
                </a:moveTo>
                <a:lnTo>
                  <a:pt x="665959" y="0"/>
                </a:lnTo>
                <a:lnTo>
                  <a:pt x="665959" y="634131"/>
                </a:lnTo>
                <a:lnTo>
                  <a:pt x="0" y="634131"/>
                </a:lnTo>
                <a:lnTo>
                  <a:pt x="0" y="0"/>
                </a:lnTo>
                <a:close/>
              </a:path>
            </a:pathLst>
          </a:custGeom>
          <a:blipFill rotWithShape="1">
            <a:blip r:embed="rId4">
              <a:alphaModFix/>
            </a:blip>
            <a:stretch>
              <a:fillRect b="0" l="0" r="0" t="0"/>
            </a:stretch>
          </a:blipFill>
          <a:ln>
            <a:noFill/>
          </a:ln>
        </p:spPr>
      </p:sp>
      <p:sp>
        <p:nvSpPr>
          <p:cNvPr id="352" name="Google Shape;352;p12"/>
          <p:cNvSpPr/>
          <p:nvPr/>
        </p:nvSpPr>
        <p:spPr>
          <a:xfrm>
            <a:off x="4439311" y="3705545"/>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5">
              <a:alphaModFix/>
            </a:blip>
            <a:stretch>
              <a:fillRect b="0" l="0" r="0" t="0"/>
            </a:stretch>
          </a:blipFill>
          <a:ln>
            <a:noFill/>
          </a:ln>
        </p:spPr>
      </p:sp>
      <p:sp>
        <p:nvSpPr>
          <p:cNvPr id="353" name="Google Shape;353;p12"/>
          <p:cNvSpPr txBox="1"/>
          <p:nvPr/>
        </p:nvSpPr>
        <p:spPr>
          <a:xfrm>
            <a:off x="2501238" y="3713003"/>
            <a:ext cx="1668815"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Interoperabilidad</a:t>
            </a:r>
            <a:endParaRPr/>
          </a:p>
        </p:txBody>
      </p:sp>
      <p:sp>
        <p:nvSpPr>
          <p:cNvPr id="354" name="Google Shape;354;p12"/>
          <p:cNvSpPr txBox="1"/>
          <p:nvPr/>
        </p:nvSpPr>
        <p:spPr>
          <a:xfrm>
            <a:off x="5593967" y="3704556"/>
            <a:ext cx="9512137" cy="236782"/>
          </a:xfrm>
          <a:prstGeom prst="rect">
            <a:avLst/>
          </a:prstGeom>
          <a:noFill/>
          <a:ln>
            <a:noFill/>
          </a:ln>
        </p:spPr>
        <p:txBody>
          <a:bodyPr anchorCtr="0" anchor="t" bIns="0" lIns="0" spcFirstLastPara="1" rIns="0" wrap="square" tIns="0">
            <a:spAutoFit/>
          </a:bodyPr>
          <a:lstStyle/>
          <a:p>
            <a:pPr indent="0" lvl="0" marL="0" marR="0" rtl="0" algn="ctr">
              <a:lnSpc>
                <a:spcPct val="109961"/>
              </a:lnSpc>
              <a:spcBef>
                <a:spcPts val="0"/>
              </a:spcBef>
              <a:spcAft>
                <a:spcPts val="0"/>
              </a:spcAft>
              <a:buNone/>
            </a:pPr>
            <a:r>
              <a:rPr b="1" i="0" lang="en-US" sz="1556" u="none" cap="none" strike="noStrike">
                <a:solidFill>
                  <a:srgbClr val="336BE4"/>
                </a:solidFill>
                <a:latin typeface="Arial"/>
                <a:ea typeface="Arial"/>
                <a:cs typeface="Arial"/>
                <a:sym typeface="Arial"/>
              </a:rPr>
              <a:t>El sistema debe permitir integración futura con otros sistemas ambientales o municipales mediante APIs .</a:t>
            </a:r>
            <a:endParaRPr/>
          </a:p>
        </p:txBody>
      </p:sp>
      <p:sp>
        <p:nvSpPr>
          <p:cNvPr id="355" name="Google Shape;355;p12"/>
          <p:cNvSpPr txBox="1"/>
          <p:nvPr/>
        </p:nvSpPr>
        <p:spPr>
          <a:xfrm>
            <a:off x="2617935" y="4611505"/>
            <a:ext cx="3726558"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Respuesta clara ante fallos de métricas</a:t>
            </a:r>
            <a:endParaRPr/>
          </a:p>
        </p:txBody>
      </p:sp>
      <p:sp>
        <p:nvSpPr>
          <p:cNvPr id="356" name="Google Shape;356;p12"/>
          <p:cNvSpPr txBox="1"/>
          <p:nvPr/>
        </p:nvSpPr>
        <p:spPr>
          <a:xfrm>
            <a:off x="2238159" y="5509561"/>
            <a:ext cx="3610471"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Confidencialidad y Acceso restringido</a:t>
            </a:r>
            <a:endParaRPr/>
          </a:p>
        </p:txBody>
      </p:sp>
      <p:sp>
        <p:nvSpPr>
          <p:cNvPr id="357" name="Google Shape;357;p12"/>
          <p:cNvSpPr txBox="1"/>
          <p:nvPr/>
        </p:nvSpPr>
        <p:spPr>
          <a:xfrm>
            <a:off x="2554089" y="6492273"/>
            <a:ext cx="2978611" cy="238938"/>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Seguridad en el inicio de sesión</a:t>
            </a:r>
            <a:endParaRPr/>
          </a:p>
        </p:txBody>
      </p:sp>
      <p:sp>
        <p:nvSpPr>
          <p:cNvPr id="358" name="Google Shape;358;p12"/>
          <p:cNvSpPr/>
          <p:nvPr/>
        </p:nvSpPr>
        <p:spPr>
          <a:xfrm>
            <a:off x="6458793" y="4639044"/>
            <a:ext cx="972656" cy="212768"/>
          </a:xfrm>
          <a:custGeom>
            <a:rect b="b" l="l" r="r" t="t"/>
            <a:pathLst>
              <a:path extrusionOk="0" h="212768" w="972656">
                <a:moveTo>
                  <a:pt x="0" y="0"/>
                </a:moveTo>
                <a:lnTo>
                  <a:pt x="972656" y="0"/>
                </a:lnTo>
                <a:lnTo>
                  <a:pt x="972656" y="212768"/>
                </a:lnTo>
                <a:lnTo>
                  <a:pt x="0" y="212768"/>
                </a:lnTo>
                <a:lnTo>
                  <a:pt x="0" y="0"/>
                </a:lnTo>
                <a:close/>
              </a:path>
            </a:pathLst>
          </a:custGeom>
          <a:blipFill rotWithShape="1">
            <a:blip r:embed="rId5">
              <a:alphaModFix/>
            </a:blip>
            <a:stretch>
              <a:fillRect b="0" l="0" r="0" t="0"/>
            </a:stretch>
          </a:blipFill>
          <a:ln>
            <a:noFill/>
          </a:ln>
        </p:spPr>
      </p:sp>
      <p:sp>
        <p:nvSpPr>
          <p:cNvPr id="359" name="Google Shape;359;p12"/>
          <p:cNvSpPr/>
          <p:nvPr/>
        </p:nvSpPr>
        <p:spPr>
          <a:xfrm>
            <a:off x="5962930" y="5530486"/>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5">
              <a:alphaModFix/>
            </a:blip>
            <a:stretch>
              <a:fillRect b="0" l="0" r="0" t="0"/>
            </a:stretch>
          </a:blipFill>
          <a:ln>
            <a:noFill/>
          </a:ln>
        </p:spPr>
      </p:sp>
      <p:sp>
        <p:nvSpPr>
          <p:cNvPr id="360" name="Google Shape;360;p12"/>
          <p:cNvSpPr/>
          <p:nvPr/>
        </p:nvSpPr>
        <p:spPr>
          <a:xfrm>
            <a:off x="5627950" y="6487898"/>
            <a:ext cx="972656" cy="212768"/>
          </a:xfrm>
          <a:custGeom>
            <a:rect b="b" l="l" r="r" t="t"/>
            <a:pathLst>
              <a:path extrusionOk="0" h="212768" w="972656">
                <a:moveTo>
                  <a:pt x="0" y="0"/>
                </a:moveTo>
                <a:lnTo>
                  <a:pt x="972656" y="0"/>
                </a:lnTo>
                <a:lnTo>
                  <a:pt x="972656" y="212769"/>
                </a:lnTo>
                <a:lnTo>
                  <a:pt x="0" y="212769"/>
                </a:lnTo>
                <a:lnTo>
                  <a:pt x="0" y="0"/>
                </a:lnTo>
                <a:close/>
              </a:path>
            </a:pathLst>
          </a:custGeom>
          <a:blipFill rotWithShape="1">
            <a:blip r:embed="rId5">
              <a:alphaModFix/>
            </a:blip>
            <a:stretch>
              <a:fillRect b="0" l="0" r="0" t="0"/>
            </a:stretch>
          </a:blipFill>
          <a:ln>
            <a:noFill/>
          </a:ln>
        </p:spPr>
      </p:sp>
      <p:sp>
        <p:nvSpPr>
          <p:cNvPr id="361" name="Google Shape;361;p12"/>
          <p:cNvSpPr txBox="1"/>
          <p:nvPr/>
        </p:nvSpPr>
        <p:spPr>
          <a:xfrm>
            <a:off x="7545749" y="4616395"/>
            <a:ext cx="10497739" cy="250392"/>
          </a:xfrm>
          <a:prstGeom prst="rect">
            <a:avLst/>
          </a:prstGeom>
          <a:noFill/>
          <a:ln>
            <a:noFill/>
          </a:ln>
        </p:spPr>
        <p:txBody>
          <a:bodyPr anchorCtr="0" anchor="t" bIns="0" lIns="0" spcFirstLastPara="1" rIns="0" wrap="square" tIns="0">
            <a:spAutoFit/>
          </a:bodyPr>
          <a:lstStyle/>
          <a:p>
            <a:pPr indent="0" lvl="0" marL="0" marR="0" rtl="0" algn="ctr">
              <a:lnSpc>
                <a:spcPct val="110030"/>
              </a:lnSpc>
              <a:spcBef>
                <a:spcPts val="0"/>
              </a:spcBef>
              <a:spcAft>
                <a:spcPts val="0"/>
              </a:spcAft>
              <a:buNone/>
            </a:pPr>
            <a:r>
              <a:rPr b="1" i="0" lang="en-US" sz="1645" u="none" cap="none" strike="noStrike">
                <a:solidFill>
                  <a:srgbClr val="336BE4"/>
                </a:solidFill>
                <a:latin typeface="Arial"/>
                <a:ea typeface="Arial"/>
                <a:cs typeface="Arial"/>
                <a:sym typeface="Arial"/>
              </a:rPr>
              <a:t>El sistema debe responder con un mensaje de no disponibilidad si hay fallas en las métricas de uso. (Visitas,etc)</a:t>
            </a:r>
            <a:endParaRPr/>
          </a:p>
        </p:txBody>
      </p:sp>
      <p:sp>
        <p:nvSpPr>
          <p:cNvPr id="362" name="Google Shape;362;p12"/>
          <p:cNvSpPr txBox="1"/>
          <p:nvPr/>
        </p:nvSpPr>
        <p:spPr>
          <a:xfrm>
            <a:off x="7049886" y="5509561"/>
            <a:ext cx="11098605"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redirigir al login y mostrar un mensaje de autenticación requerida, si el administrador no ha iniciado sesión o su sesión expiró y accede directamente a la URL de exportación de métricas.</a:t>
            </a:r>
            <a:endParaRPr/>
          </a:p>
        </p:txBody>
      </p:sp>
      <p:sp>
        <p:nvSpPr>
          <p:cNvPr id="363" name="Google Shape;363;p12"/>
          <p:cNvSpPr txBox="1"/>
          <p:nvPr/>
        </p:nvSpPr>
        <p:spPr>
          <a:xfrm>
            <a:off x="6695856" y="6480313"/>
            <a:ext cx="10455124" cy="459757"/>
          </a:xfrm>
          <a:prstGeom prst="rect">
            <a:avLst/>
          </a:prstGeom>
          <a:noFill/>
          <a:ln>
            <a:noFill/>
          </a:ln>
        </p:spPr>
        <p:txBody>
          <a:bodyPr anchorCtr="0" anchor="t" bIns="0" lIns="0" spcFirstLastPara="1" rIns="0" wrap="square" tIns="0">
            <a:spAutoFit/>
          </a:bodyPr>
          <a:lstStyle/>
          <a:p>
            <a:pPr indent="0" lvl="0" marL="0" marR="0" rtl="0" algn="ctr">
              <a:lnSpc>
                <a:spcPct val="110029"/>
              </a:lnSpc>
              <a:spcBef>
                <a:spcPts val="0"/>
              </a:spcBef>
              <a:spcAft>
                <a:spcPts val="0"/>
              </a:spcAft>
              <a:buNone/>
            </a:pPr>
            <a:r>
              <a:rPr b="1" i="0" lang="en-US" sz="1695" u="none" cap="none" strike="noStrike">
                <a:solidFill>
                  <a:srgbClr val="336BE4"/>
                </a:solidFill>
                <a:latin typeface="Arial"/>
                <a:ea typeface="Arial"/>
                <a:cs typeface="Arial"/>
                <a:sym typeface="Arial"/>
              </a:rPr>
              <a:t>El sistema debe asegurar el proceso de inicio de sesión mediante cifrado de credenciales y comunicación bajo protocolo HTTPS, evitando accesos no autorizados.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3"/>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369" name="Google Shape;369;p13"/>
          <p:cNvSpPr/>
          <p:nvPr/>
        </p:nvSpPr>
        <p:spPr>
          <a:xfrm>
            <a:off x="0" y="0"/>
            <a:ext cx="3937712" cy="10287000"/>
          </a:xfrm>
          <a:custGeom>
            <a:rect b="b" l="l" r="r" t="t"/>
            <a:pathLst>
              <a:path extrusionOk="0" h="10287000" w="3937712">
                <a:moveTo>
                  <a:pt x="0" y="0"/>
                </a:moveTo>
                <a:lnTo>
                  <a:pt x="3937712" y="0"/>
                </a:lnTo>
                <a:lnTo>
                  <a:pt x="3937712" y="10287000"/>
                </a:lnTo>
                <a:lnTo>
                  <a:pt x="0" y="10287000"/>
                </a:lnTo>
                <a:lnTo>
                  <a:pt x="0" y="0"/>
                </a:lnTo>
                <a:close/>
              </a:path>
            </a:pathLst>
          </a:custGeom>
          <a:blipFill rotWithShape="1">
            <a:blip r:embed="rId4">
              <a:alphaModFix/>
            </a:blip>
            <a:stretch>
              <a:fillRect b="0" l="-78287" r="-170011" t="0"/>
            </a:stretch>
          </a:blipFill>
          <a:ln>
            <a:noFill/>
          </a:ln>
        </p:spPr>
      </p:sp>
      <p:grpSp>
        <p:nvGrpSpPr>
          <p:cNvPr id="370" name="Google Shape;370;p13"/>
          <p:cNvGrpSpPr/>
          <p:nvPr/>
        </p:nvGrpSpPr>
        <p:grpSpPr>
          <a:xfrm>
            <a:off x="6791979" y="2145567"/>
            <a:ext cx="3444489" cy="1225094"/>
            <a:chOff x="0" y="0"/>
            <a:chExt cx="1330853" cy="473341"/>
          </a:xfrm>
        </p:grpSpPr>
        <p:sp>
          <p:nvSpPr>
            <p:cNvPr id="371" name="Google Shape;371;p13"/>
            <p:cNvSpPr/>
            <p:nvPr/>
          </p:nvSpPr>
          <p:spPr>
            <a:xfrm>
              <a:off x="0" y="0"/>
              <a:ext cx="1330853" cy="473341"/>
            </a:xfrm>
            <a:custGeom>
              <a:rect b="b" l="l" r="r" t="t"/>
              <a:pathLst>
                <a:path extrusionOk="0" h="473341" w="1330853">
                  <a:moveTo>
                    <a:pt x="1330853" y="0"/>
                  </a:moveTo>
                  <a:lnTo>
                    <a:pt x="0" y="0"/>
                  </a:lnTo>
                  <a:lnTo>
                    <a:pt x="101600" y="236671"/>
                  </a:lnTo>
                  <a:lnTo>
                    <a:pt x="0" y="473341"/>
                  </a:lnTo>
                  <a:lnTo>
                    <a:pt x="1330853" y="473341"/>
                  </a:lnTo>
                  <a:lnTo>
                    <a:pt x="1229253" y="236671"/>
                  </a:lnTo>
                  <a:lnTo>
                    <a:pt x="1330853" y="0"/>
                  </a:lnTo>
                  <a:close/>
                </a:path>
              </a:pathLst>
            </a:custGeom>
            <a:solidFill>
              <a:srgbClr val="1800AD"/>
            </a:solidFill>
            <a:ln>
              <a:noFill/>
            </a:ln>
          </p:spPr>
        </p:sp>
        <p:sp>
          <p:nvSpPr>
            <p:cNvPr id="372" name="Google Shape;372;p13"/>
            <p:cNvSpPr txBox="1"/>
            <p:nvPr/>
          </p:nvSpPr>
          <p:spPr>
            <a:xfrm>
              <a:off x="88900" y="19050"/>
              <a:ext cx="1153053" cy="454291"/>
            </a:xfrm>
            <a:prstGeom prst="rect">
              <a:avLst/>
            </a:prstGeom>
            <a:noFill/>
            <a:ln>
              <a:noFill/>
            </a:ln>
          </p:spPr>
          <p:txBody>
            <a:bodyPr anchorCtr="0" anchor="ctr" bIns="50800" lIns="50800" spcFirstLastPara="1" rIns="50800" wrap="square" tIns="50800">
              <a:noAutofit/>
            </a:bodyPr>
            <a:lstStyle/>
            <a:p>
              <a:pPr indent="0" lvl="0" marL="0" marR="0" rtl="0" algn="ctr">
                <a:lnSpc>
                  <a:spcPct val="110099"/>
                </a:lnSpc>
                <a:spcBef>
                  <a:spcPts val="0"/>
                </a:spcBef>
                <a:spcAft>
                  <a:spcPts val="0"/>
                </a:spcAft>
                <a:buNone/>
              </a:pPr>
              <a:r>
                <a:rPr b="1" i="0" lang="en-US" sz="1812" u="none" cap="none" strike="noStrike">
                  <a:solidFill>
                    <a:srgbClr val="FFFFFF"/>
                  </a:solidFill>
                  <a:latin typeface="Arial"/>
                  <a:ea typeface="Arial"/>
                  <a:cs typeface="Arial"/>
                  <a:sym typeface="Arial"/>
                </a:rPr>
                <a:t>Presentar datos en dashboards interactivos con estadísticas descriptivas.</a:t>
              </a:r>
              <a:endParaRPr/>
            </a:p>
          </p:txBody>
        </p:sp>
      </p:grpSp>
      <p:grpSp>
        <p:nvGrpSpPr>
          <p:cNvPr id="373" name="Google Shape;373;p13"/>
          <p:cNvGrpSpPr/>
          <p:nvPr/>
        </p:nvGrpSpPr>
        <p:grpSpPr>
          <a:xfrm>
            <a:off x="11693793" y="2145567"/>
            <a:ext cx="3444489" cy="1225094"/>
            <a:chOff x="0" y="0"/>
            <a:chExt cx="1330853" cy="473341"/>
          </a:xfrm>
        </p:grpSpPr>
        <p:sp>
          <p:nvSpPr>
            <p:cNvPr id="374" name="Google Shape;374;p13"/>
            <p:cNvSpPr/>
            <p:nvPr/>
          </p:nvSpPr>
          <p:spPr>
            <a:xfrm>
              <a:off x="0" y="0"/>
              <a:ext cx="1330853" cy="473341"/>
            </a:xfrm>
            <a:custGeom>
              <a:rect b="b" l="l" r="r" t="t"/>
              <a:pathLst>
                <a:path extrusionOk="0" h="473341" w="1330853">
                  <a:moveTo>
                    <a:pt x="1330853" y="0"/>
                  </a:moveTo>
                  <a:lnTo>
                    <a:pt x="0" y="0"/>
                  </a:lnTo>
                  <a:lnTo>
                    <a:pt x="101600" y="236671"/>
                  </a:lnTo>
                  <a:lnTo>
                    <a:pt x="0" y="473341"/>
                  </a:lnTo>
                  <a:lnTo>
                    <a:pt x="1330853" y="473341"/>
                  </a:lnTo>
                  <a:lnTo>
                    <a:pt x="1229253" y="236671"/>
                  </a:lnTo>
                  <a:lnTo>
                    <a:pt x="1330853" y="0"/>
                  </a:lnTo>
                  <a:close/>
                </a:path>
              </a:pathLst>
            </a:custGeom>
            <a:solidFill>
              <a:srgbClr val="DC239B"/>
            </a:solidFill>
            <a:ln>
              <a:noFill/>
            </a:ln>
          </p:spPr>
        </p:sp>
        <p:sp>
          <p:nvSpPr>
            <p:cNvPr id="375" name="Google Shape;375;p13"/>
            <p:cNvSpPr txBox="1"/>
            <p:nvPr/>
          </p:nvSpPr>
          <p:spPr>
            <a:xfrm>
              <a:off x="88900" y="19050"/>
              <a:ext cx="1153053" cy="454291"/>
            </a:xfrm>
            <a:prstGeom prst="rect">
              <a:avLst/>
            </a:prstGeom>
            <a:noFill/>
            <a:ln>
              <a:noFill/>
            </a:ln>
          </p:spPr>
          <p:txBody>
            <a:bodyPr anchorCtr="0" anchor="ctr" bIns="50800" lIns="50800" spcFirstLastPara="1" rIns="50800" wrap="square" tIns="50800">
              <a:noAutofit/>
            </a:bodyPr>
            <a:lstStyle/>
            <a:p>
              <a:pPr indent="0" lvl="0" marL="0" marR="0" rtl="0" algn="ctr">
                <a:lnSpc>
                  <a:spcPct val="110099"/>
                </a:lnSpc>
                <a:spcBef>
                  <a:spcPts val="0"/>
                </a:spcBef>
                <a:spcAft>
                  <a:spcPts val="0"/>
                </a:spcAft>
                <a:buNone/>
              </a:pPr>
              <a:r>
                <a:rPr b="1" i="0" lang="en-US" sz="1812" u="none" cap="none" strike="noStrike">
                  <a:solidFill>
                    <a:srgbClr val="FFFFFF"/>
                  </a:solidFill>
                  <a:latin typeface="Arial"/>
                  <a:ea typeface="Arial"/>
                  <a:cs typeface="Arial"/>
                  <a:sym typeface="Arial"/>
                </a:rPr>
                <a:t>Generar, consultar y exportar informes y reportes históricos.</a:t>
              </a:r>
              <a:endParaRPr/>
            </a:p>
          </p:txBody>
        </p:sp>
      </p:grpSp>
      <p:grpSp>
        <p:nvGrpSpPr>
          <p:cNvPr id="376" name="Google Shape;376;p13"/>
          <p:cNvGrpSpPr/>
          <p:nvPr/>
        </p:nvGrpSpPr>
        <p:grpSpPr>
          <a:xfrm>
            <a:off x="13416038" y="5003002"/>
            <a:ext cx="3444489" cy="1051837"/>
            <a:chOff x="0" y="0"/>
            <a:chExt cx="1330853" cy="406400"/>
          </a:xfrm>
        </p:grpSpPr>
        <p:sp>
          <p:nvSpPr>
            <p:cNvPr id="377" name="Google Shape;377;p13"/>
            <p:cNvSpPr/>
            <p:nvPr/>
          </p:nvSpPr>
          <p:spPr>
            <a:xfrm>
              <a:off x="0" y="0"/>
              <a:ext cx="1330853" cy="406400"/>
            </a:xfrm>
            <a:custGeom>
              <a:rect b="b" l="l" r="r" t="t"/>
              <a:pathLst>
                <a:path extrusionOk="0" h="406400" w="1330853">
                  <a:moveTo>
                    <a:pt x="1330853" y="0"/>
                  </a:moveTo>
                  <a:lnTo>
                    <a:pt x="0" y="0"/>
                  </a:lnTo>
                  <a:lnTo>
                    <a:pt x="101600" y="203200"/>
                  </a:lnTo>
                  <a:lnTo>
                    <a:pt x="0" y="406400"/>
                  </a:lnTo>
                  <a:lnTo>
                    <a:pt x="1330853" y="406400"/>
                  </a:lnTo>
                  <a:lnTo>
                    <a:pt x="1229253" y="203200"/>
                  </a:lnTo>
                  <a:lnTo>
                    <a:pt x="1330853" y="0"/>
                  </a:lnTo>
                  <a:close/>
                </a:path>
              </a:pathLst>
            </a:custGeom>
            <a:solidFill>
              <a:srgbClr val="7F28B4"/>
            </a:solidFill>
            <a:ln>
              <a:noFill/>
            </a:ln>
          </p:spPr>
        </p:sp>
        <p:sp>
          <p:nvSpPr>
            <p:cNvPr id="378" name="Google Shape;378;p13"/>
            <p:cNvSpPr txBox="1"/>
            <p:nvPr/>
          </p:nvSpPr>
          <p:spPr>
            <a:xfrm>
              <a:off x="88900" y="19050"/>
              <a:ext cx="1153053" cy="387350"/>
            </a:xfrm>
            <a:prstGeom prst="rect">
              <a:avLst/>
            </a:prstGeom>
            <a:noFill/>
            <a:ln>
              <a:noFill/>
            </a:ln>
          </p:spPr>
          <p:txBody>
            <a:bodyPr anchorCtr="0" anchor="ctr" bIns="50800" lIns="50800" spcFirstLastPara="1" rIns="50800" wrap="square" tIns="50800">
              <a:noAutofit/>
            </a:bodyPr>
            <a:lstStyle/>
            <a:p>
              <a:pPr indent="0" lvl="0" marL="0" marR="0" rtl="0" algn="ctr">
                <a:lnSpc>
                  <a:spcPct val="110099"/>
                </a:lnSpc>
                <a:spcBef>
                  <a:spcPts val="0"/>
                </a:spcBef>
                <a:spcAft>
                  <a:spcPts val="0"/>
                </a:spcAft>
                <a:buNone/>
              </a:pPr>
              <a:r>
                <a:rPr b="1" i="0" lang="en-US" sz="1812" u="none" cap="none" strike="noStrike">
                  <a:solidFill>
                    <a:srgbClr val="FFFFFF"/>
                  </a:solidFill>
                  <a:latin typeface="Arial"/>
                  <a:ea typeface="Arial"/>
                  <a:cs typeface="Arial"/>
                  <a:sym typeface="Arial"/>
                </a:rPr>
                <a:t>Emitir alertas automáticas ante valores ambientales críticos.</a:t>
              </a:r>
              <a:endParaRPr/>
            </a:p>
          </p:txBody>
        </p:sp>
      </p:grpSp>
      <p:grpSp>
        <p:nvGrpSpPr>
          <p:cNvPr id="379" name="Google Shape;379;p13"/>
          <p:cNvGrpSpPr/>
          <p:nvPr/>
        </p:nvGrpSpPr>
        <p:grpSpPr>
          <a:xfrm>
            <a:off x="6791979" y="7691095"/>
            <a:ext cx="3444489" cy="1051837"/>
            <a:chOff x="0" y="0"/>
            <a:chExt cx="1330853" cy="406400"/>
          </a:xfrm>
        </p:grpSpPr>
        <p:sp>
          <p:nvSpPr>
            <p:cNvPr id="380" name="Google Shape;380;p13"/>
            <p:cNvSpPr/>
            <p:nvPr/>
          </p:nvSpPr>
          <p:spPr>
            <a:xfrm>
              <a:off x="0" y="0"/>
              <a:ext cx="1330853" cy="406400"/>
            </a:xfrm>
            <a:custGeom>
              <a:rect b="b" l="l" r="r" t="t"/>
              <a:pathLst>
                <a:path extrusionOk="0" h="406400" w="1330853">
                  <a:moveTo>
                    <a:pt x="1330853" y="0"/>
                  </a:moveTo>
                  <a:lnTo>
                    <a:pt x="0" y="0"/>
                  </a:lnTo>
                  <a:lnTo>
                    <a:pt x="101600" y="203200"/>
                  </a:lnTo>
                  <a:lnTo>
                    <a:pt x="0" y="406400"/>
                  </a:lnTo>
                  <a:lnTo>
                    <a:pt x="1330853" y="406400"/>
                  </a:lnTo>
                  <a:lnTo>
                    <a:pt x="1229253" y="203200"/>
                  </a:lnTo>
                  <a:lnTo>
                    <a:pt x="1330853" y="0"/>
                  </a:lnTo>
                  <a:close/>
                </a:path>
              </a:pathLst>
            </a:custGeom>
            <a:solidFill>
              <a:srgbClr val="C2B3D4"/>
            </a:solidFill>
            <a:ln>
              <a:noFill/>
            </a:ln>
          </p:spPr>
        </p:sp>
        <p:sp>
          <p:nvSpPr>
            <p:cNvPr id="381" name="Google Shape;381;p13"/>
            <p:cNvSpPr txBox="1"/>
            <p:nvPr/>
          </p:nvSpPr>
          <p:spPr>
            <a:xfrm>
              <a:off x="88900" y="19050"/>
              <a:ext cx="1153053" cy="387350"/>
            </a:xfrm>
            <a:prstGeom prst="rect">
              <a:avLst/>
            </a:prstGeom>
            <a:noFill/>
            <a:ln>
              <a:noFill/>
            </a:ln>
          </p:spPr>
          <p:txBody>
            <a:bodyPr anchorCtr="0" anchor="ctr" bIns="50800" lIns="50800" spcFirstLastPara="1" rIns="50800" wrap="square" tIns="50800">
              <a:noAutofit/>
            </a:bodyPr>
            <a:lstStyle/>
            <a:p>
              <a:pPr indent="0" lvl="0" marL="0" marR="0" rtl="0" algn="ctr">
                <a:lnSpc>
                  <a:spcPct val="110099"/>
                </a:lnSpc>
                <a:spcBef>
                  <a:spcPts val="0"/>
                </a:spcBef>
                <a:spcAft>
                  <a:spcPts val="0"/>
                </a:spcAft>
                <a:buNone/>
              </a:pPr>
              <a:r>
                <a:rPr b="1" i="0" lang="en-US" sz="1812" u="none" cap="none" strike="noStrike">
                  <a:solidFill>
                    <a:srgbClr val="FFFFFF"/>
                  </a:solidFill>
                  <a:latin typeface="Arial"/>
                  <a:ea typeface="Arial"/>
                  <a:cs typeface="Arial"/>
                  <a:sym typeface="Arial"/>
                </a:rPr>
                <a:t>Registrar métricas de uso, incluyendo contador de visitas</a:t>
              </a:r>
              <a:endParaRPr/>
            </a:p>
          </p:txBody>
        </p:sp>
      </p:grpSp>
      <p:grpSp>
        <p:nvGrpSpPr>
          <p:cNvPr id="382" name="Google Shape;382;p13"/>
          <p:cNvGrpSpPr/>
          <p:nvPr/>
        </p:nvGrpSpPr>
        <p:grpSpPr>
          <a:xfrm>
            <a:off x="5069735" y="4889422"/>
            <a:ext cx="3444489" cy="1051837"/>
            <a:chOff x="0" y="0"/>
            <a:chExt cx="1330853" cy="406400"/>
          </a:xfrm>
        </p:grpSpPr>
        <p:sp>
          <p:nvSpPr>
            <p:cNvPr id="383" name="Google Shape;383;p13"/>
            <p:cNvSpPr/>
            <p:nvPr/>
          </p:nvSpPr>
          <p:spPr>
            <a:xfrm>
              <a:off x="0" y="0"/>
              <a:ext cx="1330853" cy="406400"/>
            </a:xfrm>
            <a:custGeom>
              <a:rect b="b" l="l" r="r" t="t"/>
              <a:pathLst>
                <a:path extrusionOk="0" h="406400" w="1330853">
                  <a:moveTo>
                    <a:pt x="1330853" y="0"/>
                  </a:moveTo>
                  <a:lnTo>
                    <a:pt x="0" y="0"/>
                  </a:lnTo>
                  <a:lnTo>
                    <a:pt x="101600" y="203200"/>
                  </a:lnTo>
                  <a:lnTo>
                    <a:pt x="0" y="406400"/>
                  </a:lnTo>
                  <a:lnTo>
                    <a:pt x="1330853" y="406400"/>
                  </a:lnTo>
                  <a:lnTo>
                    <a:pt x="1229253" y="203200"/>
                  </a:lnTo>
                  <a:lnTo>
                    <a:pt x="1330853" y="0"/>
                  </a:lnTo>
                  <a:close/>
                </a:path>
              </a:pathLst>
            </a:custGeom>
            <a:solidFill>
              <a:srgbClr val="0097B2"/>
            </a:solidFill>
            <a:ln>
              <a:noFill/>
            </a:ln>
          </p:spPr>
        </p:sp>
        <p:sp>
          <p:nvSpPr>
            <p:cNvPr id="384" name="Google Shape;384;p13"/>
            <p:cNvSpPr txBox="1"/>
            <p:nvPr/>
          </p:nvSpPr>
          <p:spPr>
            <a:xfrm>
              <a:off x="88900" y="19050"/>
              <a:ext cx="1153053" cy="387350"/>
            </a:xfrm>
            <a:prstGeom prst="rect">
              <a:avLst/>
            </a:prstGeom>
            <a:noFill/>
            <a:ln>
              <a:noFill/>
            </a:ln>
          </p:spPr>
          <p:txBody>
            <a:bodyPr anchorCtr="0" anchor="ctr" bIns="50800" lIns="50800" spcFirstLastPara="1" rIns="50800" wrap="square" tIns="50800">
              <a:noAutofit/>
            </a:bodyPr>
            <a:lstStyle/>
            <a:p>
              <a:pPr indent="0" lvl="0" marL="0" marR="0" rtl="0" algn="ctr">
                <a:lnSpc>
                  <a:spcPct val="110099"/>
                </a:lnSpc>
                <a:spcBef>
                  <a:spcPts val="0"/>
                </a:spcBef>
                <a:spcAft>
                  <a:spcPts val="0"/>
                </a:spcAft>
                <a:buNone/>
              </a:pPr>
              <a:r>
                <a:rPr b="1" i="0" lang="en-US" sz="1812" u="none" cap="none" strike="noStrike">
                  <a:solidFill>
                    <a:srgbClr val="FFFFFF"/>
                  </a:solidFill>
                  <a:latin typeface="Arial"/>
                  <a:ea typeface="Arial"/>
                  <a:cs typeface="Arial"/>
                  <a:sym typeface="Arial"/>
                </a:rPr>
                <a:t>Identificar y mostrar patrones de datos en el panel web.</a:t>
              </a:r>
              <a:endParaRPr/>
            </a:p>
          </p:txBody>
        </p:sp>
      </p:grpSp>
      <p:grpSp>
        <p:nvGrpSpPr>
          <p:cNvPr id="385" name="Google Shape;385;p13"/>
          <p:cNvGrpSpPr/>
          <p:nvPr/>
        </p:nvGrpSpPr>
        <p:grpSpPr>
          <a:xfrm>
            <a:off x="11693793" y="7691095"/>
            <a:ext cx="3444489" cy="1051837"/>
            <a:chOff x="0" y="0"/>
            <a:chExt cx="1330853" cy="406400"/>
          </a:xfrm>
        </p:grpSpPr>
        <p:sp>
          <p:nvSpPr>
            <p:cNvPr id="386" name="Google Shape;386;p13"/>
            <p:cNvSpPr/>
            <p:nvPr/>
          </p:nvSpPr>
          <p:spPr>
            <a:xfrm>
              <a:off x="0" y="0"/>
              <a:ext cx="1330853" cy="406400"/>
            </a:xfrm>
            <a:custGeom>
              <a:rect b="b" l="l" r="r" t="t"/>
              <a:pathLst>
                <a:path extrusionOk="0" h="406400" w="1330853">
                  <a:moveTo>
                    <a:pt x="1330853" y="0"/>
                  </a:moveTo>
                  <a:lnTo>
                    <a:pt x="0" y="0"/>
                  </a:lnTo>
                  <a:lnTo>
                    <a:pt x="101600" y="203200"/>
                  </a:lnTo>
                  <a:lnTo>
                    <a:pt x="0" y="406400"/>
                  </a:lnTo>
                  <a:lnTo>
                    <a:pt x="1330853" y="406400"/>
                  </a:lnTo>
                  <a:lnTo>
                    <a:pt x="1229253" y="203200"/>
                  </a:lnTo>
                  <a:lnTo>
                    <a:pt x="1330853" y="0"/>
                  </a:lnTo>
                  <a:close/>
                </a:path>
              </a:pathLst>
            </a:custGeom>
            <a:gradFill>
              <a:gsLst>
                <a:gs pos="0">
                  <a:srgbClr val="8C52FF"/>
                </a:gs>
                <a:gs pos="100000">
                  <a:srgbClr val="00BF63"/>
                </a:gs>
              </a:gsLst>
              <a:lin ang="0" scaled="0"/>
            </a:gradFill>
            <a:ln>
              <a:noFill/>
            </a:ln>
          </p:spPr>
        </p:sp>
        <p:sp>
          <p:nvSpPr>
            <p:cNvPr id="387" name="Google Shape;387;p13"/>
            <p:cNvSpPr txBox="1"/>
            <p:nvPr/>
          </p:nvSpPr>
          <p:spPr>
            <a:xfrm>
              <a:off x="88900" y="19050"/>
              <a:ext cx="1153053" cy="387350"/>
            </a:xfrm>
            <a:prstGeom prst="rect">
              <a:avLst/>
            </a:prstGeom>
            <a:noFill/>
            <a:ln>
              <a:noFill/>
            </a:ln>
          </p:spPr>
          <p:txBody>
            <a:bodyPr anchorCtr="0" anchor="ctr" bIns="50800" lIns="50800" spcFirstLastPara="1" rIns="50800" wrap="square" tIns="50800">
              <a:noAutofit/>
            </a:bodyPr>
            <a:lstStyle/>
            <a:p>
              <a:pPr indent="0" lvl="0" marL="0" marR="0" rtl="0" algn="ctr">
                <a:lnSpc>
                  <a:spcPct val="110099"/>
                </a:lnSpc>
                <a:spcBef>
                  <a:spcPts val="0"/>
                </a:spcBef>
                <a:spcAft>
                  <a:spcPts val="0"/>
                </a:spcAft>
                <a:buNone/>
              </a:pPr>
              <a:r>
                <a:rPr b="1" i="0" lang="en-US" sz="1812" u="none" cap="none" strike="noStrike">
                  <a:solidFill>
                    <a:srgbClr val="FFFFFF"/>
                  </a:solidFill>
                  <a:latin typeface="Arial"/>
                  <a:ea typeface="Arial"/>
                  <a:cs typeface="Arial"/>
                  <a:sym typeface="Arial"/>
                </a:rPr>
                <a:t>login de acceso exclusivo para administradores</a:t>
              </a:r>
              <a:endParaRPr/>
            </a:p>
          </p:txBody>
        </p:sp>
      </p:grpSp>
      <p:grpSp>
        <p:nvGrpSpPr>
          <p:cNvPr id="388" name="Google Shape;388;p13"/>
          <p:cNvGrpSpPr/>
          <p:nvPr/>
        </p:nvGrpSpPr>
        <p:grpSpPr>
          <a:xfrm>
            <a:off x="9614962" y="3985870"/>
            <a:ext cx="2700338" cy="3086100"/>
            <a:chOff x="0" y="0"/>
            <a:chExt cx="711200" cy="812800"/>
          </a:xfrm>
        </p:grpSpPr>
        <p:sp>
          <p:nvSpPr>
            <p:cNvPr id="389" name="Google Shape;389;p13"/>
            <p:cNvSpPr/>
            <p:nvPr/>
          </p:nvSpPr>
          <p:spPr>
            <a:xfrm>
              <a:off x="0" y="0"/>
              <a:ext cx="711200" cy="812800"/>
            </a:xfrm>
            <a:custGeom>
              <a:rect b="b" l="l" r="r" t="t"/>
              <a:pathLst>
                <a:path extrusionOk="0" h="812800" w="711200">
                  <a:moveTo>
                    <a:pt x="355600" y="0"/>
                  </a:moveTo>
                  <a:lnTo>
                    <a:pt x="499725" y="159329"/>
                  </a:lnTo>
                  <a:lnTo>
                    <a:pt x="711200" y="203200"/>
                  </a:lnTo>
                  <a:lnTo>
                    <a:pt x="643849" y="406400"/>
                  </a:lnTo>
                  <a:lnTo>
                    <a:pt x="711200" y="609600"/>
                  </a:lnTo>
                  <a:lnTo>
                    <a:pt x="499725" y="653471"/>
                  </a:lnTo>
                  <a:lnTo>
                    <a:pt x="355600" y="812800"/>
                  </a:lnTo>
                  <a:lnTo>
                    <a:pt x="211475" y="653471"/>
                  </a:lnTo>
                  <a:lnTo>
                    <a:pt x="0" y="609600"/>
                  </a:lnTo>
                  <a:lnTo>
                    <a:pt x="67351" y="406400"/>
                  </a:lnTo>
                  <a:lnTo>
                    <a:pt x="0" y="203200"/>
                  </a:lnTo>
                  <a:lnTo>
                    <a:pt x="211475" y="159329"/>
                  </a:lnTo>
                  <a:lnTo>
                    <a:pt x="355600" y="0"/>
                  </a:lnTo>
                  <a:close/>
                </a:path>
              </a:pathLst>
            </a:custGeom>
            <a:gradFill>
              <a:gsLst>
                <a:gs pos="0">
                  <a:srgbClr val="8C52FF"/>
                </a:gs>
                <a:gs pos="100000">
                  <a:srgbClr val="5CE1E6"/>
                </a:gs>
              </a:gsLst>
              <a:lin ang="0" scaled="0"/>
            </a:gradFill>
            <a:ln>
              <a:noFill/>
            </a:ln>
          </p:spPr>
        </p:sp>
        <p:sp>
          <p:nvSpPr>
            <p:cNvPr id="390" name="Google Shape;390;p13"/>
            <p:cNvSpPr txBox="1"/>
            <p:nvPr/>
          </p:nvSpPr>
          <p:spPr>
            <a:xfrm>
              <a:off x="88900" y="184150"/>
              <a:ext cx="533400"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32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1" name="Google Shape;391;p13"/>
          <p:cNvSpPr txBox="1"/>
          <p:nvPr/>
        </p:nvSpPr>
        <p:spPr>
          <a:xfrm>
            <a:off x="4250894" y="453972"/>
            <a:ext cx="6385166" cy="8045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06 ÉPICAS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4"/>
          <p:cNvSpPr/>
          <p:nvPr/>
        </p:nvSpPr>
        <p:spPr>
          <a:xfrm>
            <a:off x="0" y="0"/>
            <a:ext cx="2477866" cy="10287000"/>
          </a:xfrm>
          <a:custGeom>
            <a:rect b="b" l="l" r="r" t="t"/>
            <a:pathLst>
              <a:path extrusionOk="0" h="10287000" w="2477866">
                <a:moveTo>
                  <a:pt x="0" y="0"/>
                </a:moveTo>
                <a:lnTo>
                  <a:pt x="2477866" y="0"/>
                </a:lnTo>
                <a:lnTo>
                  <a:pt x="2477866" y="10287000"/>
                </a:lnTo>
                <a:lnTo>
                  <a:pt x="0" y="10287000"/>
                </a:lnTo>
                <a:lnTo>
                  <a:pt x="0" y="0"/>
                </a:lnTo>
                <a:close/>
              </a:path>
            </a:pathLst>
          </a:custGeom>
          <a:blipFill rotWithShape="1">
            <a:blip r:embed="rId3">
              <a:alphaModFix/>
            </a:blip>
            <a:stretch>
              <a:fillRect b="0" l="-211252" r="-311800" t="0"/>
            </a:stretch>
          </a:blipFill>
          <a:ln>
            <a:noFill/>
          </a:ln>
        </p:spPr>
      </p:sp>
      <p:sp>
        <p:nvSpPr>
          <p:cNvPr id="397" name="Google Shape;397;p14"/>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
        <p:nvSpPr>
          <p:cNvPr id="398" name="Google Shape;398;p14"/>
          <p:cNvSpPr/>
          <p:nvPr/>
        </p:nvSpPr>
        <p:spPr>
          <a:xfrm>
            <a:off x="3295157" y="2822747"/>
            <a:ext cx="14219908" cy="5759063"/>
          </a:xfrm>
          <a:custGeom>
            <a:rect b="b" l="l" r="r" t="t"/>
            <a:pathLst>
              <a:path extrusionOk="0" h="5759063" w="14219908">
                <a:moveTo>
                  <a:pt x="0" y="0"/>
                </a:moveTo>
                <a:lnTo>
                  <a:pt x="14219908" y="0"/>
                </a:lnTo>
                <a:lnTo>
                  <a:pt x="14219908" y="5759063"/>
                </a:lnTo>
                <a:lnTo>
                  <a:pt x="0" y="5759063"/>
                </a:lnTo>
                <a:lnTo>
                  <a:pt x="0" y="0"/>
                </a:lnTo>
                <a:close/>
              </a:path>
            </a:pathLst>
          </a:custGeom>
          <a:blipFill rotWithShape="1">
            <a:blip r:embed="rId5">
              <a:alphaModFix/>
            </a:blip>
            <a:stretch>
              <a:fillRect b="0" l="0" r="0" t="0"/>
            </a:stretch>
          </a:blipFill>
          <a:ln>
            <a:noFill/>
          </a:ln>
        </p:spPr>
      </p:sp>
      <p:sp>
        <p:nvSpPr>
          <p:cNvPr id="399" name="Google Shape;399;p14"/>
          <p:cNvSpPr txBox="1"/>
          <p:nvPr/>
        </p:nvSpPr>
        <p:spPr>
          <a:xfrm>
            <a:off x="7212528" y="453972"/>
            <a:ext cx="6385166" cy="8045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07 ARQUITECTURA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5"/>
          <p:cNvSpPr/>
          <p:nvPr/>
        </p:nvSpPr>
        <p:spPr>
          <a:xfrm>
            <a:off x="0" y="0"/>
            <a:ext cx="2477866" cy="10287000"/>
          </a:xfrm>
          <a:custGeom>
            <a:rect b="b" l="l" r="r" t="t"/>
            <a:pathLst>
              <a:path extrusionOk="0" h="10287000" w="2477866">
                <a:moveTo>
                  <a:pt x="0" y="0"/>
                </a:moveTo>
                <a:lnTo>
                  <a:pt x="2477866" y="0"/>
                </a:lnTo>
                <a:lnTo>
                  <a:pt x="2477866" y="10287000"/>
                </a:lnTo>
                <a:lnTo>
                  <a:pt x="0" y="10287000"/>
                </a:lnTo>
                <a:lnTo>
                  <a:pt x="0" y="0"/>
                </a:lnTo>
                <a:close/>
              </a:path>
            </a:pathLst>
          </a:custGeom>
          <a:blipFill rotWithShape="1">
            <a:blip r:embed="rId3">
              <a:alphaModFix/>
            </a:blip>
            <a:stretch>
              <a:fillRect b="0" l="-211252" r="-311800" t="0"/>
            </a:stretch>
          </a:blipFill>
          <a:ln>
            <a:noFill/>
          </a:ln>
        </p:spPr>
      </p:sp>
      <p:sp>
        <p:nvSpPr>
          <p:cNvPr id="405" name="Google Shape;405;p15"/>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
        <p:nvSpPr>
          <p:cNvPr id="406" name="Google Shape;406;p15"/>
          <p:cNvSpPr/>
          <p:nvPr/>
        </p:nvSpPr>
        <p:spPr>
          <a:xfrm>
            <a:off x="4635651" y="1072684"/>
            <a:ext cx="10646794" cy="8818958"/>
          </a:xfrm>
          <a:custGeom>
            <a:rect b="b" l="l" r="r" t="t"/>
            <a:pathLst>
              <a:path extrusionOk="0" h="8818958" w="10646794">
                <a:moveTo>
                  <a:pt x="0" y="0"/>
                </a:moveTo>
                <a:lnTo>
                  <a:pt x="10646794" y="0"/>
                </a:lnTo>
                <a:lnTo>
                  <a:pt x="10646794" y="8818958"/>
                </a:lnTo>
                <a:lnTo>
                  <a:pt x="0" y="8818958"/>
                </a:lnTo>
                <a:lnTo>
                  <a:pt x="0" y="0"/>
                </a:lnTo>
                <a:close/>
              </a:path>
            </a:pathLst>
          </a:custGeom>
          <a:blipFill rotWithShape="1">
            <a:blip r:embed="rId5">
              <a:alphaModFix/>
            </a:blip>
            <a:stretch>
              <a:fillRect b="-1471" l="0" r="-613" t="-1469"/>
            </a:stretch>
          </a:blipFill>
          <a:ln>
            <a:noFill/>
          </a:ln>
        </p:spPr>
      </p:sp>
      <p:sp>
        <p:nvSpPr>
          <p:cNvPr id="407" name="Google Shape;407;p15"/>
          <p:cNvSpPr/>
          <p:nvPr/>
        </p:nvSpPr>
        <p:spPr>
          <a:xfrm>
            <a:off x="-1178114" y="-698696"/>
            <a:ext cx="4645096" cy="12001500"/>
          </a:xfrm>
          <a:custGeom>
            <a:rect b="b" l="l" r="r" t="t"/>
            <a:pathLst>
              <a:path extrusionOk="0" h="12001500" w="4645096">
                <a:moveTo>
                  <a:pt x="0" y="0"/>
                </a:moveTo>
                <a:lnTo>
                  <a:pt x="4645097" y="0"/>
                </a:lnTo>
                <a:lnTo>
                  <a:pt x="4645097" y="12001500"/>
                </a:lnTo>
                <a:lnTo>
                  <a:pt x="0" y="12001500"/>
                </a:lnTo>
                <a:lnTo>
                  <a:pt x="0" y="0"/>
                </a:lnTo>
                <a:close/>
              </a:path>
            </a:pathLst>
          </a:custGeom>
          <a:blipFill rotWithShape="1">
            <a:blip r:embed="rId6">
              <a:alphaModFix/>
            </a:blip>
            <a:stretch>
              <a:fillRect b="0" l="0" r="-244483" t="0"/>
            </a:stretch>
          </a:blipFill>
          <a:ln>
            <a:noFill/>
          </a:ln>
        </p:spPr>
      </p:sp>
      <p:sp>
        <p:nvSpPr>
          <p:cNvPr id="408" name="Google Shape;408;p15"/>
          <p:cNvSpPr txBox="1"/>
          <p:nvPr/>
        </p:nvSpPr>
        <p:spPr>
          <a:xfrm>
            <a:off x="5841999" y="268139"/>
            <a:ext cx="8013678" cy="8045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08 MODELO DE DATOS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6"/>
          <p:cNvSpPr/>
          <p:nvPr/>
        </p:nvSpPr>
        <p:spPr>
          <a:xfrm>
            <a:off x="3493371" y="2447349"/>
            <a:ext cx="11301259" cy="5904908"/>
          </a:xfrm>
          <a:custGeom>
            <a:rect b="b" l="l" r="r" t="t"/>
            <a:pathLst>
              <a:path extrusionOk="0" h="5904908" w="11301259">
                <a:moveTo>
                  <a:pt x="0" y="0"/>
                </a:moveTo>
                <a:lnTo>
                  <a:pt x="11301258" y="0"/>
                </a:lnTo>
                <a:lnTo>
                  <a:pt x="11301258" y="5904908"/>
                </a:lnTo>
                <a:lnTo>
                  <a:pt x="0" y="5904908"/>
                </a:lnTo>
                <a:lnTo>
                  <a:pt x="0" y="0"/>
                </a:lnTo>
                <a:close/>
              </a:path>
            </a:pathLst>
          </a:custGeom>
          <a:blipFill rotWithShape="1">
            <a:blip r:embed="rId3">
              <a:alphaModFix/>
            </a:blip>
            <a:stretch>
              <a:fillRect b="0" l="0" r="0" t="0"/>
            </a:stretch>
          </a:blipFill>
          <a:ln>
            <a:noFill/>
          </a:ln>
        </p:spPr>
      </p:sp>
      <p:sp>
        <p:nvSpPr>
          <p:cNvPr id="414" name="Google Shape;414;p16"/>
          <p:cNvSpPr txBox="1"/>
          <p:nvPr/>
        </p:nvSpPr>
        <p:spPr>
          <a:xfrm>
            <a:off x="5951417" y="650240"/>
            <a:ext cx="6385166" cy="8045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09 METODOLOGÍA</a:t>
            </a:r>
            <a:endParaRPr/>
          </a:p>
        </p:txBody>
      </p:sp>
      <p:sp>
        <p:nvSpPr>
          <p:cNvPr id="415" name="Google Shape;415;p16"/>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17"/>
          <p:cNvSpPr/>
          <p:nvPr/>
        </p:nvSpPr>
        <p:spPr>
          <a:xfrm>
            <a:off x="4233886" y="4122032"/>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21" name="Google Shape;421;p17"/>
          <p:cNvSpPr txBox="1"/>
          <p:nvPr/>
        </p:nvSpPr>
        <p:spPr>
          <a:xfrm>
            <a:off x="2291100" y="357800"/>
            <a:ext cx="143094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10 SPRINTS E HISTORIAS DE USUARIOS</a:t>
            </a:r>
            <a:endParaRPr/>
          </a:p>
        </p:txBody>
      </p:sp>
      <p:sp>
        <p:nvSpPr>
          <p:cNvPr id="422" name="Google Shape;422;p17"/>
          <p:cNvSpPr txBox="1"/>
          <p:nvPr/>
        </p:nvSpPr>
        <p:spPr>
          <a:xfrm>
            <a:off x="1191799" y="1746950"/>
            <a:ext cx="40776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SPRINT 0</a:t>
            </a:r>
            <a:endParaRPr/>
          </a:p>
        </p:txBody>
      </p:sp>
      <p:sp>
        <p:nvSpPr>
          <p:cNvPr id="423" name="Google Shape;423;p17"/>
          <p:cNvSpPr txBox="1"/>
          <p:nvPr/>
        </p:nvSpPr>
        <p:spPr>
          <a:xfrm>
            <a:off x="11381044" y="1986678"/>
            <a:ext cx="4563520" cy="296429"/>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080" u="none" cap="none" strike="noStrike">
                <a:solidFill>
                  <a:srgbClr val="336BE4"/>
                </a:solidFill>
                <a:latin typeface="Arial"/>
                <a:ea typeface="Arial"/>
                <a:cs typeface="Arial"/>
                <a:sym typeface="Arial"/>
              </a:rPr>
              <a:t>Duración 1 semana (01/09 - 05/09)</a:t>
            </a:r>
            <a:endParaRPr/>
          </a:p>
        </p:txBody>
      </p:sp>
      <p:sp>
        <p:nvSpPr>
          <p:cNvPr id="424" name="Google Shape;424;p17"/>
          <p:cNvSpPr txBox="1"/>
          <p:nvPr/>
        </p:nvSpPr>
        <p:spPr>
          <a:xfrm>
            <a:off x="443511" y="2570502"/>
            <a:ext cx="4538666" cy="799638"/>
          </a:xfrm>
          <a:prstGeom prst="rect">
            <a:avLst/>
          </a:prstGeom>
          <a:noFill/>
          <a:ln>
            <a:noFill/>
          </a:ln>
        </p:spPr>
        <p:txBody>
          <a:bodyPr anchorCtr="0" anchor="t" bIns="0" lIns="0" spcFirstLastPara="1" rIns="0" wrap="square" tIns="0">
            <a:spAutoFit/>
          </a:bodyPr>
          <a:lstStyle/>
          <a:p>
            <a:pPr indent="0" lvl="0" marL="0" marR="0" rtl="0" algn="ctr">
              <a:lnSpc>
                <a:spcPct val="109968"/>
              </a:lnSpc>
              <a:spcBef>
                <a:spcPts val="0"/>
              </a:spcBef>
              <a:spcAft>
                <a:spcPts val="0"/>
              </a:spcAft>
              <a:buNone/>
            </a:pPr>
            <a:r>
              <a:rPr b="1" i="0" lang="en-US" sz="1906" u="none" cap="none" strike="noStrike">
                <a:solidFill>
                  <a:srgbClr val="336BE4"/>
                </a:solidFill>
                <a:latin typeface="Arial"/>
                <a:ea typeface="Arial"/>
                <a:cs typeface="Arial"/>
                <a:sym typeface="Arial"/>
              </a:rPr>
              <a:t>Dejar listas las bases técnicas y de gestión para comenzar a entregar valor desde el Sprint 1.</a:t>
            </a:r>
            <a:endParaRPr/>
          </a:p>
        </p:txBody>
      </p:sp>
      <p:sp>
        <p:nvSpPr>
          <p:cNvPr id="425" name="Google Shape;425;p17"/>
          <p:cNvSpPr txBox="1"/>
          <p:nvPr/>
        </p:nvSpPr>
        <p:spPr>
          <a:xfrm>
            <a:off x="4568725" y="4247306"/>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1</a:t>
            </a:r>
            <a:endParaRPr/>
          </a:p>
        </p:txBody>
      </p:sp>
      <p:sp>
        <p:nvSpPr>
          <p:cNvPr id="426" name="Google Shape;426;p17"/>
          <p:cNvSpPr txBox="1"/>
          <p:nvPr/>
        </p:nvSpPr>
        <p:spPr>
          <a:xfrm>
            <a:off x="5329760" y="4333031"/>
            <a:ext cx="3483308" cy="598932"/>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Instalación y configuración de repositorios</a:t>
            </a:r>
            <a:endParaRPr/>
          </a:p>
        </p:txBody>
      </p:sp>
      <p:sp>
        <p:nvSpPr>
          <p:cNvPr id="427" name="Google Shape;427;p17"/>
          <p:cNvSpPr/>
          <p:nvPr/>
        </p:nvSpPr>
        <p:spPr>
          <a:xfrm>
            <a:off x="4233886" y="5676558"/>
            <a:ext cx="931401" cy="931401"/>
          </a:xfrm>
          <a:custGeom>
            <a:rect b="b" l="l" r="r" t="t"/>
            <a:pathLst>
              <a:path extrusionOk="0" h="931401" w="931401">
                <a:moveTo>
                  <a:pt x="0" y="0"/>
                </a:moveTo>
                <a:lnTo>
                  <a:pt x="931402" y="0"/>
                </a:lnTo>
                <a:lnTo>
                  <a:pt x="931402" y="931402"/>
                </a:lnTo>
                <a:lnTo>
                  <a:pt x="0" y="931402"/>
                </a:lnTo>
                <a:lnTo>
                  <a:pt x="0" y="0"/>
                </a:lnTo>
                <a:close/>
              </a:path>
            </a:pathLst>
          </a:custGeom>
          <a:blipFill rotWithShape="1">
            <a:blip r:embed="rId3">
              <a:alphaModFix/>
            </a:blip>
            <a:stretch>
              <a:fillRect b="0" l="0" r="0" t="0"/>
            </a:stretch>
          </a:blipFill>
          <a:ln>
            <a:noFill/>
          </a:ln>
        </p:spPr>
      </p:sp>
      <p:sp>
        <p:nvSpPr>
          <p:cNvPr id="428" name="Google Shape;428;p17"/>
          <p:cNvSpPr txBox="1"/>
          <p:nvPr/>
        </p:nvSpPr>
        <p:spPr>
          <a:xfrm>
            <a:off x="4568725" y="5801832"/>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2</a:t>
            </a:r>
            <a:endParaRPr/>
          </a:p>
        </p:txBody>
      </p:sp>
      <p:sp>
        <p:nvSpPr>
          <p:cNvPr id="429" name="Google Shape;429;p17"/>
          <p:cNvSpPr txBox="1"/>
          <p:nvPr/>
        </p:nvSpPr>
        <p:spPr>
          <a:xfrm>
            <a:off x="5406175" y="6001700"/>
            <a:ext cx="3330476" cy="598932"/>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Configuración del frontend en React</a:t>
            </a:r>
            <a:endParaRPr/>
          </a:p>
        </p:txBody>
      </p:sp>
      <p:sp>
        <p:nvSpPr>
          <p:cNvPr id="430" name="Google Shape;430;p17"/>
          <p:cNvSpPr/>
          <p:nvPr/>
        </p:nvSpPr>
        <p:spPr>
          <a:xfrm>
            <a:off x="9127608" y="5676558"/>
            <a:ext cx="931401" cy="931401"/>
          </a:xfrm>
          <a:custGeom>
            <a:rect b="b" l="l" r="r" t="t"/>
            <a:pathLst>
              <a:path extrusionOk="0" h="931401" w="931401">
                <a:moveTo>
                  <a:pt x="0" y="0"/>
                </a:moveTo>
                <a:lnTo>
                  <a:pt x="931402" y="0"/>
                </a:lnTo>
                <a:lnTo>
                  <a:pt x="931402" y="931402"/>
                </a:lnTo>
                <a:lnTo>
                  <a:pt x="0" y="931402"/>
                </a:lnTo>
                <a:lnTo>
                  <a:pt x="0" y="0"/>
                </a:lnTo>
                <a:close/>
              </a:path>
            </a:pathLst>
          </a:custGeom>
          <a:blipFill rotWithShape="1">
            <a:blip r:embed="rId3">
              <a:alphaModFix/>
            </a:blip>
            <a:stretch>
              <a:fillRect b="0" l="0" r="0" t="0"/>
            </a:stretch>
          </a:blipFill>
          <a:ln>
            <a:noFill/>
          </a:ln>
        </p:spPr>
      </p:sp>
      <p:sp>
        <p:nvSpPr>
          <p:cNvPr id="431" name="Google Shape;431;p17"/>
          <p:cNvSpPr txBox="1"/>
          <p:nvPr/>
        </p:nvSpPr>
        <p:spPr>
          <a:xfrm>
            <a:off x="9462447" y="5801832"/>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5</a:t>
            </a:r>
            <a:endParaRPr/>
          </a:p>
        </p:txBody>
      </p:sp>
      <p:sp>
        <p:nvSpPr>
          <p:cNvPr id="432" name="Google Shape;432;p17"/>
          <p:cNvSpPr txBox="1"/>
          <p:nvPr/>
        </p:nvSpPr>
        <p:spPr>
          <a:xfrm>
            <a:off x="10297135" y="5904724"/>
            <a:ext cx="3692408" cy="598932"/>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Configuración de Pub/Sub y Dataflow</a:t>
            </a:r>
            <a:endParaRPr/>
          </a:p>
        </p:txBody>
      </p:sp>
      <p:sp>
        <p:nvSpPr>
          <p:cNvPr id="433" name="Google Shape;433;p17"/>
          <p:cNvSpPr/>
          <p:nvPr/>
        </p:nvSpPr>
        <p:spPr>
          <a:xfrm>
            <a:off x="4233886" y="7227085"/>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34" name="Google Shape;434;p17"/>
          <p:cNvSpPr txBox="1"/>
          <p:nvPr/>
        </p:nvSpPr>
        <p:spPr>
          <a:xfrm>
            <a:off x="4568725" y="7352358"/>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3</a:t>
            </a:r>
            <a:endParaRPr/>
          </a:p>
        </p:txBody>
      </p:sp>
      <p:sp>
        <p:nvSpPr>
          <p:cNvPr id="435" name="Google Shape;435;p17"/>
          <p:cNvSpPr txBox="1"/>
          <p:nvPr/>
        </p:nvSpPr>
        <p:spPr>
          <a:xfrm>
            <a:off x="5406175" y="7438083"/>
            <a:ext cx="3438833" cy="598932"/>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Configuración del backend en Node.js</a:t>
            </a:r>
            <a:endParaRPr/>
          </a:p>
        </p:txBody>
      </p:sp>
      <p:sp>
        <p:nvSpPr>
          <p:cNvPr id="436" name="Google Shape;436;p17"/>
          <p:cNvSpPr/>
          <p:nvPr/>
        </p:nvSpPr>
        <p:spPr>
          <a:xfrm>
            <a:off x="9127608" y="4122032"/>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37" name="Google Shape;437;p17"/>
          <p:cNvSpPr txBox="1"/>
          <p:nvPr/>
        </p:nvSpPr>
        <p:spPr>
          <a:xfrm>
            <a:off x="9462447" y="4247306"/>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4</a:t>
            </a:r>
            <a:endParaRPr/>
          </a:p>
        </p:txBody>
      </p:sp>
      <p:sp>
        <p:nvSpPr>
          <p:cNvPr id="438" name="Google Shape;438;p17"/>
          <p:cNvSpPr txBox="1"/>
          <p:nvPr/>
        </p:nvSpPr>
        <p:spPr>
          <a:xfrm>
            <a:off x="10297135" y="4334119"/>
            <a:ext cx="3692408" cy="608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Diseño de base de datos en GCP</a:t>
            </a:r>
            <a:endParaRPr/>
          </a:p>
        </p:txBody>
      </p:sp>
      <p:sp>
        <p:nvSpPr>
          <p:cNvPr id="439" name="Google Shape;439;p17"/>
          <p:cNvSpPr/>
          <p:nvPr/>
        </p:nvSpPr>
        <p:spPr>
          <a:xfrm>
            <a:off x="9127608" y="7227085"/>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40" name="Google Shape;440;p17"/>
          <p:cNvSpPr txBox="1"/>
          <p:nvPr/>
        </p:nvSpPr>
        <p:spPr>
          <a:xfrm>
            <a:off x="9462447" y="7352358"/>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6</a:t>
            </a:r>
            <a:endParaRPr/>
          </a:p>
        </p:txBody>
      </p:sp>
      <p:sp>
        <p:nvSpPr>
          <p:cNvPr id="441" name="Google Shape;441;p17"/>
          <p:cNvSpPr txBox="1"/>
          <p:nvPr/>
        </p:nvSpPr>
        <p:spPr>
          <a:xfrm>
            <a:off x="10344760" y="7402844"/>
            <a:ext cx="3692408" cy="598932"/>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Configuración de bucket en GCP</a:t>
            </a:r>
            <a:endParaRPr/>
          </a:p>
        </p:txBody>
      </p:sp>
      <p:sp>
        <p:nvSpPr>
          <p:cNvPr id="442" name="Google Shape;442;p17"/>
          <p:cNvSpPr txBox="1"/>
          <p:nvPr/>
        </p:nvSpPr>
        <p:spPr>
          <a:xfrm>
            <a:off x="10297135" y="8920486"/>
            <a:ext cx="3936738" cy="598932"/>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Configuración del entorno de clustering</a:t>
            </a:r>
            <a:endParaRPr/>
          </a:p>
        </p:txBody>
      </p:sp>
      <p:sp>
        <p:nvSpPr>
          <p:cNvPr id="443" name="Google Shape;443;p17"/>
          <p:cNvSpPr/>
          <p:nvPr/>
        </p:nvSpPr>
        <p:spPr>
          <a:xfrm>
            <a:off x="9127608" y="8597089"/>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44" name="Google Shape;444;p17"/>
          <p:cNvSpPr txBox="1"/>
          <p:nvPr/>
        </p:nvSpPr>
        <p:spPr>
          <a:xfrm>
            <a:off x="9462447" y="8722362"/>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7</a:t>
            </a:r>
            <a:endParaRPr/>
          </a:p>
        </p:txBody>
      </p:sp>
      <p:sp>
        <p:nvSpPr>
          <p:cNvPr id="445" name="Google Shape;445;p17"/>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18"/>
          <p:cNvSpPr/>
          <p:nvPr/>
        </p:nvSpPr>
        <p:spPr>
          <a:xfrm>
            <a:off x="4233886" y="4122032"/>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51" name="Google Shape;451;p18"/>
          <p:cNvSpPr txBox="1"/>
          <p:nvPr/>
        </p:nvSpPr>
        <p:spPr>
          <a:xfrm>
            <a:off x="2291100" y="357800"/>
            <a:ext cx="141600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10 SPRINTS E HISTORIAS DE USUARIOS</a:t>
            </a:r>
            <a:endParaRPr/>
          </a:p>
        </p:txBody>
      </p:sp>
      <p:sp>
        <p:nvSpPr>
          <p:cNvPr id="452" name="Google Shape;452;p18"/>
          <p:cNvSpPr txBox="1"/>
          <p:nvPr/>
        </p:nvSpPr>
        <p:spPr>
          <a:xfrm>
            <a:off x="1191800" y="1746900"/>
            <a:ext cx="36957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SPRINT 1</a:t>
            </a:r>
            <a:endParaRPr/>
          </a:p>
        </p:txBody>
      </p:sp>
      <p:sp>
        <p:nvSpPr>
          <p:cNvPr id="453" name="Google Shape;453;p18"/>
          <p:cNvSpPr txBox="1"/>
          <p:nvPr/>
        </p:nvSpPr>
        <p:spPr>
          <a:xfrm>
            <a:off x="11441202" y="1986678"/>
            <a:ext cx="4563520" cy="296429"/>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080" u="none" cap="none" strike="noStrike">
                <a:solidFill>
                  <a:srgbClr val="336BE4"/>
                </a:solidFill>
                <a:latin typeface="Arial"/>
                <a:ea typeface="Arial"/>
                <a:cs typeface="Arial"/>
                <a:sym typeface="Arial"/>
              </a:rPr>
              <a:t>Duración 4 semanas (08/09 - 10/10)</a:t>
            </a:r>
            <a:endParaRPr/>
          </a:p>
        </p:txBody>
      </p:sp>
      <p:sp>
        <p:nvSpPr>
          <p:cNvPr id="454" name="Google Shape;454;p18"/>
          <p:cNvSpPr txBox="1"/>
          <p:nvPr/>
        </p:nvSpPr>
        <p:spPr>
          <a:xfrm>
            <a:off x="443511" y="2570502"/>
            <a:ext cx="4538666" cy="799638"/>
          </a:xfrm>
          <a:prstGeom prst="rect">
            <a:avLst/>
          </a:prstGeom>
          <a:noFill/>
          <a:ln>
            <a:noFill/>
          </a:ln>
        </p:spPr>
        <p:txBody>
          <a:bodyPr anchorCtr="0" anchor="t" bIns="0" lIns="0" spcFirstLastPara="1" rIns="0" wrap="square" tIns="0">
            <a:spAutoFit/>
          </a:bodyPr>
          <a:lstStyle/>
          <a:p>
            <a:pPr indent="0" lvl="0" marL="0" marR="0" rtl="0" algn="ctr">
              <a:lnSpc>
                <a:spcPct val="109968"/>
              </a:lnSpc>
              <a:spcBef>
                <a:spcPts val="0"/>
              </a:spcBef>
              <a:spcAft>
                <a:spcPts val="0"/>
              </a:spcAft>
              <a:buNone/>
            </a:pPr>
            <a:r>
              <a:rPr b="1" i="0" lang="en-US" sz="1906" u="none" cap="none" strike="noStrike">
                <a:solidFill>
                  <a:srgbClr val="336BE4"/>
                </a:solidFill>
                <a:latin typeface="Arial"/>
                <a:ea typeface="Arial"/>
                <a:cs typeface="Arial"/>
                <a:sym typeface="Arial"/>
              </a:rPr>
              <a:t>Creación de dashboard con gráficos y metadatos, tendencias, reportes históricos y alertas.</a:t>
            </a:r>
            <a:endParaRPr/>
          </a:p>
        </p:txBody>
      </p:sp>
      <p:sp>
        <p:nvSpPr>
          <p:cNvPr id="455" name="Google Shape;455;p18"/>
          <p:cNvSpPr txBox="1"/>
          <p:nvPr/>
        </p:nvSpPr>
        <p:spPr>
          <a:xfrm>
            <a:off x="4568725" y="4247306"/>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1</a:t>
            </a:r>
            <a:endParaRPr/>
          </a:p>
        </p:txBody>
      </p:sp>
      <p:sp>
        <p:nvSpPr>
          <p:cNvPr id="456" name="Google Shape;456;p18"/>
          <p:cNvSpPr txBox="1"/>
          <p:nvPr/>
        </p:nvSpPr>
        <p:spPr>
          <a:xfrm>
            <a:off x="5406175" y="4324594"/>
            <a:ext cx="2995637" cy="658088"/>
          </a:xfrm>
          <a:prstGeom prst="rect">
            <a:avLst/>
          </a:prstGeom>
          <a:noFill/>
          <a:ln>
            <a:noFill/>
          </a:ln>
        </p:spPr>
        <p:txBody>
          <a:bodyPr anchorCtr="0" anchor="t" bIns="0" lIns="0" spcFirstLastPara="1" rIns="0" wrap="square" tIns="0">
            <a:spAutoFit/>
          </a:bodyPr>
          <a:lstStyle/>
          <a:p>
            <a:pPr indent="0" lvl="0" marL="0" marR="0" rtl="0" algn="ctr">
              <a:lnSpc>
                <a:spcPct val="110013"/>
              </a:lnSpc>
              <a:spcBef>
                <a:spcPts val="0"/>
              </a:spcBef>
              <a:spcAft>
                <a:spcPts val="0"/>
              </a:spcAft>
              <a:buNone/>
            </a:pPr>
            <a:r>
              <a:rPr b="1" i="0" lang="en-US" sz="2297" u="none" cap="none" strike="noStrike">
                <a:solidFill>
                  <a:srgbClr val="336BE4"/>
                </a:solidFill>
                <a:latin typeface="Arial"/>
                <a:ea typeface="Arial"/>
                <a:cs typeface="Arial"/>
                <a:sym typeface="Arial"/>
              </a:rPr>
              <a:t>Gráficos en Dashboard</a:t>
            </a:r>
            <a:endParaRPr/>
          </a:p>
          <a:p>
            <a:pPr indent="0" lvl="0" marL="0" marR="0" rtl="0" algn="ctr">
              <a:lnSpc>
                <a:spcPct val="110013"/>
              </a:lnSpc>
              <a:spcBef>
                <a:spcPts val="0"/>
              </a:spcBef>
              <a:spcAft>
                <a:spcPts val="0"/>
              </a:spcAft>
              <a:buNone/>
            </a:pPr>
            <a:r>
              <a:t/>
            </a:r>
            <a:endParaRPr b="1" i="0" sz="2297" u="none" cap="none" strike="noStrike">
              <a:solidFill>
                <a:srgbClr val="336BE4"/>
              </a:solidFill>
              <a:latin typeface="Arial"/>
              <a:ea typeface="Arial"/>
              <a:cs typeface="Arial"/>
              <a:sym typeface="Arial"/>
            </a:endParaRPr>
          </a:p>
        </p:txBody>
      </p:sp>
      <p:sp>
        <p:nvSpPr>
          <p:cNvPr id="457" name="Google Shape;457;p18"/>
          <p:cNvSpPr/>
          <p:nvPr/>
        </p:nvSpPr>
        <p:spPr>
          <a:xfrm>
            <a:off x="4233886" y="5676558"/>
            <a:ext cx="931401" cy="931401"/>
          </a:xfrm>
          <a:custGeom>
            <a:rect b="b" l="l" r="r" t="t"/>
            <a:pathLst>
              <a:path extrusionOk="0" h="931401" w="931401">
                <a:moveTo>
                  <a:pt x="0" y="0"/>
                </a:moveTo>
                <a:lnTo>
                  <a:pt x="931402" y="0"/>
                </a:lnTo>
                <a:lnTo>
                  <a:pt x="931402" y="931402"/>
                </a:lnTo>
                <a:lnTo>
                  <a:pt x="0" y="931402"/>
                </a:lnTo>
                <a:lnTo>
                  <a:pt x="0" y="0"/>
                </a:lnTo>
                <a:close/>
              </a:path>
            </a:pathLst>
          </a:custGeom>
          <a:blipFill rotWithShape="1">
            <a:blip r:embed="rId3">
              <a:alphaModFix/>
            </a:blip>
            <a:stretch>
              <a:fillRect b="0" l="0" r="0" t="0"/>
            </a:stretch>
          </a:blipFill>
          <a:ln>
            <a:noFill/>
          </a:ln>
        </p:spPr>
      </p:sp>
      <p:sp>
        <p:nvSpPr>
          <p:cNvPr id="458" name="Google Shape;458;p18"/>
          <p:cNvSpPr txBox="1"/>
          <p:nvPr/>
        </p:nvSpPr>
        <p:spPr>
          <a:xfrm>
            <a:off x="4568725" y="5801832"/>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2</a:t>
            </a:r>
            <a:endParaRPr/>
          </a:p>
        </p:txBody>
      </p:sp>
      <p:sp>
        <p:nvSpPr>
          <p:cNvPr id="459" name="Google Shape;459;p18"/>
          <p:cNvSpPr txBox="1"/>
          <p:nvPr/>
        </p:nvSpPr>
        <p:spPr>
          <a:xfrm>
            <a:off x="5406175" y="5992175"/>
            <a:ext cx="3330476" cy="658088"/>
          </a:xfrm>
          <a:prstGeom prst="rect">
            <a:avLst/>
          </a:prstGeom>
          <a:noFill/>
          <a:ln>
            <a:noFill/>
          </a:ln>
        </p:spPr>
        <p:txBody>
          <a:bodyPr anchorCtr="0" anchor="t" bIns="0" lIns="0" spcFirstLastPara="1" rIns="0" wrap="square" tIns="0">
            <a:spAutoFit/>
          </a:bodyPr>
          <a:lstStyle/>
          <a:p>
            <a:pPr indent="0" lvl="0" marL="0" marR="0" rtl="0" algn="ctr">
              <a:lnSpc>
                <a:spcPct val="110013"/>
              </a:lnSpc>
              <a:spcBef>
                <a:spcPts val="0"/>
              </a:spcBef>
              <a:spcAft>
                <a:spcPts val="0"/>
              </a:spcAft>
              <a:buNone/>
            </a:pPr>
            <a:r>
              <a:rPr b="1" i="0" lang="en-US" sz="2297" u="none" cap="none" strike="noStrike">
                <a:solidFill>
                  <a:srgbClr val="336BE4"/>
                </a:solidFill>
                <a:latin typeface="Arial"/>
                <a:ea typeface="Arial"/>
                <a:cs typeface="Arial"/>
                <a:sym typeface="Arial"/>
              </a:rPr>
              <a:t>Descripciones en gráficos</a:t>
            </a:r>
            <a:endParaRPr/>
          </a:p>
          <a:p>
            <a:pPr indent="0" lvl="0" marL="0" marR="0" rtl="0" algn="ctr">
              <a:lnSpc>
                <a:spcPct val="110013"/>
              </a:lnSpc>
              <a:spcBef>
                <a:spcPts val="0"/>
              </a:spcBef>
              <a:spcAft>
                <a:spcPts val="0"/>
              </a:spcAft>
              <a:buNone/>
            </a:pPr>
            <a:r>
              <a:t/>
            </a:r>
            <a:endParaRPr b="1" i="0" sz="2297" u="none" cap="none" strike="noStrike">
              <a:solidFill>
                <a:srgbClr val="336BE4"/>
              </a:solidFill>
              <a:latin typeface="Arial"/>
              <a:ea typeface="Arial"/>
              <a:cs typeface="Arial"/>
              <a:sym typeface="Arial"/>
            </a:endParaRPr>
          </a:p>
        </p:txBody>
      </p:sp>
      <p:sp>
        <p:nvSpPr>
          <p:cNvPr id="460" name="Google Shape;460;p18"/>
          <p:cNvSpPr/>
          <p:nvPr/>
        </p:nvSpPr>
        <p:spPr>
          <a:xfrm>
            <a:off x="9127608" y="5676558"/>
            <a:ext cx="931401" cy="931401"/>
          </a:xfrm>
          <a:custGeom>
            <a:rect b="b" l="l" r="r" t="t"/>
            <a:pathLst>
              <a:path extrusionOk="0" h="931401" w="931401">
                <a:moveTo>
                  <a:pt x="0" y="0"/>
                </a:moveTo>
                <a:lnTo>
                  <a:pt x="931402" y="0"/>
                </a:lnTo>
                <a:lnTo>
                  <a:pt x="931402" y="931402"/>
                </a:lnTo>
                <a:lnTo>
                  <a:pt x="0" y="931402"/>
                </a:lnTo>
                <a:lnTo>
                  <a:pt x="0" y="0"/>
                </a:lnTo>
                <a:close/>
              </a:path>
            </a:pathLst>
          </a:custGeom>
          <a:blipFill rotWithShape="1">
            <a:blip r:embed="rId3">
              <a:alphaModFix/>
            </a:blip>
            <a:stretch>
              <a:fillRect b="0" l="0" r="0" t="0"/>
            </a:stretch>
          </a:blipFill>
          <a:ln>
            <a:noFill/>
          </a:ln>
        </p:spPr>
      </p:sp>
      <p:sp>
        <p:nvSpPr>
          <p:cNvPr id="461" name="Google Shape;461;p18"/>
          <p:cNvSpPr txBox="1"/>
          <p:nvPr/>
        </p:nvSpPr>
        <p:spPr>
          <a:xfrm>
            <a:off x="9462447" y="5801832"/>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5</a:t>
            </a:r>
            <a:endParaRPr/>
          </a:p>
        </p:txBody>
      </p:sp>
      <p:sp>
        <p:nvSpPr>
          <p:cNvPr id="462" name="Google Shape;462;p18"/>
          <p:cNvSpPr txBox="1"/>
          <p:nvPr/>
        </p:nvSpPr>
        <p:spPr>
          <a:xfrm>
            <a:off x="10297135" y="5895199"/>
            <a:ext cx="3425827" cy="977305"/>
          </a:xfrm>
          <a:prstGeom prst="rect">
            <a:avLst/>
          </a:prstGeom>
          <a:noFill/>
          <a:ln>
            <a:noFill/>
          </a:ln>
        </p:spPr>
        <p:txBody>
          <a:bodyPr anchorCtr="0" anchor="t" bIns="0" lIns="0" spcFirstLastPara="1" rIns="0" wrap="square" tIns="0">
            <a:spAutoFit/>
          </a:bodyPr>
          <a:lstStyle/>
          <a:p>
            <a:pPr indent="0" lvl="0" marL="0" marR="0" rtl="0" algn="ctr">
              <a:lnSpc>
                <a:spcPct val="110013"/>
              </a:lnSpc>
              <a:spcBef>
                <a:spcPts val="0"/>
              </a:spcBef>
              <a:spcAft>
                <a:spcPts val="0"/>
              </a:spcAft>
              <a:buNone/>
            </a:pPr>
            <a:r>
              <a:rPr b="1" i="0" lang="en-US" sz="2297" u="none" cap="none" strike="noStrike">
                <a:solidFill>
                  <a:srgbClr val="336BE4"/>
                </a:solidFill>
                <a:latin typeface="Arial"/>
                <a:ea typeface="Arial"/>
                <a:cs typeface="Arial"/>
                <a:sym typeface="Arial"/>
              </a:rPr>
              <a:t>Creación de funciones y triggers para las alertas en la BD</a:t>
            </a:r>
            <a:endParaRPr/>
          </a:p>
        </p:txBody>
      </p:sp>
      <p:sp>
        <p:nvSpPr>
          <p:cNvPr id="463" name="Google Shape;463;p18"/>
          <p:cNvSpPr/>
          <p:nvPr/>
        </p:nvSpPr>
        <p:spPr>
          <a:xfrm>
            <a:off x="4233886" y="7227085"/>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64" name="Google Shape;464;p18"/>
          <p:cNvSpPr txBox="1"/>
          <p:nvPr/>
        </p:nvSpPr>
        <p:spPr>
          <a:xfrm>
            <a:off x="4568725" y="7352358"/>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3</a:t>
            </a:r>
            <a:endParaRPr/>
          </a:p>
        </p:txBody>
      </p:sp>
      <p:sp>
        <p:nvSpPr>
          <p:cNvPr id="465" name="Google Shape;465;p18"/>
          <p:cNvSpPr txBox="1"/>
          <p:nvPr/>
        </p:nvSpPr>
        <p:spPr>
          <a:xfrm>
            <a:off x="5406175" y="7428558"/>
            <a:ext cx="3195941" cy="658088"/>
          </a:xfrm>
          <a:prstGeom prst="rect">
            <a:avLst/>
          </a:prstGeom>
          <a:noFill/>
          <a:ln>
            <a:noFill/>
          </a:ln>
        </p:spPr>
        <p:txBody>
          <a:bodyPr anchorCtr="0" anchor="t" bIns="0" lIns="0" spcFirstLastPara="1" rIns="0" wrap="square" tIns="0">
            <a:spAutoFit/>
          </a:bodyPr>
          <a:lstStyle/>
          <a:p>
            <a:pPr indent="0" lvl="0" marL="0" marR="0" rtl="0" algn="ctr">
              <a:lnSpc>
                <a:spcPct val="110013"/>
              </a:lnSpc>
              <a:spcBef>
                <a:spcPts val="0"/>
              </a:spcBef>
              <a:spcAft>
                <a:spcPts val="0"/>
              </a:spcAft>
              <a:buNone/>
            </a:pPr>
            <a:r>
              <a:rPr b="1" i="0" lang="en-US" sz="2297" u="none" cap="none" strike="noStrike">
                <a:solidFill>
                  <a:srgbClr val="336BE4"/>
                </a:solidFill>
                <a:latin typeface="Arial"/>
                <a:ea typeface="Arial"/>
                <a:cs typeface="Arial"/>
                <a:sym typeface="Arial"/>
              </a:rPr>
              <a:t>Detección de tendencias</a:t>
            </a:r>
            <a:endParaRPr/>
          </a:p>
          <a:p>
            <a:pPr indent="0" lvl="0" marL="0" marR="0" rtl="0" algn="ctr">
              <a:lnSpc>
                <a:spcPct val="110013"/>
              </a:lnSpc>
              <a:spcBef>
                <a:spcPts val="0"/>
              </a:spcBef>
              <a:spcAft>
                <a:spcPts val="0"/>
              </a:spcAft>
              <a:buNone/>
            </a:pPr>
            <a:r>
              <a:t/>
            </a:r>
            <a:endParaRPr b="1" i="0" sz="2297" u="none" cap="none" strike="noStrike">
              <a:solidFill>
                <a:srgbClr val="336BE4"/>
              </a:solidFill>
              <a:latin typeface="Arial"/>
              <a:ea typeface="Arial"/>
              <a:cs typeface="Arial"/>
              <a:sym typeface="Arial"/>
            </a:endParaRPr>
          </a:p>
        </p:txBody>
      </p:sp>
      <p:sp>
        <p:nvSpPr>
          <p:cNvPr id="466" name="Google Shape;466;p18"/>
          <p:cNvSpPr/>
          <p:nvPr/>
        </p:nvSpPr>
        <p:spPr>
          <a:xfrm>
            <a:off x="9127608" y="4122032"/>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67" name="Google Shape;467;p18"/>
          <p:cNvSpPr txBox="1"/>
          <p:nvPr/>
        </p:nvSpPr>
        <p:spPr>
          <a:xfrm>
            <a:off x="9462447" y="4247306"/>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4</a:t>
            </a:r>
            <a:endParaRPr/>
          </a:p>
        </p:txBody>
      </p:sp>
      <p:sp>
        <p:nvSpPr>
          <p:cNvPr id="468" name="Google Shape;468;p18"/>
          <p:cNvSpPr txBox="1"/>
          <p:nvPr/>
        </p:nvSpPr>
        <p:spPr>
          <a:xfrm>
            <a:off x="10297135" y="4334119"/>
            <a:ext cx="2662274" cy="90900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Consulta de reportes históricos</a:t>
            </a:r>
            <a:endParaRPr/>
          </a:p>
          <a:p>
            <a:pPr indent="0" lvl="0" marL="0" marR="0" rtl="0" algn="ctr">
              <a:lnSpc>
                <a:spcPct val="110000"/>
              </a:lnSpc>
              <a:spcBef>
                <a:spcPts val="0"/>
              </a:spcBef>
              <a:spcAft>
                <a:spcPts val="0"/>
              </a:spcAft>
              <a:buNone/>
            </a:pPr>
            <a:r>
              <a:t/>
            </a:r>
            <a:endParaRPr b="1" i="0" sz="2160" u="none" cap="none" strike="noStrike">
              <a:solidFill>
                <a:srgbClr val="336BE4"/>
              </a:solidFill>
              <a:latin typeface="Arial"/>
              <a:ea typeface="Arial"/>
              <a:cs typeface="Arial"/>
              <a:sym typeface="Arial"/>
            </a:endParaRPr>
          </a:p>
        </p:txBody>
      </p:sp>
      <p:sp>
        <p:nvSpPr>
          <p:cNvPr id="469" name="Google Shape;469;p18"/>
          <p:cNvSpPr txBox="1"/>
          <p:nvPr/>
        </p:nvSpPr>
        <p:spPr>
          <a:xfrm>
            <a:off x="14070530" y="6388380"/>
            <a:ext cx="2656768" cy="59885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Historias de Usuario</a:t>
            </a:r>
            <a:endParaRPr/>
          </a:p>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presentes en el Sprint</a:t>
            </a:r>
            <a:endParaRPr/>
          </a:p>
        </p:txBody>
      </p:sp>
      <p:sp>
        <p:nvSpPr>
          <p:cNvPr id="470" name="Google Shape;470;p18"/>
          <p:cNvSpPr txBox="1"/>
          <p:nvPr/>
        </p:nvSpPr>
        <p:spPr>
          <a:xfrm>
            <a:off x="14081584" y="7282120"/>
            <a:ext cx="2645715" cy="2370284"/>
          </a:xfrm>
          <a:prstGeom prst="rect">
            <a:avLst/>
          </a:prstGeom>
          <a:noFill/>
          <a:ln>
            <a:noFill/>
          </a:ln>
        </p:spPr>
        <p:txBody>
          <a:bodyPr anchorCtr="0" anchor="t" bIns="0" lIns="0" spcFirstLastPara="1" rIns="0" wrap="square" tIns="0">
            <a:spAutoFit/>
          </a:bodyPr>
          <a:lstStyle/>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HU001</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HU004</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HU007</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HU010</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HU0018</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HU0019</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HU0021</a:t>
            </a:r>
            <a:endParaRPr/>
          </a:p>
          <a:p>
            <a:pPr indent="0" lvl="0" marL="0" marR="0" rtl="0" algn="ctr">
              <a:lnSpc>
                <a:spcPct val="110000"/>
              </a:lnSpc>
              <a:spcBef>
                <a:spcPts val="0"/>
              </a:spcBef>
              <a:spcAft>
                <a:spcPts val="0"/>
              </a:spcAft>
              <a:buNone/>
            </a:pPr>
            <a:r>
              <a:t/>
            </a:r>
            <a:endParaRPr b="1" i="0" sz="2160" u="none" cap="none" strike="noStrike">
              <a:solidFill>
                <a:srgbClr val="336BE4"/>
              </a:solidFill>
              <a:latin typeface="Arial"/>
              <a:ea typeface="Arial"/>
              <a:cs typeface="Arial"/>
              <a:sym typeface="Arial"/>
            </a:endParaRPr>
          </a:p>
        </p:txBody>
      </p:sp>
      <p:sp>
        <p:nvSpPr>
          <p:cNvPr id="471" name="Google Shape;471;p18"/>
          <p:cNvSpPr/>
          <p:nvPr/>
        </p:nvSpPr>
        <p:spPr>
          <a:xfrm>
            <a:off x="9127608" y="7227085"/>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72" name="Google Shape;472;p18"/>
          <p:cNvSpPr txBox="1"/>
          <p:nvPr/>
        </p:nvSpPr>
        <p:spPr>
          <a:xfrm>
            <a:off x="9462440" y="7352358"/>
            <a:ext cx="261739" cy="614164"/>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6</a:t>
            </a:r>
            <a:endParaRPr/>
          </a:p>
        </p:txBody>
      </p:sp>
      <p:sp>
        <p:nvSpPr>
          <p:cNvPr id="473" name="Google Shape;473;p18"/>
          <p:cNvSpPr txBox="1"/>
          <p:nvPr/>
        </p:nvSpPr>
        <p:spPr>
          <a:xfrm>
            <a:off x="10299898" y="7428558"/>
            <a:ext cx="3195941" cy="338870"/>
          </a:xfrm>
          <a:prstGeom prst="rect">
            <a:avLst/>
          </a:prstGeom>
          <a:noFill/>
          <a:ln>
            <a:noFill/>
          </a:ln>
        </p:spPr>
        <p:txBody>
          <a:bodyPr anchorCtr="0" anchor="t" bIns="0" lIns="0" spcFirstLastPara="1" rIns="0" wrap="square" tIns="0">
            <a:spAutoFit/>
          </a:bodyPr>
          <a:lstStyle/>
          <a:p>
            <a:pPr indent="0" lvl="0" marL="0" marR="0" rtl="0" algn="ctr">
              <a:lnSpc>
                <a:spcPct val="110013"/>
              </a:lnSpc>
              <a:spcBef>
                <a:spcPts val="0"/>
              </a:spcBef>
              <a:spcAft>
                <a:spcPts val="0"/>
              </a:spcAft>
              <a:buNone/>
            </a:pPr>
            <a:r>
              <a:rPr b="1" i="0" lang="en-US" sz="2297" u="none" cap="none" strike="noStrike">
                <a:solidFill>
                  <a:srgbClr val="336BE4"/>
                </a:solidFill>
                <a:latin typeface="Arial"/>
                <a:ea typeface="Arial"/>
                <a:cs typeface="Arial"/>
                <a:sym typeface="Arial"/>
              </a:rPr>
              <a:t>Creación Base de Datos</a:t>
            </a:r>
            <a:endParaRPr/>
          </a:p>
        </p:txBody>
      </p:sp>
      <p:sp>
        <p:nvSpPr>
          <p:cNvPr id="474" name="Google Shape;474;p18"/>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9"/>
          <p:cNvSpPr/>
          <p:nvPr/>
        </p:nvSpPr>
        <p:spPr>
          <a:xfrm>
            <a:off x="4233886" y="4122032"/>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80" name="Google Shape;480;p19"/>
          <p:cNvSpPr txBox="1"/>
          <p:nvPr/>
        </p:nvSpPr>
        <p:spPr>
          <a:xfrm>
            <a:off x="2291100" y="357800"/>
            <a:ext cx="142329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10 SPRINTS E HISTORIAS DE USUARIOS</a:t>
            </a:r>
            <a:endParaRPr/>
          </a:p>
        </p:txBody>
      </p:sp>
      <p:sp>
        <p:nvSpPr>
          <p:cNvPr id="481" name="Google Shape;481;p19"/>
          <p:cNvSpPr txBox="1"/>
          <p:nvPr/>
        </p:nvSpPr>
        <p:spPr>
          <a:xfrm>
            <a:off x="1191799" y="1746950"/>
            <a:ext cx="40776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SPRINT 2</a:t>
            </a:r>
            <a:endParaRPr/>
          </a:p>
        </p:txBody>
      </p:sp>
      <p:sp>
        <p:nvSpPr>
          <p:cNvPr id="482" name="Google Shape;482;p19"/>
          <p:cNvSpPr txBox="1"/>
          <p:nvPr/>
        </p:nvSpPr>
        <p:spPr>
          <a:xfrm>
            <a:off x="11441202" y="1986678"/>
            <a:ext cx="4563520" cy="296429"/>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080" u="none" cap="none" strike="noStrike">
                <a:solidFill>
                  <a:srgbClr val="336BE4"/>
                </a:solidFill>
                <a:latin typeface="Arial"/>
                <a:ea typeface="Arial"/>
                <a:cs typeface="Arial"/>
                <a:sym typeface="Arial"/>
              </a:rPr>
              <a:t>Duración 3 semanas (13/10 - 31/10)</a:t>
            </a:r>
            <a:endParaRPr/>
          </a:p>
        </p:txBody>
      </p:sp>
      <p:sp>
        <p:nvSpPr>
          <p:cNvPr id="483" name="Google Shape;483;p19"/>
          <p:cNvSpPr txBox="1"/>
          <p:nvPr/>
        </p:nvSpPr>
        <p:spPr>
          <a:xfrm>
            <a:off x="0" y="2570465"/>
            <a:ext cx="5361701" cy="1858946"/>
          </a:xfrm>
          <a:prstGeom prst="rect">
            <a:avLst/>
          </a:prstGeom>
          <a:noFill/>
          <a:ln>
            <a:noFill/>
          </a:ln>
        </p:spPr>
        <p:txBody>
          <a:bodyPr anchorCtr="0" anchor="t" bIns="0" lIns="0" spcFirstLastPara="1" rIns="0" wrap="square" tIns="0">
            <a:spAutoFit/>
          </a:bodyPr>
          <a:lstStyle/>
          <a:p>
            <a:pPr indent="0" lvl="0" marL="0" marR="0" rtl="0" algn="ctr">
              <a:lnSpc>
                <a:spcPct val="109968"/>
              </a:lnSpc>
              <a:spcBef>
                <a:spcPts val="0"/>
              </a:spcBef>
              <a:spcAft>
                <a:spcPts val="0"/>
              </a:spcAft>
              <a:buNone/>
            </a:pPr>
            <a:r>
              <a:rPr b="1" i="0" lang="en-US" sz="1906" u="none" cap="none" strike="noStrike">
                <a:solidFill>
                  <a:srgbClr val="336BE4"/>
                </a:solidFill>
                <a:latin typeface="Arial"/>
                <a:ea typeface="Arial"/>
                <a:cs typeface="Arial"/>
                <a:sym typeface="Arial"/>
              </a:rPr>
              <a:t>Configurar dashboard, exportar patrones/reportes, alertas históricas y login admin.</a:t>
            </a:r>
            <a:endParaRPr/>
          </a:p>
          <a:p>
            <a:pPr indent="0" lvl="0" marL="0" marR="0" rtl="0" algn="ctr">
              <a:lnSpc>
                <a:spcPct val="109968"/>
              </a:lnSpc>
              <a:spcBef>
                <a:spcPts val="0"/>
              </a:spcBef>
              <a:spcAft>
                <a:spcPts val="0"/>
              </a:spcAft>
              <a:buNone/>
            </a:pPr>
            <a:r>
              <a:t/>
            </a:r>
            <a:endParaRPr b="1" i="0" sz="1906" u="none" cap="none" strike="noStrike">
              <a:solidFill>
                <a:srgbClr val="336BE4"/>
              </a:solidFill>
              <a:latin typeface="Arial"/>
              <a:ea typeface="Arial"/>
              <a:cs typeface="Arial"/>
              <a:sym typeface="Arial"/>
            </a:endParaRPr>
          </a:p>
          <a:p>
            <a:pPr indent="0" lvl="0" marL="0" marR="0" rtl="0" algn="ctr">
              <a:lnSpc>
                <a:spcPct val="109968"/>
              </a:lnSpc>
              <a:spcBef>
                <a:spcPts val="0"/>
              </a:spcBef>
              <a:spcAft>
                <a:spcPts val="0"/>
              </a:spcAft>
              <a:buNone/>
            </a:pPr>
            <a:r>
              <a:t/>
            </a:r>
            <a:endParaRPr b="1" i="0" sz="1906" u="none" cap="none" strike="noStrike">
              <a:solidFill>
                <a:srgbClr val="336BE4"/>
              </a:solidFill>
              <a:latin typeface="Arial"/>
              <a:ea typeface="Arial"/>
              <a:cs typeface="Arial"/>
              <a:sym typeface="Arial"/>
            </a:endParaRPr>
          </a:p>
          <a:p>
            <a:pPr indent="0" lvl="0" marL="0" marR="0" rtl="0" algn="ctr">
              <a:lnSpc>
                <a:spcPct val="109968"/>
              </a:lnSpc>
              <a:spcBef>
                <a:spcPts val="0"/>
              </a:spcBef>
              <a:spcAft>
                <a:spcPts val="0"/>
              </a:spcAft>
              <a:buNone/>
            </a:pPr>
            <a:r>
              <a:t/>
            </a:r>
            <a:endParaRPr b="1" i="0" sz="1906" u="none" cap="none" strike="noStrike">
              <a:solidFill>
                <a:srgbClr val="336BE4"/>
              </a:solidFill>
              <a:latin typeface="Arial"/>
              <a:ea typeface="Arial"/>
              <a:cs typeface="Arial"/>
              <a:sym typeface="Arial"/>
            </a:endParaRPr>
          </a:p>
          <a:p>
            <a:pPr indent="0" lvl="0" marL="0" marR="0" rtl="0" algn="ctr">
              <a:lnSpc>
                <a:spcPct val="109968"/>
              </a:lnSpc>
              <a:spcBef>
                <a:spcPts val="0"/>
              </a:spcBef>
              <a:spcAft>
                <a:spcPts val="0"/>
              </a:spcAft>
              <a:buNone/>
            </a:pPr>
            <a:r>
              <a:t/>
            </a:r>
            <a:endParaRPr b="1" i="0" sz="1906" u="none" cap="none" strike="noStrike">
              <a:solidFill>
                <a:srgbClr val="336BE4"/>
              </a:solidFill>
              <a:latin typeface="Arial"/>
              <a:ea typeface="Arial"/>
              <a:cs typeface="Arial"/>
              <a:sym typeface="Arial"/>
            </a:endParaRPr>
          </a:p>
        </p:txBody>
      </p:sp>
      <p:sp>
        <p:nvSpPr>
          <p:cNvPr id="484" name="Google Shape;484;p19"/>
          <p:cNvSpPr txBox="1"/>
          <p:nvPr/>
        </p:nvSpPr>
        <p:spPr>
          <a:xfrm>
            <a:off x="4568725" y="4247306"/>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1</a:t>
            </a:r>
            <a:endParaRPr/>
          </a:p>
        </p:txBody>
      </p:sp>
      <p:sp>
        <p:nvSpPr>
          <p:cNvPr id="485" name="Google Shape;485;p19"/>
          <p:cNvSpPr txBox="1"/>
          <p:nvPr/>
        </p:nvSpPr>
        <p:spPr>
          <a:xfrm>
            <a:off x="5361701" y="4334119"/>
            <a:ext cx="3483308" cy="30365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Configuración de dashboard</a:t>
            </a:r>
            <a:endParaRPr/>
          </a:p>
        </p:txBody>
      </p:sp>
      <p:sp>
        <p:nvSpPr>
          <p:cNvPr id="486" name="Google Shape;486;p19"/>
          <p:cNvSpPr/>
          <p:nvPr/>
        </p:nvSpPr>
        <p:spPr>
          <a:xfrm>
            <a:off x="4233886" y="5676558"/>
            <a:ext cx="931401" cy="931401"/>
          </a:xfrm>
          <a:custGeom>
            <a:rect b="b" l="l" r="r" t="t"/>
            <a:pathLst>
              <a:path extrusionOk="0" h="931401" w="931401">
                <a:moveTo>
                  <a:pt x="0" y="0"/>
                </a:moveTo>
                <a:lnTo>
                  <a:pt x="931402" y="0"/>
                </a:lnTo>
                <a:lnTo>
                  <a:pt x="931402" y="931402"/>
                </a:lnTo>
                <a:lnTo>
                  <a:pt x="0" y="931402"/>
                </a:lnTo>
                <a:lnTo>
                  <a:pt x="0" y="0"/>
                </a:lnTo>
                <a:close/>
              </a:path>
            </a:pathLst>
          </a:custGeom>
          <a:blipFill rotWithShape="1">
            <a:blip r:embed="rId3">
              <a:alphaModFix/>
            </a:blip>
            <a:stretch>
              <a:fillRect b="0" l="0" r="0" t="0"/>
            </a:stretch>
          </a:blipFill>
          <a:ln>
            <a:noFill/>
          </a:ln>
        </p:spPr>
      </p:sp>
      <p:sp>
        <p:nvSpPr>
          <p:cNvPr id="487" name="Google Shape;487;p19"/>
          <p:cNvSpPr txBox="1"/>
          <p:nvPr/>
        </p:nvSpPr>
        <p:spPr>
          <a:xfrm>
            <a:off x="4568725" y="5801832"/>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2</a:t>
            </a:r>
            <a:endParaRPr/>
          </a:p>
        </p:txBody>
      </p:sp>
      <p:sp>
        <p:nvSpPr>
          <p:cNvPr id="488" name="Google Shape;488;p19"/>
          <p:cNvSpPr txBox="1"/>
          <p:nvPr/>
        </p:nvSpPr>
        <p:spPr>
          <a:xfrm>
            <a:off x="5406175" y="6001700"/>
            <a:ext cx="3330476" cy="30365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Exportar patrones en CSV</a:t>
            </a:r>
            <a:endParaRPr/>
          </a:p>
        </p:txBody>
      </p:sp>
      <p:sp>
        <p:nvSpPr>
          <p:cNvPr id="489" name="Google Shape;489;p19"/>
          <p:cNvSpPr/>
          <p:nvPr/>
        </p:nvSpPr>
        <p:spPr>
          <a:xfrm>
            <a:off x="9127608" y="5676558"/>
            <a:ext cx="931401" cy="931401"/>
          </a:xfrm>
          <a:custGeom>
            <a:rect b="b" l="l" r="r" t="t"/>
            <a:pathLst>
              <a:path extrusionOk="0" h="931401" w="931401">
                <a:moveTo>
                  <a:pt x="0" y="0"/>
                </a:moveTo>
                <a:lnTo>
                  <a:pt x="931402" y="0"/>
                </a:lnTo>
                <a:lnTo>
                  <a:pt x="931402" y="931402"/>
                </a:lnTo>
                <a:lnTo>
                  <a:pt x="0" y="931402"/>
                </a:lnTo>
                <a:lnTo>
                  <a:pt x="0" y="0"/>
                </a:lnTo>
                <a:close/>
              </a:path>
            </a:pathLst>
          </a:custGeom>
          <a:blipFill rotWithShape="1">
            <a:blip r:embed="rId3">
              <a:alphaModFix/>
            </a:blip>
            <a:stretch>
              <a:fillRect b="0" l="0" r="0" t="0"/>
            </a:stretch>
          </a:blipFill>
          <a:ln>
            <a:noFill/>
          </a:ln>
        </p:spPr>
      </p:sp>
      <p:sp>
        <p:nvSpPr>
          <p:cNvPr id="490" name="Google Shape;490;p19"/>
          <p:cNvSpPr txBox="1"/>
          <p:nvPr/>
        </p:nvSpPr>
        <p:spPr>
          <a:xfrm>
            <a:off x="9462447" y="5801832"/>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5</a:t>
            </a:r>
            <a:endParaRPr/>
          </a:p>
        </p:txBody>
      </p:sp>
      <p:sp>
        <p:nvSpPr>
          <p:cNvPr id="491" name="Google Shape;491;p19"/>
          <p:cNvSpPr txBox="1"/>
          <p:nvPr/>
        </p:nvSpPr>
        <p:spPr>
          <a:xfrm>
            <a:off x="10297135" y="5904724"/>
            <a:ext cx="2739334" cy="30365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Login administrador</a:t>
            </a:r>
            <a:endParaRPr/>
          </a:p>
        </p:txBody>
      </p:sp>
      <p:sp>
        <p:nvSpPr>
          <p:cNvPr id="492" name="Google Shape;492;p19"/>
          <p:cNvSpPr/>
          <p:nvPr/>
        </p:nvSpPr>
        <p:spPr>
          <a:xfrm>
            <a:off x="4233886" y="7227085"/>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93" name="Google Shape;493;p19"/>
          <p:cNvSpPr txBox="1"/>
          <p:nvPr/>
        </p:nvSpPr>
        <p:spPr>
          <a:xfrm>
            <a:off x="4568725" y="7352358"/>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3</a:t>
            </a:r>
            <a:endParaRPr/>
          </a:p>
        </p:txBody>
      </p:sp>
      <p:sp>
        <p:nvSpPr>
          <p:cNvPr id="494" name="Google Shape;494;p19"/>
          <p:cNvSpPr txBox="1"/>
          <p:nvPr/>
        </p:nvSpPr>
        <p:spPr>
          <a:xfrm>
            <a:off x="5406175" y="7438083"/>
            <a:ext cx="3721433" cy="30365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Exportar informes históricos</a:t>
            </a:r>
            <a:endParaRPr/>
          </a:p>
        </p:txBody>
      </p:sp>
      <p:sp>
        <p:nvSpPr>
          <p:cNvPr id="495" name="Google Shape;495;p19"/>
          <p:cNvSpPr/>
          <p:nvPr/>
        </p:nvSpPr>
        <p:spPr>
          <a:xfrm>
            <a:off x="9127608" y="4122032"/>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496" name="Google Shape;496;p19"/>
          <p:cNvSpPr txBox="1"/>
          <p:nvPr/>
        </p:nvSpPr>
        <p:spPr>
          <a:xfrm>
            <a:off x="9462447" y="4247306"/>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4</a:t>
            </a:r>
            <a:endParaRPr/>
          </a:p>
        </p:txBody>
      </p:sp>
      <p:sp>
        <p:nvSpPr>
          <p:cNvPr id="497" name="Google Shape;497;p19"/>
          <p:cNvSpPr txBox="1"/>
          <p:nvPr/>
        </p:nvSpPr>
        <p:spPr>
          <a:xfrm>
            <a:off x="10297135" y="4334119"/>
            <a:ext cx="2662274" cy="30859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Apartado de alertas</a:t>
            </a:r>
            <a:endParaRPr/>
          </a:p>
        </p:txBody>
      </p:sp>
      <p:sp>
        <p:nvSpPr>
          <p:cNvPr id="498" name="Google Shape;498;p19"/>
          <p:cNvSpPr txBox="1"/>
          <p:nvPr/>
        </p:nvSpPr>
        <p:spPr>
          <a:xfrm>
            <a:off x="14070530" y="6503859"/>
            <a:ext cx="2656768" cy="59885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Historias de Usuario</a:t>
            </a:r>
            <a:endParaRPr/>
          </a:p>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presentes en el Sprint</a:t>
            </a:r>
            <a:endParaRPr/>
          </a:p>
        </p:txBody>
      </p:sp>
      <p:sp>
        <p:nvSpPr>
          <p:cNvPr id="499" name="Google Shape;499;p19"/>
          <p:cNvSpPr txBox="1"/>
          <p:nvPr/>
        </p:nvSpPr>
        <p:spPr>
          <a:xfrm>
            <a:off x="13813929" y="7514100"/>
            <a:ext cx="3169971" cy="1484571"/>
          </a:xfrm>
          <a:prstGeom prst="rect">
            <a:avLst/>
          </a:prstGeom>
          <a:noFill/>
          <a:ln>
            <a:noFill/>
          </a:ln>
        </p:spPr>
        <p:txBody>
          <a:bodyPr anchorCtr="0" anchor="t" bIns="0" lIns="0" spcFirstLastPara="1" rIns="0" wrap="square" tIns="0">
            <a:spAutoFit/>
          </a:bodyPr>
          <a:lstStyle/>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HU003</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HU009</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HU011</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HU015</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HU017</a:t>
            </a:r>
            <a:endParaRPr/>
          </a:p>
        </p:txBody>
      </p:sp>
      <p:sp>
        <p:nvSpPr>
          <p:cNvPr id="500" name="Google Shape;500;p19"/>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0"/>
          <p:cNvSpPr/>
          <p:nvPr/>
        </p:nvSpPr>
        <p:spPr>
          <a:xfrm>
            <a:off x="4233886" y="4122032"/>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506" name="Google Shape;506;p20"/>
          <p:cNvSpPr txBox="1"/>
          <p:nvPr/>
        </p:nvSpPr>
        <p:spPr>
          <a:xfrm>
            <a:off x="2291100" y="357800"/>
            <a:ext cx="141600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10 SPRINTS E HISTORIAS DE USUARIOS</a:t>
            </a:r>
            <a:endParaRPr/>
          </a:p>
        </p:txBody>
      </p:sp>
      <p:sp>
        <p:nvSpPr>
          <p:cNvPr id="507" name="Google Shape;507;p20"/>
          <p:cNvSpPr txBox="1"/>
          <p:nvPr/>
        </p:nvSpPr>
        <p:spPr>
          <a:xfrm>
            <a:off x="1191800" y="1746950"/>
            <a:ext cx="37338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SPRINT 3</a:t>
            </a:r>
            <a:endParaRPr/>
          </a:p>
        </p:txBody>
      </p:sp>
      <p:sp>
        <p:nvSpPr>
          <p:cNvPr id="508" name="Google Shape;508;p20"/>
          <p:cNvSpPr txBox="1"/>
          <p:nvPr/>
        </p:nvSpPr>
        <p:spPr>
          <a:xfrm>
            <a:off x="11441202" y="1986678"/>
            <a:ext cx="4563520" cy="296429"/>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080" u="none" cap="none" strike="noStrike">
                <a:solidFill>
                  <a:srgbClr val="336BE4"/>
                </a:solidFill>
                <a:latin typeface="Arial"/>
                <a:ea typeface="Arial"/>
                <a:cs typeface="Arial"/>
                <a:sym typeface="Arial"/>
              </a:rPr>
              <a:t>Duración 2 semanas (03/11 - 14/11)</a:t>
            </a:r>
            <a:endParaRPr/>
          </a:p>
        </p:txBody>
      </p:sp>
      <p:sp>
        <p:nvSpPr>
          <p:cNvPr id="509" name="Google Shape;509;p20"/>
          <p:cNvSpPr txBox="1"/>
          <p:nvPr/>
        </p:nvSpPr>
        <p:spPr>
          <a:xfrm>
            <a:off x="443511" y="2570502"/>
            <a:ext cx="4538666" cy="799638"/>
          </a:xfrm>
          <a:prstGeom prst="rect">
            <a:avLst/>
          </a:prstGeom>
          <a:noFill/>
          <a:ln>
            <a:noFill/>
          </a:ln>
        </p:spPr>
        <p:txBody>
          <a:bodyPr anchorCtr="0" anchor="t" bIns="0" lIns="0" spcFirstLastPara="1" rIns="0" wrap="square" tIns="0">
            <a:spAutoFit/>
          </a:bodyPr>
          <a:lstStyle/>
          <a:p>
            <a:pPr indent="0" lvl="0" marL="0" marR="0" rtl="0" algn="ctr">
              <a:lnSpc>
                <a:spcPct val="109968"/>
              </a:lnSpc>
              <a:spcBef>
                <a:spcPts val="0"/>
              </a:spcBef>
              <a:spcAft>
                <a:spcPts val="0"/>
              </a:spcAft>
              <a:buNone/>
            </a:pPr>
            <a:r>
              <a:rPr b="1" i="0" lang="en-US" sz="1906" u="none" cap="none" strike="noStrike">
                <a:solidFill>
                  <a:srgbClr val="336BE4"/>
                </a:solidFill>
                <a:latin typeface="Arial"/>
                <a:ea typeface="Arial"/>
                <a:cs typeface="Arial"/>
                <a:sym typeface="Arial"/>
              </a:rPr>
              <a:t>Filtros de fechas, estadísticas en gráficos, interactividad avanzada, outliers y reportes</a:t>
            </a:r>
            <a:endParaRPr/>
          </a:p>
        </p:txBody>
      </p:sp>
      <p:sp>
        <p:nvSpPr>
          <p:cNvPr id="510" name="Google Shape;510;p20"/>
          <p:cNvSpPr txBox="1"/>
          <p:nvPr/>
        </p:nvSpPr>
        <p:spPr>
          <a:xfrm>
            <a:off x="4568725" y="4247306"/>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1</a:t>
            </a:r>
            <a:endParaRPr/>
          </a:p>
        </p:txBody>
      </p:sp>
      <p:sp>
        <p:nvSpPr>
          <p:cNvPr id="511" name="Google Shape;511;p20"/>
          <p:cNvSpPr txBox="1"/>
          <p:nvPr/>
        </p:nvSpPr>
        <p:spPr>
          <a:xfrm>
            <a:off x="5406175" y="4334119"/>
            <a:ext cx="2995637" cy="598932"/>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Filtro por fechas en dashboard</a:t>
            </a:r>
            <a:endParaRPr/>
          </a:p>
        </p:txBody>
      </p:sp>
      <p:sp>
        <p:nvSpPr>
          <p:cNvPr id="512" name="Google Shape;512;p20"/>
          <p:cNvSpPr/>
          <p:nvPr/>
        </p:nvSpPr>
        <p:spPr>
          <a:xfrm>
            <a:off x="4233886" y="5676558"/>
            <a:ext cx="931401" cy="931401"/>
          </a:xfrm>
          <a:custGeom>
            <a:rect b="b" l="l" r="r" t="t"/>
            <a:pathLst>
              <a:path extrusionOk="0" h="931401" w="931401">
                <a:moveTo>
                  <a:pt x="0" y="0"/>
                </a:moveTo>
                <a:lnTo>
                  <a:pt x="931402" y="0"/>
                </a:lnTo>
                <a:lnTo>
                  <a:pt x="931402" y="931402"/>
                </a:lnTo>
                <a:lnTo>
                  <a:pt x="0" y="931402"/>
                </a:lnTo>
                <a:lnTo>
                  <a:pt x="0" y="0"/>
                </a:lnTo>
                <a:close/>
              </a:path>
            </a:pathLst>
          </a:custGeom>
          <a:blipFill rotWithShape="1">
            <a:blip r:embed="rId3">
              <a:alphaModFix/>
            </a:blip>
            <a:stretch>
              <a:fillRect b="0" l="0" r="0" t="0"/>
            </a:stretch>
          </a:blipFill>
          <a:ln>
            <a:noFill/>
          </a:ln>
        </p:spPr>
      </p:sp>
      <p:sp>
        <p:nvSpPr>
          <p:cNvPr id="513" name="Google Shape;513;p20"/>
          <p:cNvSpPr txBox="1"/>
          <p:nvPr/>
        </p:nvSpPr>
        <p:spPr>
          <a:xfrm>
            <a:off x="4568725" y="5801832"/>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2</a:t>
            </a:r>
            <a:endParaRPr/>
          </a:p>
        </p:txBody>
      </p:sp>
      <p:sp>
        <p:nvSpPr>
          <p:cNvPr id="514" name="Google Shape;514;p20"/>
          <p:cNvSpPr txBox="1"/>
          <p:nvPr/>
        </p:nvSpPr>
        <p:spPr>
          <a:xfrm>
            <a:off x="5406175" y="6001700"/>
            <a:ext cx="3330476" cy="30365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Estadísticas en gráficos</a:t>
            </a:r>
            <a:endParaRPr/>
          </a:p>
        </p:txBody>
      </p:sp>
      <p:sp>
        <p:nvSpPr>
          <p:cNvPr id="515" name="Google Shape;515;p20"/>
          <p:cNvSpPr/>
          <p:nvPr/>
        </p:nvSpPr>
        <p:spPr>
          <a:xfrm>
            <a:off x="9127608" y="5676558"/>
            <a:ext cx="931401" cy="931401"/>
          </a:xfrm>
          <a:custGeom>
            <a:rect b="b" l="l" r="r" t="t"/>
            <a:pathLst>
              <a:path extrusionOk="0" h="931401" w="931401">
                <a:moveTo>
                  <a:pt x="0" y="0"/>
                </a:moveTo>
                <a:lnTo>
                  <a:pt x="931402" y="0"/>
                </a:lnTo>
                <a:lnTo>
                  <a:pt x="931402" y="931402"/>
                </a:lnTo>
                <a:lnTo>
                  <a:pt x="0" y="931402"/>
                </a:lnTo>
                <a:lnTo>
                  <a:pt x="0" y="0"/>
                </a:lnTo>
                <a:close/>
              </a:path>
            </a:pathLst>
          </a:custGeom>
          <a:blipFill rotWithShape="1">
            <a:blip r:embed="rId3">
              <a:alphaModFix/>
            </a:blip>
            <a:stretch>
              <a:fillRect b="0" l="0" r="0" t="0"/>
            </a:stretch>
          </a:blipFill>
          <a:ln>
            <a:noFill/>
          </a:ln>
        </p:spPr>
      </p:sp>
      <p:sp>
        <p:nvSpPr>
          <p:cNvPr id="516" name="Google Shape;516;p20"/>
          <p:cNvSpPr txBox="1"/>
          <p:nvPr/>
        </p:nvSpPr>
        <p:spPr>
          <a:xfrm>
            <a:off x="9462447" y="5801832"/>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5</a:t>
            </a:r>
            <a:endParaRPr/>
          </a:p>
        </p:txBody>
      </p:sp>
      <p:sp>
        <p:nvSpPr>
          <p:cNvPr id="517" name="Google Shape;517;p20"/>
          <p:cNvSpPr txBox="1"/>
          <p:nvPr/>
        </p:nvSpPr>
        <p:spPr>
          <a:xfrm>
            <a:off x="10297135" y="5904724"/>
            <a:ext cx="2739334" cy="598932"/>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Reportes personalizados</a:t>
            </a:r>
            <a:endParaRPr/>
          </a:p>
        </p:txBody>
      </p:sp>
      <p:sp>
        <p:nvSpPr>
          <p:cNvPr id="518" name="Google Shape;518;p20"/>
          <p:cNvSpPr/>
          <p:nvPr/>
        </p:nvSpPr>
        <p:spPr>
          <a:xfrm>
            <a:off x="4233886" y="7227085"/>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519" name="Google Shape;519;p20"/>
          <p:cNvSpPr txBox="1"/>
          <p:nvPr/>
        </p:nvSpPr>
        <p:spPr>
          <a:xfrm>
            <a:off x="4568725" y="7352358"/>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3</a:t>
            </a:r>
            <a:endParaRPr/>
          </a:p>
        </p:txBody>
      </p:sp>
      <p:sp>
        <p:nvSpPr>
          <p:cNvPr id="520" name="Google Shape;520;p20"/>
          <p:cNvSpPr txBox="1"/>
          <p:nvPr/>
        </p:nvSpPr>
        <p:spPr>
          <a:xfrm>
            <a:off x="5406175" y="7438083"/>
            <a:ext cx="3195941" cy="30365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Dashboard interactivo</a:t>
            </a:r>
            <a:endParaRPr/>
          </a:p>
        </p:txBody>
      </p:sp>
      <p:sp>
        <p:nvSpPr>
          <p:cNvPr id="521" name="Google Shape;521;p20"/>
          <p:cNvSpPr/>
          <p:nvPr/>
        </p:nvSpPr>
        <p:spPr>
          <a:xfrm>
            <a:off x="9127608" y="4122032"/>
            <a:ext cx="931401" cy="931401"/>
          </a:xfrm>
          <a:custGeom>
            <a:rect b="b" l="l" r="r" t="t"/>
            <a:pathLst>
              <a:path extrusionOk="0" h="931401" w="931401">
                <a:moveTo>
                  <a:pt x="0" y="0"/>
                </a:moveTo>
                <a:lnTo>
                  <a:pt x="931402" y="0"/>
                </a:lnTo>
                <a:lnTo>
                  <a:pt x="931402" y="931401"/>
                </a:lnTo>
                <a:lnTo>
                  <a:pt x="0" y="931401"/>
                </a:lnTo>
                <a:lnTo>
                  <a:pt x="0" y="0"/>
                </a:lnTo>
                <a:close/>
              </a:path>
            </a:pathLst>
          </a:custGeom>
          <a:blipFill rotWithShape="1">
            <a:blip r:embed="rId3">
              <a:alphaModFix/>
            </a:blip>
            <a:stretch>
              <a:fillRect b="0" l="0" r="0" t="0"/>
            </a:stretch>
          </a:blipFill>
          <a:ln>
            <a:noFill/>
          </a:ln>
        </p:spPr>
      </p:sp>
      <p:sp>
        <p:nvSpPr>
          <p:cNvPr id="522" name="Google Shape;522;p20"/>
          <p:cNvSpPr txBox="1"/>
          <p:nvPr/>
        </p:nvSpPr>
        <p:spPr>
          <a:xfrm>
            <a:off x="9462447" y="4247306"/>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4</a:t>
            </a:r>
            <a:endParaRPr/>
          </a:p>
        </p:txBody>
      </p:sp>
      <p:sp>
        <p:nvSpPr>
          <p:cNvPr id="523" name="Google Shape;523;p20"/>
          <p:cNvSpPr txBox="1"/>
          <p:nvPr/>
        </p:nvSpPr>
        <p:spPr>
          <a:xfrm>
            <a:off x="10297135" y="4334119"/>
            <a:ext cx="2662274" cy="598932"/>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Resaltar valores atípicos</a:t>
            </a:r>
            <a:endParaRPr/>
          </a:p>
        </p:txBody>
      </p:sp>
      <p:sp>
        <p:nvSpPr>
          <p:cNvPr id="524" name="Google Shape;524;p20"/>
          <p:cNvSpPr txBox="1"/>
          <p:nvPr/>
        </p:nvSpPr>
        <p:spPr>
          <a:xfrm>
            <a:off x="14070530" y="6522706"/>
            <a:ext cx="2656768" cy="59885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Historias de Usuario</a:t>
            </a:r>
            <a:endParaRPr/>
          </a:p>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presentes en el Sprint</a:t>
            </a:r>
            <a:endParaRPr/>
          </a:p>
        </p:txBody>
      </p:sp>
      <p:sp>
        <p:nvSpPr>
          <p:cNvPr id="525" name="Google Shape;525;p20"/>
          <p:cNvSpPr txBox="1"/>
          <p:nvPr/>
        </p:nvSpPr>
        <p:spPr>
          <a:xfrm>
            <a:off x="13813929" y="7532947"/>
            <a:ext cx="3169971" cy="1484571"/>
          </a:xfrm>
          <a:prstGeom prst="rect">
            <a:avLst/>
          </a:prstGeom>
          <a:noFill/>
          <a:ln>
            <a:noFill/>
          </a:ln>
        </p:spPr>
        <p:txBody>
          <a:bodyPr anchorCtr="0" anchor="t" bIns="0" lIns="0" spcFirstLastPara="1" rIns="0" wrap="square" tIns="0">
            <a:spAutoFit/>
          </a:bodyPr>
          <a:lstStyle/>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HU002</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HU005</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HU006</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HU008</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HU012</a:t>
            </a:r>
            <a:endParaRPr/>
          </a:p>
        </p:txBody>
      </p:sp>
      <p:sp>
        <p:nvSpPr>
          <p:cNvPr id="526" name="Google Shape;526;p20"/>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21"/>
          <p:cNvSpPr/>
          <p:nvPr/>
        </p:nvSpPr>
        <p:spPr>
          <a:xfrm>
            <a:off x="4239021" y="4677799"/>
            <a:ext cx="931401" cy="931401"/>
          </a:xfrm>
          <a:custGeom>
            <a:rect b="b" l="l" r="r" t="t"/>
            <a:pathLst>
              <a:path extrusionOk="0" h="931401" w="931401">
                <a:moveTo>
                  <a:pt x="0" y="0"/>
                </a:moveTo>
                <a:lnTo>
                  <a:pt x="931402" y="0"/>
                </a:lnTo>
                <a:lnTo>
                  <a:pt x="931402" y="931402"/>
                </a:lnTo>
                <a:lnTo>
                  <a:pt x="0" y="931402"/>
                </a:lnTo>
                <a:lnTo>
                  <a:pt x="0" y="0"/>
                </a:lnTo>
                <a:close/>
              </a:path>
            </a:pathLst>
          </a:custGeom>
          <a:blipFill rotWithShape="1">
            <a:blip r:embed="rId3">
              <a:alphaModFix/>
            </a:blip>
            <a:stretch>
              <a:fillRect b="0" l="0" r="0" t="0"/>
            </a:stretch>
          </a:blipFill>
          <a:ln>
            <a:noFill/>
          </a:ln>
        </p:spPr>
      </p:sp>
      <p:sp>
        <p:nvSpPr>
          <p:cNvPr id="532" name="Google Shape;532;p21"/>
          <p:cNvSpPr txBox="1"/>
          <p:nvPr/>
        </p:nvSpPr>
        <p:spPr>
          <a:xfrm>
            <a:off x="2291100" y="357800"/>
            <a:ext cx="140802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10 SPRINTS E HISTORIAS DE USUARIOS</a:t>
            </a:r>
            <a:endParaRPr/>
          </a:p>
        </p:txBody>
      </p:sp>
      <p:sp>
        <p:nvSpPr>
          <p:cNvPr id="533" name="Google Shape;533;p21"/>
          <p:cNvSpPr txBox="1"/>
          <p:nvPr/>
        </p:nvSpPr>
        <p:spPr>
          <a:xfrm>
            <a:off x="1191799" y="1746950"/>
            <a:ext cx="39786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SPRINT 4</a:t>
            </a:r>
            <a:endParaRPr/>
          </a:p>
        </p:txBody>
      </p:sp>
      <p:sp>
        <p:nvSpPr>
          <p:cNvPr id="534" name="Google Shape;534;p21"/>
          <p:cNvSpPr txBox="1"/>
          <p:nvPr/>
        </p:nvSpPr>
        <p:spPr>
          <a:xfrm>
            <a:off x="11441202" y="1986678"/>
            <a:ext cx="4563520" cy="296429"/>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080" u="none" cap="none" strike="noStrike">
                <a:solidFill>
                  <a:srgbClr val="336BE4"/>
                </a:solidFill>
                <a:latin typeface="Arial"/>
                <a:ea typeface="Arial"/>
                <a:cs typeface="Arial"/>
                <a:sym typeface="Arial"/>
              </a:rPr>
              <a:t>Duración 1 semana (17/11 - 21/11)</a:t>
            </a:r>
            <a:endParaRPr/>
          </a:p>
        </p:txBody>
      </p:sp>
      <p:sp>
        <p:nvSpPr>
          <p:cNvPr id="535" name="Google Shape;535;p21"/>
          <p:cNvSpPr txBox="1"/>
          <p:nvPr/>
        </p:nvSpPr>
        <p:spPr>
          <a:xfrm>
            <a:off x="443511" y="2570502"/>
            <a:ext cx="4538666" cy="534811"/>
          </a:xfrm>
          <a:prstGeom prst="rect">
            <a:avLst/>
          </a:prstGeom>
          <a:noFill/>
          <a:ln>
            <a:noFill/>
          </a:ln>
        </p:spPr>
        <p:txBody>
          <a:bodyPr anchorCtr="0" anchor="t" bIns="0" lIns="0" spcFirstLastPara="1" rIns="0" wrap="square" tIns="0">
            <a:spAutoFit/>
          </a:bodyPr>
          <a:lstStyle/>
          <a:p>
            <a:pPr indent="0" lvl="0" marL="0" marR="0" rtl="0" algn="ctr">
              <a:lnSpc>
                <a:spcPct val="109968"/>
              </a:lnSpc>
              <a:spcBef>
                <a:spcPts val="0"/>
              </a:spcBef>
              <a:spcAft>
                <a:spcPts val="0"/>
              </a:spcAft>
              <a:buNone/>
            </a:pPr>
            <a:r>
              <a:rPr b="1" i="0" lang="en-US" sz="1906" u="none" cap="none" strike="noStrike">
                <a:solidFill>
                  <a:srgbClr val="336BE4"/>
                </a:solidFill>
                <a:latin typeface="Arial"/>
                <a:ea typeface="Arial"/>
                <a:cs typeface="Arial"/>
                <a:sym typeface="Arial"/>
              </a:rPr>
              <a:t>Medir el uso del sistema y exportarlo con control de acceso.</a:t>
            </a:r>
            <a:endParaRPr/>
          </a:p>
        </p:txBody>
      </p:sp>
      <p:sp>
        <p:nvSpPr>
          <p:cNvPr id="536" name="Google Shape;536;p21"/>
          <p:cNvSpPr txBox="1"/>
          <p:nvPr/>
        </p:nvSpPr>
        <p:spPr>
          <a:xfrm>
            <a:off x="4573860" y="4803073"/>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1</a:t>
            </a:r>
            <a:endParaRPr/>
          </a:p>
        </p:txBody>
      </p:sp>
      <p:sp>
        <p:nvSpPr>
          <p:cNvPr id="537" name="Google Shape;537;p21"/>
          <p:cNvSpPr txBox="1"/>
          <p:nvPr/>
        </p:nvSpPr>
        <p:spPr>
          <a:xfrm>
            <a:off x="5411311" y="4880362"/>
            <a:ext cx="2995637" cy="338870"/>
          </a:xfrm>
          <a:prstGeom prst="rect">
            <a:avLst/>
          </a:prstGeom>
          <a:noFill/>
          <a:ln>
            <a:noFill/>
          </a:ln>
        </p:spPr>
        <p:txBody>
          <a:bodyPr anchorCtr="0" anchor="t" bIns="0" lIns="0" spcFirstLastPara="1" rIns="0" wrap="square" tIns="0">
            <a:spAutoFit/>
          </a:bodyPr>
          <a:lstStyle/>
          <a:p>
            <a:pPr indent="0" lvl="0" marL="0" marR="0" rtl="0" algn="ctr">
              <a:lnSpc>
                <a:spcPct val="110013"/>
              </a:lnSpc>
              <a:spcBef>
                <a:spcPts val="0"/>
              </a:spcBef>
              <a:spcAft>
                <a:spcPts val="0"/>
              </a:spcAft>
              <a:buNone/>
            </a:pPr>
            <a:r>
              <a:rPr b="1" i="0" lang="en-US" sz="2297" u="none" cap="none" strike="noStrike">
                <a:solidFill>
                  <a:srgbClr val="336BE4"/>
                </a:solidFill>
                <a:latin typeface="Arial"/>
                <a:ea typeface="Arial"/>
                <a:cs typeface="Arial"/>
                <a:sym typeface="Arial"/>
              </a:rPr>
              <a:t>Visualización de visitas</a:t>
            </a:r>
            <a:endParaRPr/>
          </a:p>
        </p:txBody>
      </p:sp>
      <p:sp>
        <p:nvSpPr>
          <p:cNvPr id="538" name="Google Shape;538;p21"/>
          <p:cNvSpPr/>
          <p:nvPr/>
        </p:nvSpPr>
        <p:spPr>
          <a:xfrm>
            <a:off x="9132744" y="4677799"/>
            <a:ext cx="931401" cy="931401"/>
          </a:xfrm>
          <a:custGeom>
            <a:rect b="b" l="l" r="r" t="t"/>
            <a:pathLst>
              <a:path extrusionOk="0" h="931401" w="931401">
                <a:moveTo>
                  <a:pt x="0" y="0"/>
                </a:moveTo>
                <a:lnTo>
                  <a:pt x="931401" y="0"/>
                </a:lnTo>
                <a:lnTo>
                  <a:pt x="931401" y="931402"/>
                </a:lnTo>
                <a:lnTo>
                  <a:pt x="0" y="931402"/>
                </a:lnTo>
                <a:lnTo>
                  <a:pt x="0" y="0"/>
                </a:lnTo>
                <a:close/>
              </a:path>
            </a:pathLst>
          </a:custGeom>
          <a:blipFill rotWithShape="1">
            <a:blip r:embed="rId3">
              <a:alphaModFix/>
            </a:blip>
            <a:stretch>
              <a:fillRect b="0" l="0" r="0" t="0"/>
            </a:stretch>
          </a:blipFill>
          <a:ln>
            <a:noFill/>
          </a:ln>
        </p:spPr>
      </p:sp>
      <p:sp>
        <p:nvSpPr>
          <p:cNvPr id="539" name="Google Shape;539;p21"/>
          <p:cNvSpPr txBox="1"/>
          <p:nvPr/>
        </p:nvSpPr>
        <p:spPr>
          <a:xfrm>
            <a:off x="9467582" y="4803073"/>
            <a:ext cx="261724" cy="61417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609" u="none" cap="none" strike="noStrike">
                <a:solidFill>
                  <a:srgbClr val="336BE4"/>
                </a:solidFill>
                <a:latin typeface="Open Sans"/>
                <a:ea typeface="Open Sans"/>
                <a:cs typeface="Open Sans"/>
                <a:sym typeface="Open Sans"/>
              </a:rPr>
              <a:t>2</a:t>
            </a:r>
            <a:endParaRPr/>
          </a:p>
        </p:txBody>
      </p:sp>
      <p:sp>
        <p:nvSpPr>
          <p:cNvPr id="540" name="Google Shape;540;p21"/>
          <p:cNvSpPr txBox="1"/>
          <p:nvPr/>
        </p:nvSpPr>
        <p:spPr>
          <a:xfrm>
            <a:off x="10302270" y="4889887"/>
            <a:ext cx="3148726" cy="30859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Exportar métricas de uso</a:t>
            </a:r>
            <a:endParaRPr/>
          </a:p>
        </p:txBody>
      </p:sp>
      <p:sp>
        <p:nvSpPr>
          <p:cNvPr id="541" name="Google Shape;541;p21"/>
          <p:cNvSpPr txBox="1"/>
          <p:nvPr/>
        </p:nvSpPr>
        <p:spPr>
          <a:xfrm>
            <a:off x="14070530" y="6505032"/>
            <a:ext cx="2656768" cy="59885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Historias de Usuario</a:t>
            </a:r>
            <a:endParaRPr/>
          </a:p>
          <a:p>
            <a:pPr indent="0" lvl="0" marL="0" marR="0" rtl="0" algn="ctr">
              <a:lnSpc>
                <a:spcPct val="110000"/>
              </a:lnSpc>
              <a:spcBef>
                <a:spcPts val="0"/>
              </a:spcBef>
              <a:spcAft>
                <a:spcPts val="0"/>
              </a:spcAft>
              <a:buNone/>
            </a:pPr>
            <a:r>
              <a:rPr b="1" i="0" lang="en-US" sz="2160" u="none" cap="none" strike="noStrike">
                <a:solidFill>
                  <a:srgbClr val="336BE4"/>
                </a:solidFill>
                <a:latin typeface="Arial"/>
                <a:ea typeface="Arial"/>
                <a:cs typeface="Arial"/>
                <a:sym typeface="Arial"/>
              </a:rPr>
              <a:t>presentes en el Sprint</a:t>
            </a:r>
            <a:endParaRPr/>
          </a:p>
        </p:txBody>
      </p:sp>
      <p:sp>
        <p:nvSpPr>
          <p:cNvPr id="542" name="Google Shape;542;p21"/>
          <p:cNvSpPr txBox="1"/>
          <p:nvPr/>
        </p:nvSpPr>
        <p:spPr>
          <a:xfrm>
            <a:off x="13813929" y="7515274"/>
            <a:ext cx="3169971" cy="598858"/>
          </a:xfrm>
          <a:prstGeom prst="rect">
            <a:avLst/>
          </a:prstGeom>
          <a:noFill/>
          <a:ln>
            <a:noFill/>
          </a:ln>
        </p:spPr>
        <p:txBody>
          <a:bodyPr anchorCtr="0" anchor="t" bIns="0" lIns="0" spcFirstLastPara="1" rIns="0" wrap="square" tIns="0">
            <a:spAutoFit/>
          </a:bodyPr>
          <a:lstStyle/>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HU013</a:t>
            </a:r>
            <a:endParaRPr/>
          </a:p>
          <a:p>
            <a:pPr indent="-233172" lvl="1" marL="466344" marR="0" rtl="0" algn="ctr">
              <a:lnSpc>
                <a:spcPct val="110000"/>
              </a:lnSpc>
              <a:spcBef>
                <a:spcPts val="0"/>
              </a:spcBef>
              <a:spcAft>
                <a:spcPts val="0"/>
              </a:spcAft>
              <a:buClr>
                <a:srgbClr val="336BE4"/>
              </a:buClr>
              <a:buSzPts val="2160"/>
              <a:buFont typeface="Arial"/>
              <a:buChar char="•"/>
            </a:pPr>
            <a:r>
              <a:rPr b="1" i="0" lang="en-US" sz="2160" u="none" cap="none" strike="noStrike">
                <a:solidFill>
                  <a:srgbClr val="336BE4"/>
                </a:solidFill>
                <a:latin typeface="Arial"/>
                <a:ea typeface="Arial"/>
                <a:cs typeface="Arial"/>
                <a:sym typeface="Arial"/>
              </a:rPr>
              <a:t>HU014</a:t>
            </a:r>
            <a:endParaRPr/>
          </a:p>
        </p:txBody>
      </p:sp>
      <p:sp>
        <p:nvSpPr>
          <p:cNvPr id="543" name="Google Shape;543;p21"/>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79DB"/>
        </a:solidFill>
      </p:bgPr>
    </p:bg>
    <p:spTree>
      <p:nvGrpSpPr>
        <p:cNvPr id="547" name="Shape 547"/>
        <p:cNvGrpSpPr/>
        <p:nvPr/>
      </p:nvGrpSpPr>
      <p:grpSpPr>
        <a:xfrm>
          <a:off x="0" y="0"/>
          <a:ext cx="0" cy="0"/>
          <a:chOff x="0" y="0"/>
          <a:chExt cx="0" cy="0"/>
        </a:xfrm>
      </p:grpSpPr>
      <p:sp>
        <p:nvSpPr>
          <p:cNvPr id="548" name="Google Shape;548;p22"/>
          <p:cNvSpPr/>
          <p:nvPr/>
        </p:nvSpPr>
        <p:spPr>
          <a:xfrm>
            <a:off x="12873246" y="-244741"/>
            <a:ext cx="5471446" cy="10604347"/>
          </a:xfrm>
          <a:custGeom>
            <a:rect b="b" l="l" r="r" t="t"/>
            <a:pathLst>
              <a:path extrusionOk="0" h="10604347" w="5471446">
                <a:moveTo>
                  <a:pt x="0" y="0"/>
                </a:moveTo>
                <a:lnTo>
                  <a:pt x="5471446" y="0"/>
                </a:lnTo>
                <a:lnTo>
                  <a:pt x="5471446" y="10604346"/>
                </a:lnTo>
                <a:lnTo>
                  <a:pt x="0" y="10604346"/>
                </a:lnTo>
                <a:lnTo>
                  <a:pt x="0" y="0"/>
                </a:lnTo>
                <a:close/>
              </a:path>
            </a:pathLst>
          </a:custGeom>
          <a:blipFill rotWithShape="1">
            <a:blip r:embed="rId3">
              <a:alphaModFix/>
            </a:blip>
            <a:stretch>
              <a:fillRect b="0" l="-86429" r="-104462" t="0"/>
            </a:stretch>
          </a:blipFill>
          <a:ln>
            <a:noFill/>
          </a:ln>
        </p:spPr>
      </p:sp>
      <p:sp>
        <p:nvSpPr>
          <p:cNvPr id="549" name="Google Shape;549;p22"/>
          <p:cNvSpPr/>
          <p:nvPr/>
        </p:nvSpPr>
        <p:spPr>
          <a:xfrm>
            <a:off x="1508723" y="5119729"/>
            <a:ext cx="2927163" cy="2927163"/>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4">
              <a:alphaModFix/>
            </a:blip>
            <a:stretch>
              <a:fillRect b="-4957" l="0" r="0" t="-4958"/>
            </a:stretch>
          </a:blipFill>
          <a:ln cap="sq" cmpd="sng" w="95250">
            <a:solidFill>
              <a:srgbClr val="0097B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2"/>
          <p:cNvSpPr/>
          <p:nvPr/>
        </p:nvSpPr>
        <p:spPr>
          <a:xfrm>
            <a:off x="8991091" y="5105884"/>
            <a:ext cx="2927163" cy="2927163"/>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5">
              <a:alphaModFix/>
            </a:blip>
            <a:stretch>
              <a:fillRect b="-2565" l="0" r="0" t="-30924"/>
            </a:stretch>
          </a:blipFill>
          <a:ln cap="sq" cmpd="sng" w="95250">
            <a:solidFill>
              <a:srgbClr val="0097B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2"/>
          <p:cNvSpPr/>
          <p:nvPr/>
        </p:nvSpPr>
        <p:spPr>
          <a:xfrm>
            <a:off x="5249907" y="5119764"/>
            <a:ext cx="2927163" cy="2927163"/>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b="0" l="-436" r="-437" t="0"/>
            </a:stretch>
          </a:blipFill>
          <a:ln cap="sq" cmpd="sng" w="95250">
            <a:solidFill>
              <a:srgbClr val="0097B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2"/>
          <p:cNvSpPr/>
          <p:nvPr/>
        </p:nvSpPr>
        <p:spPr>
          <a:xfrm>
            <a:off x="5249907" y="1652456"/>
            <a:ext cx="2927634" cy="2927634"/>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0" l="-47400" r="-2596" t="0"/>
            </a:stretch>
          </a:blipFill>
          <a:ln cap="sq" cmpd="sng" w="95250">
            <a:solidFill>
              <a:srgbClr val="0097B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2"/>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8">
              <a:alphaModFix/>
            </a:blip>
            <a:stretch>
              <a:fillRect b="0" l="0" r="0" t="0"/>
            </a:stretch>
          </a:blipFill>
          <a:ln>
            <a:noFill/>
          </a:ln>
        </p:spPr>
      </p:sp>
      <p:sp>
        <p:nvSpPr>
          <p:cNvPr id="554" name="Google Shape;554;p22"/>
          <p:cNvSpPr txBox="1"/>
          <p:nvPr/>
        </p:nvSpPr>
        <p:spPr>
          <a:xfrm>
            <a:off x="1028700" y="657932"/>
            <a:ext cx="10889554" cy="789161"/>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FFFFFF"/>
                </a:solidFill>
                <a:latin typeface="Arial"/>
                <a:ea typeface="Arial"/>
                <a:cs typeface="Arial"/>
                <a:sym typeface="Arial"/>
              </a:rPr>
              <a:t>11 ROLES</a:t>
            </a:r>
            <a:endParaRPr/>
          </a:p>
        </p:txBody>
      </p:sp>
      <p:sp>
        <p:nvSpPr>
          <p:cNvPr id="555" name="Google Shape;555;p22"/>
          <p:cNvSpPr txBox="1"/>
          <p:nvPr/>
        </p:nvSpPr>
        <p:spPr>
          <a:xfrm>
            <a:off x="1568092" y="8085997"/>
            <a:ext cx="2808424" cy="329088"/>
          </a:xfrm>
          <a:prstGeom prst="rect">
            <a:avLst/>
          </a:prstGeom>
          <a:noFill/>
          <a:ln>
            <a:noFill/>
          </a:ln>
        </p:spPr>
        <p:txBody>
          <a:bodyPr anchorCtr="0" anchor="t" bIns="0" lIns="0" spcFirstLastPara="1" rIns="0" wrap="square" tIns="0">
            <a:spAutoFit/>
          </a:bodyPr>
          <a:lstStyle/>
          <a:p>
            <a:pPr indent="0" lvl="0" marL="0" marR="0" rtl="0" algn="ctr">
              <a:lnSpc>
                <a:spcPct val="139957"/>
              </a:lnSpc>
              <a:spcBef>
                <a:spcPts val="0"/>
              </a:spcBef>
              <a:spcAft>
                <a:spcPts val="0"/>
              </a:spcAft>
              <a:buNone/>
            </a:pPr>
            <a:r>
              <a:rPr b="1" i="0" lang="en-US" sz="1882" u="none" cap="none" strike="noStrike">
                <a:solidFill>
                  <a:srgbClr val="FFFFFF"/>
                </a:solidFill>
                <a:latin typeface="Arial"/>
                <a:ea typeface="Arial"/>
                <a:cs typeface="Arial"/>
                <a:sym typeface="Arial"/>
              </a:rPr>
              <a:t>Cristóbal Álvarez Moya</a:t>
            </a:r>
            <a:endParaRPr/>
          </a:p>
        </p:txBody>
      </p:sp>
      <p:sp>
        <p:nvSpPr>
          <p:cNvPr id="556" name="Google Shape;556;p22"/>
          <p:cNvSpPr txBox="1"/>
          <p:nvPr/>
        </p:nvSpPr>
        <p:spPr>
          <a:xfrm>
            <a:off x="5191245" y="8085997"/>
            <a:ext cx="2926691" cy="329088"/>
          </a:xfrm>
          <a:prstGeom prst="rect">
            <a:avLst/>
          </a:prstGeom>
          <a:noFill/>
          <a:ln>
            <a:noFill/>
          </a:ln>
        </p:spPr>
        <p:txBody>
          <a:bodyPr anchorCtr="0" anchor="t" bIns="0" lIns="0" spcFirstLastPara="1" rIns="0" wrap="square" tIns="0">
            <a:spAutoFit/>
          </a:bodyPr>
          <a:lstStyle/>
          <a:p>
            <a:pPr indent="0" lvl="0" marL="0" marR="0" rtl="0" algn="ctr">
              <a:lnSpc>
                <a:spcPct val="139957"/>
              </a:lnSpc>
              <a:spcBef>
                <a:spcPts val="0"/>
              </a:spcBef>
              <a:spcAft>
                <a:spcPts val="0"/>
              </a:spcAft>
              <a:buNone/>
            </a:pPr>
            <a:r>
              <a:rPr b="1" i="0" lang="en-US" sz="1882" u="none" cap="none" strike="noStrike">
                <a:solidFill>
                  <a:srgbClr val="FFFFFF"/>
                </a:solidFill>
                <a:latin typeface="Arial"/>
                <a:ea typeface="Arial"/>
                <a:cs typeface="Arial"/>
                <a:sym typeface="Arial"/>
              </a:rPr>
              <a:t>Benjamín Cerón Reyes</a:t>
            </a:r>
            <a:endParaRPr/>
          </a:p>
        </p:txBody>
      </p:sp>
      <p:sp>
        <p:nvSpPr>
          <p:cNvPr id="557" name="Google Shape;557;p22"/>
          <p:cNvSpPr txBox="1"/>
          <p:nvPr/>
        </p:nvSpPr>
        <p:spPr>
          <a:xfrm>
            <a:off x="9050461" y="8086031"/>
            <a:ext cx="2808424" cy="329156"/>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1879" u="none" cap="none" strike="noStrike">
                <a:solidFill>
                  <a:srgbClr val="FFFFFF"/>
                </a:solidFill>
                <a:latin typeface="Arial"/>
                <a:ea typeface="Arial"/>
                <a:cs typeface="Arial"/>
                <a:sym typeface="Arial"/>
              </a:rPr>
              <a:t>Diego Herrera Rodríguez</a:t>
            </a:r>
            <a:endParaRPr/>
          </a:p>
        </p:txBody>
      </p:sp>
      <p:sp>
        <p:nvSpPr>
          <p:cNvPr id="558" name="Google Shape;558;p22"/>
          <p:cNvSpPr txBox="1"/>
          <p:nvPr/>
        </p:nvSpPr>
        <p:spPr>
          <a:xfrm>
            <a:off x="1422662" y="8467613"/>
            <a:ext cx="3099285" cy="1352091"/>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Especialista en Machine Learning</a:t>
            </a:r>
            <a:endParaRPr/>
          </a:p>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&amp;</a:t>
            </a:r>
            <a:endParaRPr/>
          </a:p>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Delevopment Team</a:t>
            </a:r>
            <a:endParaRPr/>
          </a:p>
        </p:txBody>
      </p:sp>
      <p:sp>
        <p:nvSpPr>
          <p:cNvPr id="559" name="Google Shape;559;p22"/>
          <p:cNvSpPr txBox="1"/>
          <p:nvPr/>
        </p:nvSpPr>
        <p:spPr>
          <a:xfrm>
            <a:off x="5250379" y="8449740"/>
            <a:ext cx="2808424" cy="1013678"/>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Scrum Master</a:t>
            </a:r>
            <a:endParaRPr/>
          </a:p>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&amp;</a:t>
            </a:r>
            <a:endParaRPr/>
          </a:p>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Development Team</a:t>
            </a:r>
            <a:endParaRPr/>
          </a:p>
        </p:txBody>
      </p:sp>
      <p:sp>
        <p:nvSpPr>
          <p:cNvPr id="560" name="Google Shape;560;p22"/>
          <p:cNvSpPr txBox="1"/>
          <p:nvPr/>
        </p:nvSpPr>
        <p:spPr>
          <a:xfrm>
            <a:off x="9050461" y="8467613"/>
            <a:ext cx="2808424" cy="1013678"/>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QA</a:t>
            </a:r>
            <a:endParaRPr/>
          </a:p>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&amp;</a:t>
            </a:r>
            <a:endParaRPr/>
          </a:p>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Development Team</a:t>
            </a:r>
            <a:endParaRPr/>
          </a:p>
        </p:txBody>
      </p:sp>
      <p:sp>
        <p:nvSpPr>
          <p:cNvPr id="561" name="Google Shape;561;p22"/>
          <p:cNvSpPr txBox="1"/>
          <p:nvPr/>
        </p:nvSpPr>
        <p:spPr>
          <a:xfrm>
            <a:off x="8542388" y="2414029"/>
            <a:ext cx="2808424" cy="344941"/>
          </a:xfrm>
          <a:prstGeom prst="rect">
            <a:avLst/>
          </a:prstGeom>
          <a:noFill/>
          <a:ln>
            <a:noFill/>
          </a:ln>
        </p:spPr>
        <p:txBody>
          <a:bodyPr anchorCtr="0" anchor="t" bIns="0" lIns="0" spcFirstLastPara="1" rIns="0" wrap="square" tIns="0">
            <a:spAutoFit/>
          </a:bodyPr>
          <a:lstStyle/>
          <a:p>
            <a:pPr indent="0" lvl="0" marL="0" marR="0" rtl="0" algn="ctr">
              <a:lnSpc>
                <a:spcPct val="139989"/>
              </a:lnSpc>
              <a:spcBef>
                <a:spcPts val="0"/>
              </a:spcBef>
              <a:spcAft>
                <a:spcPts val="0"/>
              </a:spcAft>
              <a:buNone/>
            </a:pPr>
            <a:r>
              <a:rPr b="1" i="0" lang="en-US" sz="1978" u="none" cap="none" strike="noStrike">
                <a:solidFill>
                  <a:srgbClr val="FFFFFF"/>
                </a:solidFill>
                <a:latin typeface="Arial"/>
                <a:ea typeface="Arial"/>
                <a:cs typeface="Arial"/>
                <a:sym typeface="Arial"/>
              </a:rPr>
              <a:t>Catalina Pichincura</a:t>
            </a:r>
            <a:endParaRPr/>
          </a:p>
        </p:txBody>
      </p:sp>
      <p:sp>
        <p:nvSpPr>
          <p:cNvPr id="562" name="Google Shape;562;p22"/>
          <p:cNvSpPr txBox="1"/>
          <p:nvPr/>
        </p:nvSpPr>
        <p:spPr>
          <a:xfrm>
            <a:off x="8396958" y="2844663"/>
            <a:ext cx="3099285" cy="675264"/>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Ingeniera Física</a:t>
            </a:r>
            <a:endParaRPr/>
          </a:p>
          <a:p>
            <a:pPr indent="0" lvl="0" marL="0" marR="0" rtl="0" algn="ctr">
              <a:lnSpc>
                <a:spcPct val="140030"/>
              </a:lnSpc>
              <a:spcBef>
                <a:spcPts val="0"/>
              </a:spcBef>
              <a:spcAft>
                <a:spcPts val="0"/>
              </a:spcAft>
              <a:buNone/>
            </a:pPr>
            <a:r>
              <a:rPr b="0" i="0" lang="en-US" sz="1936" u="none" cap="none" strike="noStrike">
                <a:solidFill>
                  <a:srgbClr val="FFFFFF"/>
                </a:solidFill>
                <a:latin typeface="Arial"/>
                <a:ea typeface="Arial"/>
                <a:cs typeface="Arial"/>
                <a:sym typeface="Arial"/>
              </a:rPr>
              <a:t>Product Owner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grpSp>
        <p:nvGrpSpPr>
          <p:cNvPr id="567" name="Google Shape;567;p23"/>
          <p:cNvGrpSpPr/>
          <p:nvPr/>
        </p:nvGrpSpPr>
        <p:grpSpPr>
          <a:xfrm>
            <a:off x="1886802" y="1028700"/>
            <a:ext cx="5374365" cy="10922444"/>
            <a:chOff x="0" y="0"/>
            <a:chExt cx="5000993" cy="10163632"/>
          </a:xfrm>
        </p:grpSpPr>
        <p:sp>
          <p:nvSpPr>
            <p:cNvPr id="568" name="Google Shape;568;p23"/>
            <p:cNvSpPr/>
            <p:nvPr/>
          </p:nvSpPr>
          <p:spPr>
            <a:xfrm>
              <a:off x="0" y="0"/>
              <a:ext cx="5000993" cy="10163632"/>
            </a:xfrm>
            <a:custGeom>
              <a:rect b="b" l="l" r="r" t="t"/>
              <a:pathLst>
                <a:path extrusionOk="0" h="10163632" w="5000993">
                  <a:moveTo>
                    <a:pt x="0" y="0"/>
                  </a:moveTo>
                  <a:lnTo>
                    <a:pt x="5000993" y="0"/>
                  </a:lnTo>
                  <a:lnTo>
                    <a:pt x="5000993" y="10163632"/>
                  </a:lnTo>
                  <a:lnTo>
                    <a:pt x="0" y="10163632"/>
                  </a:lnTo>
                  <a:close/>
                </a:path>
              </a:pathLst>
            </a:custGeom>
            <a:blipFill rotWithShape="1">
              <a:blip r:embed="rId3">
                <a:alphaModFix/>
              </a:blip>
              <a:stretch>
                <a:fillRect b="0" l="-43" r="-44" t="0"/>
              </a:stretch>
            </a:blipFill>
            <a:ln>
              <a:noFill/>
            </a:ln>
          </p:spPr>
        </p:sp>
        <p:sp>
          <p:nvSpPr>
            <p:cNvPr id="569" name="Google Shape;569;p23"/>
            <p:cNvSpPr/>
            <p:nvPr/>
          </p:nvSpPr>
          <p:spPr>
            <a:xfrm>
              <a:off x="338760" y="288798"/>
              <a:ext cx="4330776" cy="9398000"/>
            </a:xfrm>
            <a:custGeom>
              <a:rect b="b" l="l" r="r" t="t"/>
              <a:pathLst>
                <a:path extrusionOk="0" h="9398000" w="4330776">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rotWithShape="1">
              <a:blip r:embed="rId4">
                <a:alphaModFix/>
              </a:blip>
              <a:stretch>
                <a:fillRect b="0" l="-178696" r="-13560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 name="Google Shape;570;p23"/>
          <p:cNvSpPr txBox="1"/>
          <p:nvPr/>
        </p:nvSpPr>
        <p:spPr>
          <a:xfrm>
            <a:off x="9462102" y="1070723"/>
            <a:ext cx="7639170" cy="789161"/>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DC239B"/>
                </a:solidFill>
                <a:latin typeface="Arial"/>
                <a:ea typeface="Arial"/>
                <a:cs typeface="Arial"/>
                <a:sym typeface="Arial"/>
              </a:rPr>
              <a:t>12 EVIDENCIAS</a:t>
            </a:r>
            <a:endParaRPr/>
          </a:p>
        </p:txBody>
      </p:sp>
      <p:sp>
        <p:nvSpPr>
          <p:cNvPr id="571" name="Google Shape;571;p23"/>
          <p:cNvSpPr/>
          <p:nvPr/>
        </p:nvSpPr>
        <p:spPr>
          <a:xfrm>
            <a:off x="9016791" y="2882656"/>
            <a:ext cx="621366" cy="621366"/>
          </a:xfrm>
          <a:custGeom>
            <a:rect b="b" l="l" r="r" t="t"/>
            <a:pathLst>
              <a:path extrusionOk="0" h="621366" w="621366">
                <a:moveTo>
                  <a:pt x="0" y="0"/>
                </a:moveTo>
                <a:lnTo>
                  <a:pt x="621366" y="0"/>
                </a:lnTo>
                <a:lnTo>
                  <a:pt x="621366" y="621366"/>
                </a:lnTo>
                <a:lnTo>
                  <a:pt x="0" y="621366"/>
                </a:lnTo>
                <a:lnTo>
                  <a:pt x="0" y="0"/>
                </a:lnTo>
                <a:close/>
              </a:path>
            </a:pathLst>
          </a:custGeom>
          <a:blipFill rotWithShape="1">
            <a:blip r:embed="rId5">
              <a:alphaModFix/>
            </a:blip>
            <a:stretch>
              <a:fillRect b="0" l="0" r="0" t="0"/>
            </a:stretch>
          </a:blipFill>
          <a:ln>
            <a:noFill/>
          </a:ln>
        </p:spPr>
      </p:sp>
      <p:sp>
        <p:nvSpPr>
          <p:cNvPr id="572" name="Google Shape;572;p23"/>
          <p:cNvSpPr/>
          <p:nvPr/>
        </p:nvSpPr>
        <p:spPr>
          <a:xfrm>
            <a:off x="12246477" y="4278603"/>
            <a:ext cx="609147" cy="667392"/>
          </a:xfrm>
          <a:custGeom>
            <a:rect b="b" l="l" r="r" t="t"/>
            <a:pathLst>
              <a:path extrusionOk="0" h="667392" w="609147">
                <a:moveTo>
                  <a:pt x="0" y="0"/>
                </a:moveTo>
                <a:lnTo>
                  <a:pt x="609147" y="0"/>
                </a:lnTo>
                <a:lnTo>
                  <a:pt x="609147" y="667393"/>
                </a:lnTo>
                <a:lnTo>
                  <a:pt x="0" y="667393"/>
                </a:lnTo>
                <a:lnTo>
                  <a:pt x="0" y="0"/>
                </a:lnTo>
                <a:close/>
              </a:path>
            </a:pathLst>
          </a:custGeom>
          <a:blipFill rotWithShape="1">
            <a:blip r:embed="rId6">
              <a:alphaModFix/>
            </a:blip>
            <a:stretch>
              <a:fillRect b="0" l="0" r="0" t="0"/>
            </a:stretch>
          </a:blipFill>
          <a:ln>
            <a:noFill/>
          </a:ln>
        </p:spPr>
      </p:sp>
      <p:sp>
        <p:nvSpPr>
          <p:cNvPr id="573" name="Google Shape;573;p23"/>
          <p:cNvSpPr/>
          <p:nvPr/>
        </p:nvSpPr>
        <p:spPr>
          <a:xfrm>
            <a:off x="9016791" y="5841338"/>
            <a:ext cx="621366" cy="621366"/>
          </a:xfrm>
          <a:custGeom>
            <a:rect b="b" l="l" r="r" t="t"/>
            <a:pathLst>
              <a:path extrusionOk="0" h="621366" w="621366">
                <a:moveTo>
                  <a:pt x="0" y="0"/>
                </a:moveTo>
                <a:lnTo>
                  <a:pt x="621366" y="0"/>
                </a:lnTo>
                <a:lnTo>
                  <a:pt x="621366" y="621366"/>
                </a:lnTo>
                <a:lnTo>
                  <a:pt x="0" y="621366"/>
                </a:lnTo>
                <a:lnTo>
                  <a:pt x="0" y="0"/>
                </a:lnTo>
                <a:close/>
              </a:path>
            </a:pathLst>
          </a:custGeom>
          <a:blipFill rotWithShape="1">
            <a:blip r:embed="rId7">
              <a:alphaModFix/>
            </a:blip>
            <a:stretch>
              <a:fillRect b="0" l="0" r="0" t="0"/>
            </a:stretch>
          </a:blipFill>
          <a:ln>
            <a:noFill/>
          </a:ln>
        </p:spPr>
      </p:sp>
      <p:sp>
        <p:nvSpPr>
          <p:cNvPr id="574" name="Google Shape;574;p23"/>
          <p:cNvSpPr/>
          <p:nvPr/>
        </p:nvSpPr>
        <p:spPr>
          <a:xfrm>
            <a:off x="12176087" y="2880871"/>
            <a:ext cx="621366" cy="621366"/>
          </a:xfrm>
          <a:custGeom>
            <a:rect b="b" l="l" r="r" t="t"/>
            <a:pathLst>
              <a:path extrusionOk="0" h="621366" w="621366">
                <a:moveTo>
                  <a:pt x="0" y="0"/>
                </a:moveTo>
                <a:lnTo>
                  <a:pt x="621366" y="0"/>
                </a:lnTo>
                <a:lnTo>
                  <a:pt x="621366" y="621366"/>
                </a:lnTo>
                <a:lnTo>
                  <a:pt x="0" y="621366"/>
                </a:lnTo>
                <a:lnTo>
                  <a:pt x="0" y="0"/>
                </a:lnTo>
                <a:close/>
              </a:path>
            </a:pathLst>
          </a:custGeom>
          <a:blipFill rotWithShape="1">
            <a:blip r:embed="rId8">
              <a:alphaModFix/>
            </a:blip>
            <a:stretch>
              <a:fillRect b="0" l="0" r="0" t="0"/>
            </a:stretch>
          </a:blipFill>
          <a:ln>
            <a:noFill/>
          </a:ln>
        </p:spPr>
      </p:sp>
      <p:sp>
        <p:nvSpPr>
          <p:cNvPr id="575" name="Google Shape;575;p23"/>
          <p:cNvSpPr/>
          <p:nvPr/>
        </p:nvSpPr>
        <p:spPr>
          <a:xfrm>
            <a:off x="12212309" y="5819389"/>
            <a:ext cx="643315" cy="643315"/>
          </a:xfrm>
          <a:custGeom>
            <a:rect b="b" l="l" r="r" t="t"/>
            <a:pathLst>
              <a:path extrusionOk="0" h="643315" w="643315">
                <a:moveTo>
                  <a:pt x="0" y="0"/>
                </a:moveTo>
                <a:lnTo>
                  <a:pt x="643315" y="0"/>
                </a:lnTo>
                <a:lnTo>
                  <a:pt x="643315" y="643315"/>
                </a:lnTo>
                <a:lnTo>
                  <a:pt x="0" y="643315"/>
                </a:lnTo>
                <a:lnTo>
                  <a:pt x="0" y="0"/>
                </a:lnTo>
                <a:close/>
              </a:path>
            </a:pathLst>
          </a:custGeom>
          <a:blipFill rotWithShape="1">
            <a:blip r:embed="rId9">
              <a:alphaModFix/>
            </a:blip>
            <a:stretch>
              <a:fillRect b="0" l="0" r="0" t="0"/>
            </a:stretch>
          </a:blipFill>
          <a:ln>
            <a:noFill/>
          </a:ln>
        </p:spPr>
      </p:sp>
      <p:sp>
        <p:nvSpPr>
          <p:cNvPr id="576" name="Google Shape;576;p23"/>
          <p:cNvSpPr/>
          <p:nvPr/>
        </p:nvSpPr>
        <p:spPr>
          <a:xfrm>
            <a:off x="9016791" y="4278603"/>
            <a:ext cx="621366" cy="621366"/>
          </a:xfrm>
          <a:custGeom>
            <a:rect b="b" l="l" r="r" t="t"/>
            <a:pathLst>
              <a:path extrusionOk="0" h="621366" w="621366">
                <a:moveTo>
                  <a:pt x="0" y="0"/>
                </a:moveTo>
                <a:lnTo>
                  <a:pt x="621366" y="0"/>
                </a:lnTo>
                <a:lnTo>
                  <a:pt x="621366" y="621367"/>
                </a:lnTo>
                <a:lnTo>
                  <a:pt x="0" y="621367"/>
                </a:lnTo>
                <a:lnTo>
                  <a:pt x="0" y="0"/>
                </a:lnTo>
                <a:close/>
              </a:path>
            </a:pathLst>
          </a:custGeom>
          <a:blipFill rotWithShape="1">
            <a:blip r:embed="rId10">
              <a:alphaModFix/>
            </a:blip>
            <a:stretch>
              <a:fillRect b="0" l="0" r="0" t="0"/>
            </a:stretch>
          </a:blipFill>
          <a:ln>
            <a:noFill/>
          </a:ln>
        </p:spPr>
      </p:sp>
      <p:sp>
        <p:nvSpPr>
          <p:cNvPr id="577" name="Google Shape;577;p23"/>
          <p:cNvSpPr/>
          <p:nvPr/>
        </p:nvSpPr>
        <p:spPr>
          <a:xfrm>
            <a:off x="16451114" y="214911"/>
            <a:ext cx="1616373" cy="1616373"/>
          </a:xfrm>
          <a:custGeom>
            <a:rect b="b" l="l" r="r" t="t"/>
            <a:pathLst>
              <a:path extrusionOk="0" h="1616373" w="1616373">
                <a:moveTo>
                  <a:pt x="0" y="0"/>
                </a:moveTo>
                <a:lnTo>
                  <a:pt x="1616372" y="0"/>
                </a:lnTo>
                <a:lnTo>
                  <a:pt x="1616372" y="1616373"/>
                </a:lnTo>
                <a:lnTo>
                  <a:pt x="0" y="1616373"/>
                </a:lnTo>
                <a:lnTo>
                  <a:pt x="0" y="0"/>
                </a:lnTo>
                <a:close/>
              </a:path>
            </a:pathLst>
          </a:custGeom>
          <a:blipFill rotWithShape="1">
            <a:blip r:embed="rId11">
              <a:alphaModFix/>
            </a:blip>
            <a:stretch>
              <a:fillRect b="0" l="0" r="0" t="0"/>
            </a:stretch>
          </a:blipFill>
          <a:ln>
            <a:noFill/>
          </a:ln>
        </p:spPr>
      </p:sp>
      <p:sp>
        <p:nvSpPr>
          <p:cNvPr id="578" name="Google Shape;578;p23"/>
          <p:cNvSpPr/>
          <p:nvPr/>
        </p:nvSpPr>
        <p:spPr>
          <a:xfrm>
            <a:off x="15369007" y="2799710"/>
            <a:ext cx="626793" cy="783491"/>
          </a:xfrm>
          <a:custGeom>
            <a:rect b="b" l="l" r="r" t="t"/>
            <a:pathLst>
              <a:path extrusionOk="0" h="783491" w="626793">
                <a:moveTo>
                  <a:pt x="0" y="0"/>
                </a:moveTo>
                <a:lnTo>
                  <a:pt x="626793" y="0"/>
                </a:lnTo>
                <a:lnTo>
                  <a:pt x="626793" y="783491"/>
                </a:lnTo>
                <a:lnTo>
                  <a:pt x="0" y="783491"/>
                </a:lnTo>
                <a:lnTo>
                  <a:pt x="0" y="0"/>
                </a:lnTo>
                <a:close/>
              </a:path>
            </a:pathLst>
          </a:custGeom>
          <a:blipFill rotWithShape="1">
            <a:blip r:embed="rId12">
              <a:alphaModFix/>
            </a:blip>
            <a:stretch>
              <a:fillRect b="0" l="0" r="0" t="0"/>
            </a:stretch>
          </a:blipFill>
          <a:ln>
            <a:noFill/>
          </a:ln>
        </p:spPr>
      </p:sp>
      <p:sp>
        <p:nvSpPr>
          <p:cNvPr id="579" name="Google Shape;579;p23"/>
          <p:cNvSpPr/>
          <p:nvPr/>
        </p:nvSpPr>
        <p:spPr>
          <a:xfrm>
            <a:off x="15351889" y="4434942"/>
            <a:ext cx="661028" cy="621366"/>
          </a:xfrm>
          <a:custGeom>
            <a:rect b="b" l="l" r="r" t="t"/>
            <a:pathLst>
              <a:path extrusionOk="0" h="621366" w="661028">
                <a:moveTo>
                  <a:pt x="0" y="0"/>
                </a:moveTo>
                <a:lnTo>
                  <a:pt x="661028" y="0"/>
                </a:lnTo>
                <a:lnTo>
                  <a:pt x="661028" y="621367"/>
                </a:lnTo>
                <a:lnTo>
                  <a:pt x="0" y="621367"/>
                </a:lnTo>
                <a:lnTo>
                  <a:pt x="0" y="0"/>
                </a:lnTo>
                <a:close/>
              </a:path>
            </a:pathLst>
          </a:custGeom>
          <a:blipFill rotWithShape="1">
            <a:blip r:embed="rId13">
              <a:alphaModFix/>
            </a:blip>
            <a:stretch>
              <a:fillRect b="0" l="0" r="0" t="0"/>
            </a:stretch>
          </a:blipFill>
          <a:ln>
            <a:noFill/>
          </a:ln>
        </p:spPr>
      </p:sp>
      <p:sp>
        <p:nvSpPr>
          <p:cNvPr id="580" name="Google Shape;580;p23"/>
          <p:cNvSpPr/>
          <p:nvPr/>
        </p:nvSpPr>
        <p:spPr>
          <a:xfrm>
            <a:off x="15371720" y="5830314"/>
            <a:ext cx="621366" cy="621366"/>
          </a:xfrm>
          <a:custGeom>
            <a:rect b="b" l="l" r="r" t="t"/>
            <a:pathLst>
              <a:path extrusionOk="0" h="621366" w="621366">
                <a:moveTo>
                  <a:pt x="0" y="0"/>
                </a:moveTo>
                <a:lnTo>
                  <a:pt x="621366" y="0"/>
                </a:lnTo>
                <a:lnTo>
                  <a:pt x="621366" y="621366"/>
                </a:lnTo>
                <a:lnTo>
                  <a:pt x="0" y="621366"/>
                </a:lnTo>
                <a:lnTo>
                  <a:pt x="0" y="0"/>
                </a:lnTo>
                <a:close/>
              </a:path>
            </a:pathLst>
          </a:custGeom>
          <a:blipFill rotWithShape="1">
            <a:blip r:embed="rId14">
              <a:alphaModFix/>
            </a:blip>
            <a:stretch>
              <a:fillRect b="0" l="0" r="0" t="0"/>
            </a:stretch>
          </a:blipFill>
          <a:ln>
            <a:noFill/>
          </a:ln>
        </p:spPr>
      </p:sp>
      <p:sp>
        <p:nvSpPr>
          <p:cNvPr id="581" name="Google Shape;581;p23"/>
          <p:cNvSpPr/>
          <p:nvPr/>
        </p:nvSpPr>
        <p:spPr>
          <a:xfrm>
            <a:off x="9005829" y="7238228"/>
            <a:ext cx="714567" cy="714567"/>
          </a:xfrm>
          <a:custGeom>
            <a:rect b="b" l="l" r="r" t="t"/>
            <a:pathLst>
              <a:path extrusionOk="0" h="714567" w="714567">
                <a:moveTo>
                  <a:pt x="0" y="0"/>
                </a:moveTo>
                <a:lnTo>
                  <a:pt x="714567" y="0"/>
                </a:lnTo>
                <a:lnTo>
                  <a:pt x="714567" y="714567"/>
                </a:lnTo>
                <a:lnTo>
                  <a:pt x="0" y="714567"/>
                </a:lnTo>
                <a:lnTo>
                  <a:pt x="0" y="0"/>
                </a:lnTo>
                <a:close/>
              </a:path>
            </a:pathLst>
          </a:custGeom>
          <a:blipFill rotWithShape="1">
            <a:blip r:embed="rId15">
              <a:alphaModFix/>
            </a:blip>
            <a:stretch>
              <a:fillRect b="0" l="0" r="0" t="0"/>
            </a:stretch>
          </a:blipFill>
          <a:ln>
            <a:noFill/>
          </a:ln>
        </p:spPr>
      </p:sp>
      <p:sp>
        <p:nvSpPr>
          <p:cNvPr id="582" name="Google Shape;582;p23"/>
          <p:cNvSpPr/>
          <p:nvPr/>
        </p:nvSpPr>
        <p:spPr>
          <a:xfrm>
            <a:off x="12260757" y="7238228"/>
            <a:ext cx="580586" cy="714567"/>
          </a:xfrm>
          <a:custGeom>
            <a:rect b="b" l="l" r="r" t="t"/>
            <a:pathLst>
              <a:path extrusionOk="0" h="714567" w="580586">
                <a:moveTo>
                  <a:pt x="0" y="0"/>
                </a:moveTo>
                <a:lnTo>
                  <a:pt x="580586" y="0"/>
                </a:lnTo>
                <a:lnTo>
                  <a:pt x="580586" y="714567"/>
                </a:lnTo>
                <a:lnTo>
                  <a:pt x="0" y="714567"/>
                </a:lnTo>
                <a:lnTo>
                  <a:pt x="0" y="0"/>
                </a:lnTo>
                <a:close/>
              </a:path>
            </a:pathLst>
          </a:custGeom>
          <a:blipFill rotWithShape="1">
            <a:blip r:embed="rId16">
              <a:alphaModFix/>
            </a:blip>
            <a:stretch>
              <a:fillRect b="0" l="0" r="0" t="0"/>
            </a:stretch>
          </a:blipFill>
          <a:ln>
            <a:noFill/>
          </a:ln>
        </p:spPr>
      </p:sp>
      <p:sp>
        <p:nvSpPr>
          <p:cNvPr id="583" name="Google Shape;583;p23"/>
          <p:cNvSpPr/>
          <p:nvPr/>
        </p:nvSpPr>
        <p:spPr>
          <a:xfrm>
            <a:off x="15384518" y="7238228"/>
            <a:ext cx="595771" cy="714567"/>
          </a:xfrm>
          <a:custGeom>
            <a:rect b="b" l="l" r="r" t="t"/>
            <a:pathLst>
              <a:path extrusionOk="0" h="714567" w="595771">
                <a:moveTo>
                  <a:pt x="0" y="0"/>
                </a:moveTo>
                <a:lnTo>
                  <a:pt x="595771" y="0"/>
                </a:lnTo>
                <a:lnTo>
                  <a:pt x="595771" y="714567"/>
                </a:lnTo>
                <a:lnTo>
                  <a:pt x="0" y="714567"/>
                </a:lnTo>
                <a:lnTo>
                  <a:pt x="0" y="0"/>
                </a:lnTo>
                <a:close/>
              </a:path>
            </a:pathLst>
          </a:custGeom>
          <a:blipFill rotWithShape="1">
            <a:blip r:embed="rId17">
              <a:alphaModFix/>
            </a:blip>
            <a:stretch>
              <a:fillRect b="0" l="0" r="0" t="0"/>
            </a:stretch>
          </a:blipFill>
          <a:ln>
            <a:noFill/>
          </a:ln>
        </p:spPr>
      </p:sp>
      <p:sp>
        <p:nvSpPr>
          <p:cNvPr id="584" name="Google Shape;584;p23"/>
          <p:cNvSpPr txBox="1"/>
          <p:nvPr/>
        </p:nvSpPr>
        <p:spPr>
          <a:xfrm>
            <a:off x="8186447" y="3647156"/>
            <a:ext cx="2282053" cy="241866"/>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HITORIAS DE USUARIO</a:t>
            </a:r>
            <a:endParaRPr/>
          </a:p>
        </p:txBody>
      </p:sp>
      <p:sp>
        <p:nvSpPr>
          <p:cNvPr id="585" name="Google Shape;585;p23"/>
          <p:cNvSpPr txBox="1"/>
          <p:nvPr/>
        </p:nvSpPr>
        <p:spPr>
          <a:xfrm>
            <a:off x="12176087" y="3647156"/>
            <a:ext cx="737707" cy="241866"/>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ÉPICAS</a:t>
            </a:r>
            <a:endParaRPr/>
          </a:p>
        </p:txBody>
      </p:sp>
      <p:sp>
        <p:nvSpPr>
          <p:cNvPr id="586" name="Google Shape;586;p23"/>
          <p:cNvSpPr txBox="1"/>
          <p:nvPr/>
        </p:nvSpPr>
        <p:spPr>
          <a:xfrm>
            <a:off x="8325591" y="5066116"/>
            <a:ext cx="2003766" cy="241866"/>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ACTAS DE REUNIÓN</a:t>
            </a:r>
            <a:endParaRPr/>
          </a:p>
        </p:txBody>
      </p:sp>
      <p:sp>
        <p:nvSpPr>
          <p:cNvPr id="587" name="Google Shape;587;p23"/>
          <p:cNvSpPr txBox="1"/>
          <p:nvPr/>
        </p:nvSpPr>
        <p:spPr>
          <a:xfrm>
            <a:off x="11642671" y="5066116"/>
            <a:ext cx="1804540" cy="241866"/>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SPRINT BACKLOG</a:t>
            </a:r>
            <a:endParaRPr/>
          </a:p>
        </p:txBody>
      </p:sp>
      <p:sp>
        <p:nvSpPr>
          <p:cNvPr id="588" name="Google Shape;588;p23"/>
          <p:cNvSpPr txBox="1"/>
          <p:nvPr/>
        </p:nvSpPr>
        <p:spPr>
          <a:xfrm>
            <a:off x="8290289" y="6605837"/>
            <a:ext cx="2074370" cy="241866"/>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PRODUCT BACKLOG</a:t>
            </a:r>
            <a:endParaRPr/>
          </a:p>
        </p:txBody>
      </p:sp>
      <p:sp>
        <p:nvSpPr>
          <p:cNvPr id="589" name="Google Shape;589;p23"/>
          <p:cNvSpPr txBox="1"/>
          <p:nvPr/>
        </p:nvSpPr>
        <p:spPr>
          <a:xfrm>
            <a:off x="11513115" y="6605837"/>
            <a:ext cx="2063652" cy="241866"/>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MATRÍZ DE RIESGOS</a:t>
            </a:r>
            <a:endParaRPr/>
          </a:p>
        </p:txBody>
      </p:sp>
      <p:sp>
        <p:nvSpPr>
          <p:cNvPr id="590" name="Google Shape;590;p23"/>
          <p:cNvSpPr txBox="1"/>
          <p:nvPr/>
        </p:nvSpPr>
        <p:spPr>
          <a:xfrm>
            <a:off x="14451204" y="3647057"/>
            <a:ext cx="2462399" cy="241866"/>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SPRINT RETROSPECTIVE</a:t>
            </a:r>
            <a:endParaRPr/>
          </a:p>
        </p:txBody>
      </p:sp>
      <p:sp>
        <p:nvSpPr>
          <p:cNvPr id="591" name="Google Shape;591;p23"/>
          <p:cNvSpPr txBox="1"/>
          <p:nvPr/>
        </p:nvSpPr>
        <p:spPr>
          <a:xfrm>
            <a:off x="14883496" y="5122984"/>
            <a:ext cx="1597816" cy="241915"/>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SPRINT REVIEW</a:t>
            </a:r>
            <a:endParaRPr/>
          </a:p>
        </p:txBody>
      </p:sp>
      <p:sp>
        <p:nvSpPr>
          <p:cNvPr id="592" name="Google Shape;592;p23"/>
          <p:cNvSpPr txBox="1"/>
          <p:nvPr/>
        </p:nvSpPr>
        <p:spPr>
          <a:xfrm>
            <a:off x="14874338" y="6605788"/>
            <a:ext cx="1616130" cy="241915"/>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ARQUITECTURA</a:t>
            </a:r>
            <a:endParaRPr/>
          </a:p>
        </p:txBody>
      </p:sp>
      <p:sp>
        <p:nvSpPr>
          <p:cNvPr id="593" name="Google Shape;593;p23"/>
          <p:cNvSpPr txBox="1"/>
          <p:nvPr/>
        </p:nvSpPr>
        <p:spPr>
          <a:xfrm>
            <a:off x="8354997" y="8143103"/>
            <a:ext cx="2016230" cy="241915"/>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BURNDOWN CHART</a:t>
            </a:r>
            <a:endParaRPr/>
          </a:p>
        </p:txBody>
      </p:sp>
      <p:sp>
        <p:nvSpPr>
          <p:cNvPr id="594" name="Google Shape;594;p23"/>
          <p:cNvSpPr txBox="1"/>
          <p:nvPr/>
        </p:nvSpPr>
        <p:spPr>
          <a:xfrm>
            <a:off x="14979986" y="8143103"/>
            <a:ext cx="1404834" cy="241915"/>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INCREMENTO</a:t>
            </a:r>
            <a:endParaRPr/>
          </a:p>
        </p:txBody>
      </p:sp>
      <p:sp>
        <p:nvSpPr>
          <p:cNvPr id="595" name="Google Shape;595;p23"/>
          <p:cNvSpPr txBox="1"/>
          <p:nvPr/>
        </p:nvSpPr>
        <p:spPr>
          <a:xfrm>
            <a:off x="11633870" y="8143103"/>
            <a:ext cx="1822142" cy="241915"/>
          </a:xfrm>
          <a:prstGeom prst="rect">
            <a:avLst/>
          </a:prstGeom>
          <a:noFill/>
          <a:ln>
            <a:noFill/>
          </a:ln>
        </p:spPr>
        <p:txBody>
          <a:bodyPr anchorCtr="0" anchor="t" bIns="0" lIns="0" spcFirstLastPara="1" rIns="0" wrap="square" tIns="0">
            <a:spAutoFit/>
          </a:bodyPr>
          <a:lstStyle/>
          <a:p>
            <a:pPr indent="0" lvl="0" marL="0" marR="0" rtl="0" algn="ctr">
              <a:lnSpc>
                <a:spcPct val="110105"/>
              </a:lnSpc>
              <a:spcBef>
                <a:spcPts val="0"/>
              </a:spcBef>
              <a:spcAft>
                <a:spcPts val="0"/>
              </a:spcAft>
              <a:buNone/>
            </a:pPr>
            <a:r>
              <a:rPr b="1" i="0" lang="en-US" sz="1712" u="none" cap="none" strike="noStrike">
                <a:solidFill>
                  <a:srgbClr val="1800AD"/>
                </a:solidFill>
                <a:latin typeface="Arial"/>
                <a:ea typeface="Arial"/>
                <a:cs typeface="Arial"/>
                <a:sym typeface="Arial"/>
              </a:rPr>
              <a:t>IMPEDIMENT LOG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61248"/>
            </a:gs>
            <a:gs pos="15000">
              <a:srgbClr val="461248"/>
            </a:gs>
            <a:gs pos="40000">
              <a:srgbClr val="A93747"/>
            </a:gs>
            <a:gs pos="60000">
              <a:srgbClr val="F2A15F"/>
            </a:gs>
            <a:gs pos="85000">
              <a:srgbClr val="FFD6B6"/>
            </a:gs>
            <a:gs pos="100000">
              <a:srgbClr val="FFD6B6"/>
            </a:gs>
          </a:gsLst>
          <a:lin ang="18900000" scaled="0"/>
        </a:gradFill>
      </p:bgPr>
    </p:bg>
    <p:spTree>
      <p:nvGrpSpPr>
        <p:cNvPr id="599" name="Shape 599"/>
        <p:cNvGrpSpPr/>
        <p:nvPr/>
      </p:nvGrpSpPr>
      <p:grpSpPr>
        <a:xfrm>
          <a:off x="0" y="0"/>
          <a:ext cx="0" cy="0"/>
          <a:chOff x="0" y="0"/>
          <a:chExt cx="0" cy="0"/>
        </a:xfrm>
      </p:grpSpPr>
      <p:sp>
        <p:nvSpPr>
          <p:cNvPr id="600" name="Google Shape;600;p24"/>
          <p:cNvSpPr/>
          <p:nvPr/>
        </p:nvSpPr>
        <p:spPr>
          <a:xfrm>
            <a:off x="16875777" y="9126106"/>
            <a:ext cx="767046" cy="767046"/>
          </a:xfrm>
          <a:custGeom>
            <a:rect b="b" l="l" r="r" t="t"/>
            <a:pathLst>
              <a:path extrusionOk="0" h="767046" w="767046">
                <a:moveTo>
                  <a:pt x="0" y="0"/>
                </a:moveTo>
                <a:lnTo>
                  <a:pt x="767046" y="0"/>
                </a:lnTo>
                <a:lnTo>
                  <a:pt x="767046" y="767046"/>
                </a:lnTo>
                <a:lnTo>
                  <a:pt x="0" y="767046"/>
                </a:lnTo>
                <a:lnTo>
                  <a:pt x="0" y="0"/>
                </a:lnTo>
                <a:close/>
              </a:path>
            </a:pathLst>
          </a:custGeom>
          <a:blipFill rotWithShape="1">
            <a:blip r:embed="rId3">
              <a:alphaModFix/>
            </a:blip>
            <a:stretch>
              <a:fillRect b="0" l="0" r="0" t="0"/>
            </a:stretch>
          </a:blipFill>
          <a:ln>
            <a:noFill/>
          </a:ln>
        </p:spPr>
      </p:sp>
      <p:sp>
        <p:nvSpPr>
          <p:cNvPr id="601" name="Google Shape;601;p24"/>
          <p:cNvSpPr/>
          <p:nvPr/>
        </p:nvSpPr>
        <p:spPr>
          <a:xfrm>
            <a:off x="885677" y="1619763"/>
            <a:ext cx="768108" cy="768108"/>
          </a:xfrm>
          <a:custGeom>
            <a:rect b="b" l="l" r="r" t="t"/>
            <a:pathLst>
              <a:path extrusionOk="0" h="768108" w="768108">
                <a:moveTo>
                  <a:pt x="0" y="0"/>
                </a:moveTo>
                <a:lnTo>
                  <a:pt x="768108" y="0"/>
                </a:lnTo>
                <a:lnTo>
                  <a:pt x="768108" y="768109"/>
                </a:lnTo>
                <a:lnTo>
                  <a:pt x="0" y="768109"/>
                </a:lnTo>
                <a:lnTo>
                  <a:pt x="0" y="0"/>
                </a:lnTo>
                <a:close/>
              </a:path>
            </a:pathLst>
          </a:custGeom>
          <a:blipFill rotWithShape="1">
            <a:blip r:embed="rId4">
              <a:alphaModFix/>
            </a:blip>
            <a:stretch>
              <a:fillRect b="0" l="0" r="0" t="0"/>
            </a:stretch>
          </a:blipFill>
          <a:ln>
            <a:noFill/>
          </a:ln>
        </p:spPr>
      </p:sp>
      <p:sp>
        <p:nvSpPr>
          <p:cNvPr id="602" name="Google Shape;602;p24"/>
          <p:cNvSpPr/>
          <p:nvPr/>
        </p:nvSpPr>
        <p:spPr>
          <a:xfrm>
            <a:off x="885677" y="9258300"/>
            <a:ext cx="773082" cy="778746"/>
          </a:xfrm>
          <a:custGeom>
            <a:rect b="b" l="l" r="r" t="t"/>
            <a:pathLst>
              <a:path extrusionOk="0" h="778746" w="773082">
                <a:moveTo>
                  <a:pt x="0" y="0"/>
                </a:moveTo>
                <a:lnTo>
                  <a:pt x="773082" y="0"/>
                </a:lnTo>
                <a:lnTo>
                  <a:pt x="773082" y="778746"/>
                </a:lnTo>
                <a:lnTo>
                  <a:pt x="0" y="778746"/>
                </a:lnTo>
                <a:lnTo>
                  <a:pt x="0" y="0"/>
                </a:lnTo>
                <a:close/>
              </a:path>
            </a:pathLst>
          </a:custGeom>
          <a:blipFill rotWithShape="1">
            <a:blip r:embed="rId5">
              <a:alphaModFix/>
            </a:blip>
            <a:stretch>
              <a:fillRect b="0" l="0" r="0" t="0"/>
            </a:stretch>
          </a:blipFill>
          <a:ln>
            <a:noFill/>
          </a:ln>
        </p:spPr>
      </p:sp>
      <p:sp>
        <p:nvSpPr>
          <p:cNvPr id="603" name="Google Shape;603;p24"/>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6">
              <a:alphaModFix/>
            </a:blip>
            <a:stretch>
              <a:fillRect b="0" l="0" r="0" t="0"/>
            </a:stretch>
          </a:blipFill>
          <a:ln>
            <a:noFill/>
          </a:ln>
        </p:spPr>
      </p:sp>
      <p:sp>
        <p:nvSpPr>
          <p:cNvPr id="604" name="Google Shape;604;p24"/>
          <p:cNvSpPr/>
          <p:nvPr/>
        </p:nvSpPr>
        <p:spPr>
          <a:xfrm>
            <a:off x="2582653" y="2003817"/>
            <a:ext cx="6480775" cy="4270832"/>
          </a:xfrm>
          <a:custGeom>
            <a:rect b="b" l="l" r="r" t="t"/>
            <a:pathLst>
              <a:path extrusionOk="0" h="4270832" w="6480775">
                <a:moveTo>
                  <a:pt x="0" y="0"/>
                </a:moveTo>
                <a:lnTo>
                  <a:pt x="6480775" y="0"/>
                </a:lnTo>
                <a:lnTo>
                  <a:pt x="6480775" y="4270833"/>
                </a:lnTo>
                <a:lnTo>
                  <a:pt x="0" y="4270833"/>
                </a:lnTo>
                <a:lnTo>
                  <a:pt x="0" y="0"/>
                </a:lnTo>
                <a:close/>
              </a:path>
            </a:pathLst>
          </a:custGeom>
          <a:blipFill rotWithShape="1">
            <a:blip r:embed="rId7">
              <a:alphaModFix/>
            </a:blip>
            <a:stretch>
              <a:fillRect b="0" l="-255" r="-255" t="-286"/>
            </a:stretch>
          </a:blipFill>
          <a:ln>
            <a:noFill/>
          </a:ln>
        </p:spPr>
      </p:sp>
      <p:sp>
        <p:nvSpPr>
          <p:cNvPr id="605" name="Google Shape;605;p24"/>
          <p:cNvSpPr/>
          <p:nvPr/>
        </p:nvSpPr>
        <p:spPr>
          <a:xfrm>
            <a:off x="9721141" y="3932047"/>
            <a:ext cx="6238395" cy="5326253"/>
          </a:xfrm>
          <a:custGeom>
            <a:rect b="b" l="l" r="r" t="t"/>
            <a:pathLst>
              <a:path extrusionOk="0" h="5326253" w="6238395">
                <a:moveTo>
                  <a:pt x="0" y="0"/>
                </a:moveTo>
                <a:lnTo>
                  <a:pt x="6238395" y="0"/>
                </a:lnTo>
                <a:lnTo>
                  <a:pt x="6238395" y="5326253"/>
                </a:lnTo>
                <a:lnTo>
                  <a:pt x="0" y="5326253"/>
                </a:lnTo>
                <a:lnTo>
                  <a:pt x="0" y="0"/>
                </a:lnTo>
                <a:close/>
              </a:path>
            </a:pathLst>
          </a:custGeom>
          <a:blipFill rotWithShape="1">
            <a:blip r:embed="rId8">
              <a:alphaModFix/>
            </a:blip>
            <a:stretch>
              <a:fillRect b="0" l="0" r="0" t="0"/>
            </a:stretch>
          </a:blipFill>
          <a:ln>
            <a:noFill/>
          </a:ln>
        </p:spPr>
      </p:sp>
      <p:sp>
        <p:nvSpPr>
          <p:cNvPr id="606" name="Google Shape;606;p24"/>
          <p:cNvSpPr txBox="1"/>
          <p:nvPr/>
        </p:nvSpPr>
        <p:spPr>
          <a:xfrm>
            <a:off x="1848099" y="462419"/>
            <a:ext cx="7639170" cy="8045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FFFFFF"/>
                </a:solidFill>
                <a:latin typeface="Arial"/>
                <a:ea typeface="Arial"/>
                <a:cs typeface="Arial"/>
                <a:sym typeface="Arial"/>
              </a:rPr>
              <a:t>13 CRONOGRAMA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A9FF"/>
            </a:gs>
            <a:gs pos="100000">
              <a:srgbClr val="F5F8FF"/>
            </a:gs>
          </a:gsLst>
          <a:lin ang="5400000" scaled="0"/>
        </a:gradFill>
      </p:bgPr>
    </p:bg>
    <p:spTree>
      <p:nvGrpSpPr>
        <p:cNvPr id="610" name="Shape 610"/>
        <p:cNvGrpSpPr/>
        <p:nvPr/>
      </p:nvGrpSpPr>
      <p:grpSpPr>
        <a:xfrm>
          <a:off x="0" y="0"/>
          <a:ext cx="0" cy="0"/>
          <a:chOff x="0" y="0"/>
          <a:chExt cx="0" cy="0"/>
        </a:xfrm>
      </p:grpSpPr>
      <p:sp>
        <p:nvSpPr>
          <p:cNvPr id="611" name="Google Shape;611;p25"/>
          <p:cNvSpPr/>
          <p:nvPr/>
        </p:nvSpPr>
        <p:spPr>
          <a:xfrm>
            <a:off x="16875777" y="9126106"/>
            <a:ext cx="767046" cy="767046"/>
          </a:xfrm>
          <a:custGeom>
            <a:rect b="b" l="l" r="r" t="t"/>
            <a:pathLst>
              <a:path extrusionOk="0" h="767046" w="767046">
                <a:moveTo>
                  <a:pt x="0" y="0"/>
                </a:moveTo>
                <a:lnTo>
                  <a:pt x="767046" y="0"/>
                </a:lnTo>
                <a:lnTo>
                  <a:pt x="767046" y="767046"/>
                </a:lnTo>
                <a:lnTo>
                  <a:pt x="0" y="767046"/>
                </a:lnTo>
                <a:lnTo>
                  <a:pt x="0" y="0"/>
                </a:lnTo>
                <a:close/>
              </a:path>
            </a:pathLst>
          </a:custGeom>
          <a:blipFill rotWithShape="1">
            <a:blip r:embed="rId3">
              <a:alphaModFix/>
            </a:blip>
            <a:stretch>
              <a:fillRect b="0" l="0" r="0" t="0"/>
            </a:stretch>
          </a:blipFill>
          <a:ln>
            <a:noFill/>
          </a:ln>
        </p:spPr>
      </p:sp>
      <p:sp>
        <p:nvSpPr>
          <p:cNvPr id="612" name="Google Shape;612;p25"/>
          <p:cNvSpPr/>
          <p:nvPr/>
        </p:nvSpPr>
        <p:spPr>
          <a:xfrm>
            <a:off x="885677" y="1619763"/>
            <a:ext cx="768108" cy="768108"/>
          </a:xfrm>
          <a:custGeom>
            <a:rect b="b" l="l" r="r" t="t"/>
            <a:pathLst>
              <a:path extrusionOk="0" h="768108" w="768108">
                <a:moveTo>
                  <a:pt x="0" y="0"/>
                </a:moveTo>
                <a:lnTo>
                  <a:pt x="768108" y="0"/>
                </a:lnTo>
                <a:lnTo>
                  <a:pt x="768108" y="768109"/>
                </a:lnTo>
                <a:lnTo>
                  <a:pt x="0" y="768109"/>
                </a:lnTo>
                <a:lnTo>
                  <a:pt x="0" y="0"/>
                </a:lnTo>
                <a:close/>
              </a:path>
            </a:pathLst>
          </a:custGeom>
          <a:blipFill rotWithShape="1">
            <a:blip r:embed="rId4">
              <a:alphaModFix/>
            </a:blip>
            <a:stretch>
              <a:fillRect b="0" l="0" r="0" t="0"/>
            </a:stretch>
          </a:blipFill>
          <a:ln>
            <a:noFill/>
          </a:ln>
        </p:spPr>
      </p:sp>
      <p:sp>
        <p:nvSpPr>
          <p:cNvPr id="613" name="Google Shape;613;p25"/>
          <p:cNvSpPr/>
          <p:nvPr/>
        </p:nvSpPr>
        <p:spPr>
          <a:xfrm>
            <a:off x="885677" y="9258300"/>
            <a:ext cx="773082" cy="778746"/>
          </a:xfrm>
          <a:custGeom>
            <a:rect b="b" l="l" r="r" t="t"/>
            <a:pathLst>
              <a:path extrusionOk="0" h="778746" w="773082">
                <a:moveTo>
                  <a:pt x="0" y="0"/>
                </a:moveTo>
                <a:lnTo>
                  <a:pt x="773082" y="0"/>
                </a:lnTo>
                <a:lnTo>
                  <a:pt x="773082" y="778746"/>
                </a:lnTo>
                <a:lnTo>
                  <a:pt x="0" y="778746"/>
                </a:lnTo>
                <a:lnTo>
                  <a:pt x="0" y="0"/>
                </a:lnTo>
                <a:close/>
              </a:path>
            </a:pathLst>
          </a:custGeom>
          <a:blipFill rotWithShape="1">
            <a:blip r:embed="rId5">
              <a:alphaModFix/>
            </a:blip>
            <a:stretch>
              <a:fillRect b="0" l="0" r="0" t="0"/>
            </a:stretch>
          </a:blipFill>
          <a:ln>
            <a:noFill/>
          </a:ln>
        </p:spPr>
      </p:sp>
      <p:sp>
        <p:nvSpPr>
          <p:cNvPr id="614" name="Google Shape;614;p25"/>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6">
              <a:alphaModFix/>
            </a:blip>
            <a:stretch>
              <a:fillRect b="0" l="0" r="0" t="0"/>
            </a:stretch>
          </a:blipFill>
          <a:ln>
            <a:noFill/>
          </a:ln>
        </p:spPr>
      </p:sp>
      <p:sp>
        <p:nvSpPr>
          <p:cNvPr id="615" name="Google Shape;615;p25"/>
          <p:cNvSpPr/>
          <p:nvPr/>
        </p:nvSpPr>
        <p:spPr>
          <a:xfrm>
            <a:off x="1491454" y="2740297"/>
            <a:ext cx="15984064" cy="5474542"/>
          </a:xfrm>
          <a:custGeom>
            <a:rect b="b" l="l" r="r" t="t"/>
            <a:pathLst>
              <a:path extrusionOk="0" h="5474542" w="15984064">
                <a:moveTo>
                  <a:pt x="0" y="0"/>
                </a:moveTo>
                <a:lnTo>
                  <a:pt x="15984065" y="0"/>
                </a:lnTo>
                <a:lnTo>
                  <a:pt x="15984065" y="5474542"/>
                </a:lnTo>
                <a:lnTo>
                  <a:pt x="0" y="5474542"/>
                </a:lnTo>
                <a:lnTo>
                  <a:pt x="0" y="0"/>
                </a:lnTo>
                <a:close/>
              </a:path>
            </a:pathLst>
          </a:custGeom>
          <a:blipFill rotWithShape="1">
            <a:blip r:embed="rId7">
              <a:alphaModFix/>
            </a:blip>
            <a:stretch>
              <a:fillRect b="0" l="0" r="0" t="0"/>
            </a:stretch>
          </a:blipFill>
          <a:ln>
            <a:noFill/>
          </a:ln>
        </p:spPr>
      </p:sp>
      <p:sp>
        <p:nvSpPr>
          <p:cNvPr id="616" name="Google Shape;616;p25"/>
          <p:cNvSpPr txBox="1"/>
          <p:nvPr/>
        </p:nvSpPr>
        <p:spPr>
          <a:xfrm>
            <a:off x="4864884" y="1199272"/>
            <a:ext cx="8558231" cy="8045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FFFFFF"/>
                </a:solidFill>
                <a:latin typeface="Arial"/>
                <a:ea typeface="Arial"/>
                <a:cs typeface="Arial"/>
                <a:sym typeface="Arial"/>
              </a:rPr>
              <a:t>14 PRODUCT BACKLOG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88888"/>
            </a:gs>
            <a:gs pos="100000">
              <a:srgbClr val="FFFFFF"/>
            </a:gs>
          </a:gsLst>
          <a:lin ang="16200000" scaled="0"/>
        </a:gradFill>
      </p:bgPr>
    </p:bg>
    <p:spTree>
      <p:nvGrpSpPr>
        <p:cNvPr id="620" name="Shape 620"/>
        <p:cNvGrpSpPr/>
        <p:nvPr/>
      </p:nvGrpSpPr>
      <p:grpSpPr>
        <a:xfrm>
          <a:off x="0" y="0"/>
          <a:ext cx="0" cy="0"/>
          <a:chOff x="0" y="0"/>
          <a:chExt cx="0" cy="0"/>
        </a:xfrm>
      </p:grpSpPr>
      <p:sp>
        <p:nvSpPr>
          <p:cNvPr id="621" name="Google Shape;621;p26"/>
          <p:cNvSpPr/>
          <p:nvPr/>
        </p:nvSpPr>
        <p:spPr>
          <a:xfrm>
            <a:off x="16875777" y="9126106"/>
            <a:ext cx="767046" cy="767046"/>
          </a:xfrm>
          <a:custGeom>
            <a:rect b="b" l="l" r="r" t="t"/>
            <a:pathLst>
              <a:path extrusionOk="0" h="767046" w="767046">
                <a:moveTo>
                  <a:pt x="0" y="0"/>
                </a:moveTo>
                <a:lnTo>
                  <a:pt x="767046" y="0"/>
                </a:lnTo>
                <a:lnTo>
                  <a:pt x="767046" y="767046"/>
                </a:lnTo>
                <a:lnTo>
                  <a:pt x="0" y="767046"/>
                </a:lnTo>
                <a:lnTo>
                  <a:pt x="0" y="0"/>
                </a:lnTo>
                <a:close/>
              </a:path>
            </a:pathLst>
          </a:custGeom>
          <a:blipFill rotWithShape="1">
            <a:blip r:embed="rId3">
              <a:alphaModFix/>
            </a:blip>
            <a:stretch>
              <a:fillRect b="0" l="0" r="0" t="0"/>
            </a:stretch>
          </a:blipFill>
          <a:ln>
            <a:noFill/>
          </a:ln>
        </p:spPr>
      </p:sp>
      <p:sp>
        <p:nvSpPr>
          <p:cNvPr id="622" name="Google Shape;622;p26"/>
          <p:cNvSpPr/>
          <p:nvPr/>
        </p:nvSpPr>
        <p:spPr>
          <a:xfrm>
            <a:off x="885677" y="1619763"/>
            <a:ext cx="768108" cy="768108"/>
          </a:xfrm>
          <a:custGeom>
            <a:rect b="b" l="l" r="r" t="t"/>
            <a:pathLst>
              <a:path extrusionOk="0" h="768108" w="768108">
                <a:moveTo>
                  <a:pt x="0" y="0"/>
                </a:moveTo>
                <a:lnTo>
                  <a:pt x="768108" y="0"/>
                </a:lnTo>
                <a:lnTo>
                  <a:pt x="768108" y="768109"/>
                </a:lnTo>
                <a:lnTo>
                  <a:pt x="0" y="768109"/>
                </a:lnTo>
                <a:lnTo>
                  <a:pt x="0" y="0"/>
                </a:lnTo>
                <a:close/>
              </a:path>
            </a:pathLst>
          </a:custGeom>
          <a:blipFill rotWithShape="1">
            <a:blip r:embed="rId4">
              <a:alphaModFix/>
            </a:blip>
            <a:stretch>
              <a:fillRect b="0" l="0" r="0" t="0"/>
            </a:stretch>
          </a:blipFill>
          <a:ln>
            <a:noFill/>
          </a:ln>
        </p:spPr>
      </p:sp>
      <p:sp>
        <p:nvSpPr>
          <p:cNvPr id="623" name="Google Shape;623;p26"/>
          <p:cNvSpPr/>
          <p:nvPr/>
        </p:nvSpPr>
        <p:spPr>
          <a:xfrm>
            <a:off x="885677" y="9114407"/>
            <a:ext cx="773082" cy="778746"/>
          </a:xfrm>
          <a:custGeom>
            <a:rect b="b" l="l" r="r" t="t"/>
            <a:pathLst>
              <a:path extrusionOk="0" h="778746" w="773082">
                <a:moveTo>
                  <a:pt x="0" y="0"/>
                </a:moveTo>
                <a:lnTo>
                  <a:pt x="773082" y="0"/>
                </a:lnTo>
                <a:lnTo>
                  <a:pt x="773082" y="778745"/>
                </a:lnTo>
                <a:lnTo>
                  <a:pt x="0" y="778745"/>
                </a:lnTo>
                <a:lnTo>
                  <a:pt x="0" y="0"/>
                </a:lnTo>
                <a:close/>
              </a:path>
            </a:pathLst>
          </a:custGeom>
          <a:blipFill rotWithShape="1">
            <a:blip r:embed="rId5">
              <a:alphaModFix/>
            </a:blip>
            <a:stretch>
              <a:fillRect b="0" l="0" r="0" t="0"/>
            </a:stretch>
          </a:blipFill>
          <a:ln>
            <a:noFill/>
          </a:ln>
        </p:spPr>
      </p:sp>
      <p:sp>
        <p:nvSpPr>
          <p:cNvPr id="624" name="Google Shape;624;p26"/>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6">
              <a:alphaModFix/>
            </a:blip>
            <a:stretch>
              <a:fillRect b="0" l="0" r="0" t="0"/>
            </a:stretch>
          </a:blipFill>
          <a:ln>
            <a:noFill/>
          </a:ln>
        </p:spPr>
      </p:sp>
      <p:sp>
        <p:nvSpPr>
          <p:cNvPr id="625" name="Google Shape;625;p26"/>
          <p:cNvSpPr/>
          <p:nvPr/>
        </p:nvSpPr>
        <p:spPr>
          <a:xfrm>
            <a:off x="3438464" y="2387872"/>
            <a:ext cx="11137301" cy="6022172"/>
          </a:xfrm>
          <a:custGeom>
            <a:rect b="b" l="l" r="r" t="t"/>
            <a:pathLst>
              <a:path extrusionOk="0" h="6022172" w="11137301">
                <a:moveTo>
                  <a:pt x="0" y="0"/>
                </a:moveTo>
                <a:lnTo>
                  <a:pt x="11137301" y="0"/>
                </a:lnTo>
                <a:lnTo>
                  <a:pt x="11137301" y="6022172"/>
                </a:lnTo>
                <a:lnTo>
                  <a:pt x="0" y="6022172"/>
                </a:lnTo>
                <a:lnTo>
                  <a:pt x="0" y="0"/>
                </a:lnTo>
                <a:close/>
              </a:path>
            </a:pathLst>
          </a:custGeom>
          <a:blipFill rotWithShape="1">
            <a:blip r:embed="rId7">
              <a:alphaModFix/>
            </a:blip>
            <a:stretch>
              <a:fillRect b="0" l="0" r="0" t="0"/>
            </a:stretch>
          </a:blipFill>
          <a:ln>
            <a:noFill/>
          </a:ln>
        </p:spPr>
      </p:sp>
      <p:sp>
        <p:nvSpPr>
          <p:cNvPr id="626" name="Google Shape;626;p26"/>
          <p:cNvSpPr txBox="1"/>
          <p:nvPr/>
        </p:nvSpPr>
        <p:spPr>
          <a:xfrm>
            <a:off x="1848099" y="462419"/>
            <a:ext cx="8558231" cy="8045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050217"/>
                </a:solidFill>
                <a:latin typeface="Arial"/>
                <a:ea typeface="Arial"/>
                <a:cs typeface="Arial"/>
                <a:sym typeface="Arial"/>
              </a:rPr>
              <a:t>15 PRESUPUESTO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BADBC4"/>
            </a:gs>
            <a:gs pos="100000">
              <a:srgbClr val="5EA6A3"/>
            </a:gs>
          </a:gsLst>
          <a:lin ang="0" scaled="0"/>
        </a:gradFill>
      </p:bgPr>
    </p:bg>
    <p:spTree>
      <p:nvGrpSpPr>
        <p:cNvPr id="630" name="Shape 630"/>
        <p:cNvGrpSpPr/>
        <p:nvPr/>
      </p:nvGrpSpPr>
      <p:grpSpPr>
        <a:xfrm>
          <a:off x="0" y="0"/>
          <a:ext cx="0" cy="0"/>
          <a:chOff x="0" y="0"/>
          <a:chExt cx="0" cy="0"/>
        </a:xfrm>
      </p:grpSpPr>
      <p:sp>
        <p:nvSpPr>
          <p:cNvPr id="631" name="Google Shape;631;p27"/>
          <p:cNvSpPr/>
          <p:nvPr/>
        </p:nvSpPr>
        <p:spPr>
          <a:xfrm>
            <a:off x="16875777" y="9126106"/>
            <a:ext cx="767046" cy="767046"/>
          </a:xfrm>
          <a:custGeom>
            <a:rect b="b" l="l" r="r" t="t"/>
            <a:pathLst>
              <a:path extrusionOk="0" h="767046" w="767046">
                <a:moveTo>
                  <a:pt x="0" y="0"/>
                </a:moveTo>
                <a:lnTo>
                  <a:pt x="767046" y="0"/>
                </a:lnTo>
                <a:lnTo>
                  <a:pt x="767046" y="767046"/>
                </a:lnTo>
                <a:lnTo>
                  <a:pt x="0" y="767046"/>
                </a:lnTo>
                <a:lnTo>
                  <a:pt x="0" y="0"/>
                </a:lnTo>
                <a:close/>
              </a:path>
            </a:pathLst>
          </a:custGeom>
          <a:blipFill rotWithShape="1">
            <a:blip r:embed="rId3">
              <a:alphaModFix/>
            </a:blip>
            <a:stretch>
              <a:fillRect b="0" l="0" r="0" t="0"/>
            </a:stretch>
          </a:blipFill>
          <a:ln>
            <a:noFill/>
          </a:ln>
        </p:spPr>
      </p:sp>
      <p:sp>
        <p:nvSpPr>
          <p:cNvPr id="632" name="Google Shape;632;p27"/>
          <p:cNvSpPr/>
          <p:nvPr/>
        </p:nvSpPr>
        <p:spPr>
          <a:xfrm>
            <a:off x="885677" y="1619763"/>
            <a:ext cx="768108" cy="768108"/>
          </a:xfrm>
          <a:custGeom>
            <a:rect b="b" l="l" r="r" t="t"/>
            <a:pathLst>
              <a:path extrusionOk="0" h="768108" w="768108">
                <a:moveTo>
                  <a:pt x="0" y="0"/>
                </a:moveTo>
                <a:lnTo>
                  <a:pt x="768108" y="0"/>
                </a:lnTo>
                <a:lnTo>
                  <a:pt x="768108" y="768109"/>
                </a:lnTo>
                <a:lnTo>
                  <a:pt x="0" y="768109"/>
                </a:lnTo>
                <a:lnTo>
                  <a:pt x="0" y="0"/>
                </a:lnTo>
                <a:close/>
              </a:path>
            </a:pathLst>
          </a:custGeom>
          <a:blipFill rotWithShape="1">
            <a:blip r:embed="rId4">
              <a:alphaModFix/>
            </a:blip>
            <a:stretch>
              <a:fillRect b="0" l="0" r="0" t="0"/>
            </a:stretch>
          </a:blipFill>
          <a:ln>
            <a:noFill/>
          </a:ln>
        </p:spPr>
      </p:sp>
      <p:sp>
        <p:nvSpPr>
          <p:cNvPr id="633" name="Google Shape;633;p27"/>
          <p:cNvSpPr/>
          <p:nvPr/>
        </p:nvSpPr>
        <p:spPr>
          <a:xfrm>
            <a:off x="885677" y="9114407"/>
            <a:ext cx="773082" cy="778746"/>
          </a:xfrm>
          <a:custGeom>
            <a:rect b="b" l="l" r="r" t="t"/>
            <a:pathLst>
              <a:path extrusionOk="0" h="778746" w="773082">
                <a:moveTo>
                  <a:pt x="0" y="0"/>
                </a:moveTo>
                <a:lnTo>
                  <a:pt x="773082" y="0"/>
                </a:lnTo>
                <a:lnTo>
                  <a:pt x="773082" y="778745"/>
                </a:lnTo>
                <a:lnTo>
                  <a:pt x="0" y="778745"/>
                </a:lnTo>
                <a:lnTo>
                  <a:pt x="0" y="0"/>
                </a:lnTo>
                <a:close/>
              </a:path>
            </a:pathLst>
          </a:custGeom>
          <a:blipFill rotWithShape="1">
            <a:blip r:embed="rId5">
              <a:alphaModFix/>
            </a:blip>
            <a:stretch>
              <a:fillRect b="0" l="0" r="0" t="0"/>
            </a:stretch>
          </a:blipFill>
          <a:ln>
            <a:noFill/>
          </a:ln>
        </p:spPr>
      </p:sp>
      <p:sp>
        <p:nvSpPr>
          <p:cNvPr id="634" name="Google Shape;634;p27"/>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6">
              <a:alphaModFix/>
            </a:blip>
            <a:stretch>
              <a:fillRect b="0" l="0" r="0" t="0"/>
            </a:stretch>
          </a:blipFill>
          <a:ln>
            <a:noFill/>
          </a:ln>
        </p:spPr>
      </p:sp>
      <p:sp>
        <p:nvSpPr>
          <p:cNvPr id="635" name="Google Shape;635;p27"/>
          <p:cNvSpPr/>
          <p:nvPr/>
        </p:nvSpPr>
        <p:spPr>
          <a:xfrm>
            <a:off x="1848099" y="2277338"/>
            <a:ext cx="14932538" cy="6980962"/>
          </a:xfrm>
          <a:custGeom>
            <a:rect b="b" l="l" r="r" t="t"/>
            <a:pathLst>
              <a:path extrusionOk="0" h="6980962" w="14932538">
                <a:moveTo>
                  <a:pt x="0" y="0"/>
                </a:moveTo>
                <a:lnTo>
                  <a:pt x="14932539" y="0"/>
                </a:lnTo>
                <a:lnTo>
                  <a:pt x="14932539" y="6980962"/>
                </a:lnTo>
                <a:lnTo>
                  <a:pt x="0" y="6980962"/>
                </a:lnTo>
                <a:lnTo>
                  <a:pt x="0" y="0"/>
                </a:lnTo>
                <a:close/>
              </a:path>
            </a:pathLst>
          </a:custGeom>
          <a:blipFill rotWithShape="1">
            <a:blip r:embed="rId7">
              <a:alphaModFix/>
            </a:blip>
            <a:stretch>
              <a:fillRect b="0" l="0" r="0" t="0"/>
            </a:stretch>
          </a:blipFill>
          <a:ln>
            <a:noFill/>
          </a:ln>
        </p:spPr>
      </p:sp>
      <p:sp>
        <p:nvSpPr>
          <p:cNvPr id="636" name="Google Shape;636;p27"/>
          <p:cNvSpPr txBox="1"/>
          <p:nvPr/>
        </p:nvSpPr>
        <p:spPr>
          <a:xfrm>
            <a:off x="1848099" y="462419"/>
            <a:ext cx="8558231" cy="8045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050217"/>
                </a:solidFill>
                <a:latin typeface="Arial"/>
                <a:ea typeface="Arial"/>
                <a:cs typeface="Arial"/>
                <a:sym typeface="Arial"/>
              </a:rPr>
              <a:t>16 MATRIZ DE RIESGO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28"/>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642" name="Google Shape;642;p28"/>
          <p:cNvSpPr/>
          <p:nvPr/>
        </p:nvSpPr>
        <p:spPr>
          <a:xfrm>
            <a:off x="7128050" y="1487812"/>
            <a:ext cx="9323064" cy="8367450"/>
          </a:xfrm>
          <a:custGeom>
            <a:rect b="b" l="l" r="r" t="t"/>
            <a:pathLst>
              <a:path extrusionOk="0" h="8367450" w="9323064">
                <a:moveTo>
                  <a:pt x="0" y="0"/>
                </a:moveTo>
                <a:lnTo>
                  <a:pt x="9323064" y="0"/>
                </a:lnTo>
                <a:lnTo>
                  <a:pt x="9323064" y="8367450"/>
                </a:lnTo>
                <a:lnTo>
                  <a:pt x="0" y="8367450"/>
                </a:lnTo>
                <a:lnTo>
                  <a:pt x="0" y="0"/>
                </a:lnTo>
                <a:close/>
              </a:path>
            </a:pathLst>
          </a:custGeom>
          <a:blipFill rotWithShape="1">
            <a:blip r:embed="rId4">
              <a:alphaModFix/>
            </a:blip>
            <a:stretch>
              <a:fillRect b="0" l="0" r="0" t="0"/>
            </a:stretch>
          </a:blipFill>
          <a:ln>
            <a:noFill/>
          </a:ln>
        </p:spPr>
      </p:sp>
      <p:sp>
        <p:nvSpPr>
          <p:cNvPr id="643" name="Google Shape;643;p28"/>
          <p:cNvSpPr/>
          <p:nvPr/>
        </p:nvSpPr>
        <p:spPr>
          <a:xfrm>
            <a:off x="1492754" y="3925002"/>
            <a:ext cx="5063431" cy="3922376"/>
          </a:xfrm>
          <a:custGeom>
            <a:rect b="b" l="l" r="r" t="t"/>
            <a:pathLst>
              <a:path extrusionOk="0" h="3922376" w="5063431">
                <a:moveTo>
                  <a:pt x="0" y="0"/>
                </a:moveTo>
                <a:lnTo>
                  <a:pt x="5063432" y="0"/>
                </a:lnTo>
                <a:lnTo>
                  <a:pt x="5063432" y="3922376"/>
                </a:lnTo>
                <a:lnTo>
                  <a:pt x="0" y="3922376"/>
                </a:lnTo>
                <a:lnTo>
                  <a:pt x="0" y="0"/>
                </a:lnTo>
                <a:close/>
              </a:path>
            </a:pathLst>
          </a:custGeom>
          <a:blipFill rotWithShape="1">
            <a:blip r:embed="rId5">
              <a:alphaModFix/>
            </a:blip>
            <a:stretch>
              <a:fillRect b="0" l="0" r="0" t="0"/>
            </a:stretch>
          </a:blipFill>
          <a:ln>
            <a:noFill/>
          </a:ln>
        </p:spPr>
      </p:sp>
      <p:sp>
        <p:nvSpPr>
          <p:cNvPr id="644" name="Google Shape;644;p28"/>
          <p:cNvSpPr txBox="1"/>
          <p:nvPr/>
        </p:nvSpPr>
        <p:spPr>
          <a:xfrm>
            <a:off x="1028700" y="515050"/>
            <a:ext cx="150624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17 EVIDENCIAS ESPECÍFICAS SPRINT 0</a:t>
            </a:r>
            <a:endParaRPr/>
          </a:p>
        </p:txBody>
      </p:sp>
      <p:sp>
        <p:nvSpPr>
          <p:cNvPr id="645" name="Google Shape;645;p28"/>
          <p:cNvSpPr txBox="1"/>
          <p:nvPr/>
        </p:nvSpPr>
        <p:spPr>
          <a:xfrm>
            <a:off x="443075" y="1836875"/>
            <a:ext cx="65070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SCRUM BOARD SPRINT 0</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29"/>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651" name="Google Shape;651;p29"/>
          <p:cNvSpPr/>
          <p:nvPr/>
        </p:nvSpPr>
        <p:spPr>
          <a:xfrm>
            <a:off x="2423397" y="2102777"/>
            <a:ext cx="13441206" cy="7745495"/>
          </a:xfrm>
          <a:custGeom>
            <a:rect b="b" l="l" r="r" t="t"/>
            <a:pathLst>
              <a:path extrusionOk="0" h="7745495" w="13441206">
                <a:moveTo>
                  <a:pt x="0" y="0"/>
                </a:moveTo>
                <a:lnTo>
                  <a:pt x="13441206" y="0"/>
                </a:lnTo>
                <a:lnTo>
                  <a:pt x="13441206" y="7745495"/>
                </a:lnTo>
                <a:lnTo>
                  <a:pt x="0" y="7745495"/>
                </a:lnTo>
                <a:lnTo>
                  <a:pt x="0" y="0"/>
                </a:lnTo>
                <a:close/>
              </a:path>
            </a:pathLst>
          </a:custGeom>
          <a:blipFill rotWithShape="1">
            <a:blip r:embed="rId4">
              <a:alphaModFix/>
            </a:blip>
            <a:stretch>
              <a:fillRect b="0" l="0" r="0" t="0"/>
            </a:stretch>
          </a:blipFill>
          <a:ln>
            <a:noFill/>
          </a:ln>
        </p:spPr>
      </p:sp>
      <p:sp>
        <p:nvSpPr>
          <p:cNvPr id="652" name="Google Shape;652;p29"/>
          <p:cNvSpPr txBox="1"/>
          <p:nvPr/>
        </p:nvSpPr>
        <p:spPr>
          <a:xfrm>
            <a:off x="1028700" y="1264250"/>
            <a:ext cx="80346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BURNDOWN CHART SPRINT 0</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0"/>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658" name="Google Shape;658;p30"/>
          <p:cNvSpPr/>
          <p:nvPr/>
        </p:nvSpPr>
        <p:spPr>
          <a:xfrm>
            <a:off x="567047" y="3149358"/>
            <a:ext cx="17153906" cy="3988283"/>
          </a:xfrm>
          <a:custGeom>
            <a:rect b="b" l="l" r="r" t="t"/>
            <a:pathLst>
              <a:path extrusionOk="0" h="3988283" w="17153906">
                <a:moveTo>
                  <a:pt x="0" y="0"/>
                </a:moveTo>
                <a:lnTo>
                  <a:pt x="17153906" y="0"/>
                </a:lnTo>
                <a:lnTo>
                  <a:pt x="17153906" y="3988284"/>
                </a:lnTo>
                <a:lnTo>
                  <a:pt x="0" y="3988284"/>
                </a:lnTo>
                <a:lnTo>
                  <a:pt x="0" y="0"/>
                </a:lnTo>
                <a:close/>
              </a:path>
            </a:pathLst>
          </a:custGeom>
          <a:blipFill rotWithShape="1">
            <a:blip r:embed="rId4">
              <a:alphaModFix/>
            </a:blip>
            <a:stretch>
              <a:fillRect b="0" l="0" r="0" t="0"/>
            </a:stretch>
          </a:blipFill>
          <a:ln>
            <a:noFill/>
          </a:ln>
        </p:spPr>
      </p:sp>
      <p:sp>
        <p:nvSpPr>
          <p:cNvPr id="659" name="Google Shape;659;p30"/>
          <p:cNvSpPr txBox="1"/>
          <p:nvPr/>
        </p:nvSpPr>
        <p:spPr>
          <a:xfrm>
            <a:off x="1028700" y="1264250"/>
            <a:ext cx="80727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IMPEDIMENT LOG SPRINT 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31"/>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665" name="Google Shape;665;p31"/>
          <p:cNvSpPr/>
          <p:nvPr/>
        </p:nvSpPr>
        <p:spPr>
          <a:xfrm>
            <a:off x="7957030" y="510661"/>
            <a:ext cx="6839533" cy="9265677"/>
          </a:xfrm>
          <a:custGeom>
            <a:rect b="b" l="l" r="r" t="t"/>
            <a:pathLst>
              <a:path extrusionOk="0" h="9265677" w="6839533">
                <a:moveTo>
                  <a:pt x="0" y="0"/>
                </a:moveTo>
                <a:lnTo>
                  <a:pt x="6839533" y="0"/>
                </a:lnTo>
                <a:lnTo>
                  <a:pt x="6839533" y="9265678"/>
                </a:lnTo>
                <a:lnTo>
                  <a:pt x="0" y="9265678"/>
                </a:lnTo>
                <a:lnTo>
                  <a:pt x="0" y="0"/>
                </a:lnTo>
                <a:close/>
              </a:path>
            </a:pathLst>
          </a:custGeom>
          <a:blipFill rotWithShape="1">
            <a:blip r:embed="rId4">
              <a:alphaModFix/>
            </a:blip>
            <a:stretch>
              <a:fillRect b="0" l="0" r="0" t="0"/>
            </a:stretch>
          </a:blipFill>
          <a:ln>
            <a:noFill/>
          </a:ln>
        </p:spPr>
      </p:sp>
      <p:sp>
        <p:nvSpPr>
          <p:cNvPr id="666" name="Google Shape;666;p31"/>
          <p:cNvSpPr/>
          <p:nvPr/>
        </p:nvSpPr>
        <p:spPr>
          <a:xfrm>
            <a:off x="9458698" y="1686830"/>
            <a:ext cx="2489178" cy="300114"/>
          </a:xfrm>
          <a:custGeom>
            <a:rect b="b" l="l" r="r" t="t"/>
            <a:pathLst>
              <a:path extrusionOk="0" h="300114" w="2489178">
                <a:moveTo>
                  <a:pt x="0" y="0"/>
                </a:moveTo>
                <a:lnTo>
                  <a:pt x="2489178" y="0"/>
                </a:lnTo>
                <a:lnTo>
                  <a:pt x="2489178" y="300113"/>
                </a:lnTo>
                <a:lnTo>
                  <a:pt x="0" y="300113"/>
                </a:lnTo>
                <a:lnTo>
                  <a:pt x="0" y="0"/>
                </a:lnTo>
                <a:close/>
              </a:path>
            </a:pathLst>
          </a:custGeom>
          <a:blipFill rotWithShape="1">
            <a:blip r:embed="rId5">
              <a:alphaModFix/>
            </a:blip>
            <a:stretch>
              <a:fillRect b="0" l="0" r="0" t="0"/>
            </a:stretch>
          </a:blipFill>
          <a:ln>
            <a:noFill/>
          </a:ln>
        </p:spPr>
      </p:sp>
      <p:sp>
        <p:nvSpPr>
          <p:cNvPr id="667" name="Google Shape;667;p31"/>
          <p:cNvSpPr/>
          <p:nvPr/>
        </p:nvSpPr>
        <p:spPr>
          <a:xfrm>
            <a:off x="9458698" y="1686830"/>
            <a:ext cx="2033115" cy="279922"/>
          </a:xfrm>
          <a:custGeom>
            <a:rect b="b" l="l" r="r" t="t"/>
            <a:pathLst>
              <a:path extrusionOk="0" h="279922" w="2033115">
                <a:moveTo>
                  <a:pt x="0" y="0"/>
                </a:moveTo>
                <a:lnTo>
                  <a:pt x="2033116" y="0"/>
                </a:lnTo>
                <a:lnTo>
                  <a:pt x="2033116" y="279921"/>
                </a:lnTo>
                <a:lnTo>
                  <a:pt x="0" y="279921"/>
                </a:lnTo>
                <a:lnTo>
                  <a:pt x="0" y="0"/>
                </a:lnTo>
                <a:close/>
              </a:path>
            </a:pathLst>
          </a:custGeom>
          <a:blipFill rotWithShape="1">
            <a:blip r:embed="rId6">
              <a:alphaModFix/>
            </a:blip>
            <a:stretch>
              <a:fillRect b="0" l="0" r="0" t="0"/>
            </a:stretch>
          </a:blipFill>
          <a:ln>
            <a:noFill/>
          </a:ln>
        </p:spPr>
      </p:sp>
      <p:sp>
        <p:nvSpPr>
          <p:cNvPr id="668" name="Google Shape;668;p31"/>
          <p:cNvSpPr txBox="1"/>
          <p:nvPr/>
        </p:nvSpPr>
        <p:spPr>
          <a:xfrm>
            <a:off x="2062946" y="4570864"/>
            <a:ext cx="4540438" cy="572663"/>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REVIEW SPRINT 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32"/>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674" name="Google Shape;674;p32"/>
          <p:cNvSpPr/>
          <p:nvPr/>
        </p:nvSpPr>
        <p:spPr>
          <a:xfrm>
            <a:off x="1745579" y="1458622"/>
            <a:ext cx="6179000" cy="8424851"/>
          </a:xfrm>
          <a:custGeom>
            <a:rect b="b" l="l" r="r" t="t"/>
            <a:pathLst>
              <a:path extrusionOk="0" h="8424851" w="6179000">
                <a:moveTo>
                  <a:pt x="0" y="0"/>
                </a:moveTo>
                <a:lnTo>
                  <a:pt x="6179000" y="0"/>
                </a:lnTo>
                <a:lnTo>
                  <a:pt x="6179000" y="8424851"/>
                </a:lnTo>
                <a:lnTo>
                  <a:pt x="0" y="8424851"/>
                </a:lnTo>
                <a:lnTo>
                  <a:pt x="0" y="0"/>
                </a:lnTo>
                <a:close/>
              </a:path>
            </a:pathLst>
          </a:custGeom>
          <a:blipFill rotWithShape="1">
            <a:blip r:embed="rId4">
              <a:alphaModFix/>
            </a:blip>
            <a:stretch>
              <a:fillRect b="0" l="0" r="0" t="0"/>
            </a:stretch>
          </a:blipFill>
          <a:ln>
            <a:noFill/>
          </a:ln>
        </p:spPr>
      </p:sp>
      <p:sp>
        <p:nvSpPr>
          <p:cNvPr id="675" name="Google Shape;675;p32"/>
          <p:cNvSpPr/>
          <p:nvPr/>
        </p:nvSpPr>
        <p:spPr>
          <a:xfrm>
            <a:off x="8460630" y="1836886"/>
            <a:ext cx="7075996" cy="7799678"/>
          </a:xfrm>
          <a:custGeom>
            <a:rect b="b" l="l" r="r" t="t"/>
            <a:pathLst>
              <a:path extrusionOk="0" h="7799678" w="7075996">
                <a:moveTo>
                  <a:pt x="0" y="0"/>
                </a:moveTo>
                <a:lnTo>
                  <a:pt x="7075996" y="0"/>
                </a:lnTo>
                <a:lnTo>
                  <a:pt x="7075996" y="7799678"/>
                </a:lnTo>
                <a:lnTo>
                  <a:pt x="0" y="7799678"/>
                </a:lnTo>
                <a:lnTo>
                  <a:pt x="0" y="0"/>
                </a:lnTo>
                <a:close/>
              </a:path>
            </a:pathLst>
          </a:custGeom>
          <a:blipFill rotWithShape="1">
            <a:blip r:embed="rId5">
              <a:alphaModFix/>
            </a:blip>
            <a:stretch>
              <a:fillRect b="0" l="0" r="0" t="0"/>
            </a:stretch>
          </a:blipFill>
          <a:ln>
            <a:noFill/>
          </a:ln>
        </p:spPr>
      </p:sp>
      <p:sp>
        <p:nvSpPr>
          <p:cNvPr id="676" name="Google Shape;676;p32"/>
          <p:cNvSpPr txBox="1"/>
          <p:nvPr/>
        </p:nvSpPr>
        <p:spPr>
          <a:xfrm>
            <a:off x="1500200" y="886025"/>
            <a:ext cx="72321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RETROSPECTIVE SPRINT 0</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33"/>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682" name="Google Shape;682;p33"/>
          <p:cNvSpPr/>
          <p:nvPr/>
        </p:nvSpPr>
        <p:spPr>
          <a:xfrm>
            <a:off x="5187846" y="1557041"/>
            <a:ext cx="11263267" cy="7701259"/>
          </a:xfrm>
          <a:custGeom>
            <a:rect b="b" l="l" r="r" t="t"/>
            <a:pathLst>
              <a:path extrusionOk="0" h="7701259" w="11263267">
                <a:moveTo>
                  <a:pt x="0" y="0"/>
                </a:moveTo>
                <a:lnTo>
                  <a:pt x="11263268" y="0"/>
                </a:lnTo>
                <a:lnTo>
                  <a:pt x="11263268" y="7701259"/>
                </a:lnTo>
                <a:lnTo>
                  <a:pt x="0" y="7701259"/>
                </a:lnTo>
                <a:lnTo>
                  <a:pt x="0" y="0"/>
                </a:lnTo>
                <a:close/>
              </a:path>
            </a:pathLst>
          </a:custGeom>
          <a:blipFill rotWithShape="1">
            <a:blip r:embed="rId4">
              <a:alphaModFix/>
            </a:blip>
            <a:stretch>
              <a:fillRect b="0" l="0" r="0" t="0"/>
            </a:stretch>
          </a:blipFill>
          <a:ln>
            <a:noFill/>
          </a:ln>
        </p:spPr>
      </p:sp>
      <p:sp>
        <p:nvSpPr>
          <p:cNvPr id="683" name="Google Shape;683;p33"/>
          <p:cNvSpPr/>
          <p:nvPr/>
        </p:nvSpPr>
        <p:spPr>
          <a:xfrm>
            <a:off x="1597438" y="2756062"/>
            <a:ext cx="2632234" cy="6063538"/>
          </a:xfrm>
          <a:custGeom>
            <a:rect b="b" l="l" r="r" t="t"/>
            <a:pathLst>
              <a:path extrusionOk="0" h="6063538" w="2632234">
                <a:moveTo>
                  <a:pt x="0" y="0"/>
                </a:moveTo>
                <a:lnTo>
                  <a:pt x="2632234" y="0"/>
                </a:lnTo>
                <a:lnTo>
                  <a:pt x="2632234" y="6063538"/>
                </a:lnTo>
                <a:lnTo>
                  <a:pt x="0" y="6063538"/>
                </a:lnTo>
                <a:lnTo>
                  <a:pt x="0" y="0"/>
                </a:lnTo>
                <a:close/>
              </a:path>
            </a:pathLst>
          </a:custGeom>
          <a:blipFill rotWithShape="1">
            <a:blip r:embed="rId5">
              <a:alphaModFix/>
            </a:blip>
            <a:stretch>
              <a:fillRect b="0" l="0" r="0" t="0"/>
            </a:stretch>
          </a:blipFill>
          <a:ln>
            <a:noFill/>
          </a:ln>
        </p:spPr>
      </p:sp>
      <p:sp>
        <p:nvSpPr>
          <p:cNvPr id="684" name="Google Shape;684;p33"/>
          <p:cNvSpPr txBox="1"/>
          <p:nvPr/>
        </p:nvSpPr>
        <p:spPr>
          <a:xfrm>
            <a:off x="1028700" y="515050"/>
            <a:ext cx="14069400" cy="86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600" u="none" cap="none" strike="noStrike">
                <a:solidFill>
                  <a:srgbClr val="336BE4"/>
                </a:solidFill>
                <a:latin typeface="Arial"/>
                <a:ea typeface="Arial"/>
                <a:cs typeface="Arial"/>
                <a:sym typeface="Arial"/>
              </a:rPr>
              <a:t>18 EVIDENCIAS ESPECÍFICA SPRINT 1</a:t>
            </a:r>
            <a:endParaRPr/>
          </a:p>
        </p:txBody>
      </p:sp>
      <p:sp>
        <p:nvSpPr>
          <p:cNvPr id="685" name="Google Shape;685;p33"/>
          <p:cNvSpPr txBox="1"/>
          <p:nvPr/>
        </p:nvSpPr>
        <p:spPr>
          <a:xfrm>
            <a:off x="895013" y="1913350"/>
            <a:ext cx="40371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SCRUM BOARD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34"/>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691" name="Google Shape;691;p34"/>
          <p:cNvSpPr/>
          <p:nvPr/>
        </p:nvSpPr>
        <p:spPr>
          <a:xfrm>
            <a:off x="845519" y="2666693"/>
            <a:ext cx="16596962" cy="5186551"/>
          </a:xfrm>
          <a:custGeom>
            <a:rect b="b" l="l" r="r" t="t"/>
            <a:pathLst>
              <a:path extrusionOk="0" h="5186551" w="16596962">
                <a:moveTo>
                  <a:pt x="0" y="0"/>
                </a:moveTo>
                <a:lnTo>
                  <a:pt x="16596962" y="0"/>
                </a:lnTo>
                <a:lnTo>
                  <a:pt x="16596962" y="5186550"/>
                </a:lnTo>
                <a:lnTo>
                  <a:pt x="0" y="5186550"/>
                </a:lnTo>
                <a:lnTo>
                  <a:pt x="0" y="0"/>
                </a:lnTo>
                <a:close/>
              </a:path>
            </a:pathLst>
          </a:custGeom>
          <a:blipFill rotWithShape="1">
            <a:blip r:embed="rId4">
              <a:alphaModFix/>
            </a:blip>
            <a:stretch>
              <a:fillRect b="0" l="0" r="0" t="0"/>
            </a:stretch>
          </a:blipFill>
          <a:ln>
            <a:noFill/>
          </a:ln>
        </p:spPr>
      </p:sp>
      <p:sp>
        <p:nvSpPr>
          <p:cNvPr id="692" name="Google Shape;692;p34"/>
          <p:cNvSpPr txBox="1"/>
          <p:nvPr/>
        </p:nvSpPr>
        <p:spPr>
          <a:xfrm>
            <a:off x="1028700" y="1264250"/>
            <a:ext cx="58320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SPRINT 1 BACKLOG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35"/>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698" name="Google Shape;698;p35"/>
          <p:cNvSpPr/>
          <p:nvPr/>
        </p:nvSpPr>
        <p:spPr>
          <a:xfrm>
            <a:off x="661714" y="3058395"/>
            <a:ext cx="16964571" cy="4792491"/>
          </a:xfrm>
          <a:custGeom>
            <a:rect b="b" l="l" r="r" t="t"/>
            <a:pathLst>
              <a:path extrusionOk="0" h="4792491" w="16964571">
                <a:moveTo>
                  <a:pt x="0" y="0"/>
                </a:moveTo>
                <a:lnTo>
                  <a:pt x="16964572" y="0"/>
                </a:lnTo>
                <a:lnTo>
                  <a:pt x="16964572" y="4792491"/>
                </a:lnTo>
                <a:lnTo>
                  <a:pt x="0" y="4792491"/>
                </a:lnTo>
                <a:lnTo>
                  <a:pt x="0" y="0"/>
                </a:lnTo>
                <a:close/>
              </a:path>
            </a:pathLst>
          </a:custGeom>
          <a:blipFill rotWithShape="1">
            <a:blip r:embed="rId4">
              <a:alphaModFix/>
            </a:blip>
            <a:stretch>
              <a:fillRect b="0" l="0" r="0" t="0"/>
            </a:stretch>
          </a:blipFill>
          <a:ln>
            <a:noFill/>
          </a:ln>
        </p:spPr>
      </p:sp>
      <p:sp>
        <p:nvSpPr>
          <p:cNvPr id="699" name="Google Shape;699;p35"/>
          <p:cNvSpPr txBox="1"/>
          <p:nvPr/>
        </p:nvSpPr>
        <p:spPr>
          <a:xfrm>
            <a:off x="1028700" y="1264250"/>
            <a:ext cx="57177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SPRINT 1 BACKLOG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36"/>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705" name="Google Shape;705;p36"/>
          <p:cNvSpPr/>
          <p:nvPr/>
        </p:nvSpPr>
        <p:spPr>
          <a:xfrm>
            <a:off x="2812929" y="2010388"/>
            <a:ext cx="12662141" cy="7907183"/>
          </a:xfrm>
          <a:custGeom>
            <a:rect b="b" l="l" r="r" t="t"/>
            <a:pathLst>
              <a:path extrusionOk="0" h="7907183" w="12662141">
                <a:moveTo>
                  <a:pt x="0" y="0"/>
                </a:moveTo>
                <a:lnTo>
                  <a:pt x="12662142" y="0"/>
                </a:lnTo>
                <a:lnTo>
                  <a:pt x="12662142" y="7907183"/>
                </a:lnTo>
                <a:lnTo>
                  <a:pt x="0" y="7907183"/>
                </a:lnTo>
                <a:lnTo>
                  <a:pt x="0" y="0"/>
                </a:lnTo>
                <a:close/>
              </a:path>
            </a:pathLst>
          </a:custGeom>
          <a:blipFill rotWithShape="1">
            <a:blip r:embed="rId4">
              <a:alphaModFix/>
            </a:blip>
            <a:stretch>
              <a:fillRect b="-240" l="0" r="0" t="-241"/>
            </a:stretch>
          </a:blipFill>
          <a:ln>
            <a:noFill/>
          </a:ln>
        </p:spPr>
      </p:sp>
      <p:sp>
        <p:nvSpPr>
          <p:cNvPr id="706" name="Google Shape;706;p36"/>
          <p:cNvSpPr txBox="1"/>
          <p:nvPr/>
        </p:nvSpPr>
        <p:spPr>
          <a:xfrm>
            <a:off x="1028700" y="1264250"/>
            <a:ext cx="75000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BURNDOWN CHART SPRINT 1</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37"/>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712" name="Google Shape;712;p37"/>
          <p:cNvSpPr/>
          <p:nvPr/>
        </p:nvSpPr>
        <p:spPr>
          <a:xfrm>
            <a:off x="867994" y="3332010"/>
            <a:ext cx="16552012" cy="4427663"/>
          </a:xfrm>
          <a:custGeom>
            <a:rect b="b" l="l" r="r" t="t"/>
            <a:pathLst>
              <a:path extrusionOk="0" h="4427663" w="16552012">
                <a:moveTo>
                  <a:pt x="0" y="0"/>
                </a:moveTo>
                <a:lnTo>
                  <a:pt x="16552012" y="0"/>
                </a:lnTo>
                <a:lnTo>
                  <a:pt x="16552012" y="4427663"/>
                </a:lnTo>
                <a:lnTo>
                  <a:pt x="0" y="4427663"/>
                </a:lnTo>
                <a:lnTo>
                  <a:pt x="0" y="0"/>
                </a:lnTo>
                <a:close/>
              </a:path>
            </a:pathLst>
          </a:custGeom>
          <a:blipFill rotWithShape="1">
            <a:blip r:embed="rId4">
              <a:alphaModFix/>
            </a:blip>
            <a:stretch>
              <a:fillRect b="0" l="0" r="0" t="0"/>
            </a:stretch>
          </a:blipFill>
          <a:ln>
            <a:noFill/>
          </a:ln>
        </p:spPr>
      </p:sp>
      <p:sp>
        <p:nvSpPr>
          <p:cNvPr id="713" name="Google Shape;713;p37"/>
          <p:cNvSpPr txBox="1"/>
          <p:nvPr/>
        </p:nvSpPr>
        <p:spPr>
          <a:xfrm>
            <a:off x="1028700" y="1264250"/>
            <a:ext cx="73473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IMPEDIMENT LOG SPRINT 1</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38"/>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719" name="Google Shape;719;p38"/>
          <p:cNvSpPr/>
          <p:nvPr/>
        </p:nvSpPr>
        <p:spPr>
          <a:xfrm>
            <a:off x="7987449" y="574149"/>
            <a:ext cx="6738088" cy="9138702"/>
          </a:xfrm>
          <a:custGeom>
            <a:rect b="b" l="l" r="r" t="t"/>
            <a:pathLst>
              <a:path extrusionOk="0" h="9138702" w="6738088">
                <a:moveTo>
                  <a:pt x="0" y="0"/>
                </a:moveTo>
                <a:lnTo>
                  <a:pt x="6738088" y="0"/>
                </a:lnTo>
                <a:lnTo>
                  <a:pt x="6738088" y="9138702"/>
                </a:lnTo>
                <a:lnTo>
                  <a:pt x="0" y="9138702"/>
                </a:lnTo>
                <a:lnTo>
                  <a:pt x="0" y="0"/>
                </a:lnTo>
                <a:close/>
              </a:path>
            </a:pathLst>
          </a:custGeom>
          <a:blipFill rotWithShape="1">
            <a:blip r:embed="rId4">
              <a:alphaModFix/>
            </a:blip>
            <a:stretch>
              <a:fillRect b="0" l="0" r="0" t="0"/>
            </a:stretch>
          </a:blipFill>
          <a:ln>
            <a:noFill/>
          </a:ln>
        </p:spPr>
      </p:sp>
      <p:sp>
        <p:nvSpPr>
          <p:cNvPr id="720" name="Google Shape;720;p38"/>
          <p:cNvSpPr txBox="1"/>
          <p:nvPr/>
        </p:nvSpPr>
        <p:spPr>
          <a:xfrm>
            <a:off x="1850013" y="4876245"/>
            <a:ext cx="6669769" cy="572609"/>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REVIEW SPRINT 1</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39"/>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3">
              <a:alphaModFix/>
            </a:blip>
            <a:stretch>
              <a:fillRect b="0" l="0" r="0" t="0"/>
            </a:stretch>
          </a:blipFill>
          <a:ln>
            <a:noFill/>
          </a:ln>
        </p:spPr>
      </p:sp>
      <p:sp>
        <p:nvSpPr>
          <p:cNvPr id="726" name="Google Shape;726;p39"/>
          <p:cNvSpPr/>
          <p:nvPr/>
        </p:nvSpPr>
        <p:spPr>
          <a:xfrm>
            <a:off x="2713580" y="2047798"/>
            <a:ext cx="5472331" cy="7386606"/>
          </a:xfrm>
          <a:custGeom>
            <a:rect b="b" l="l" r="r" t="t"/>
            <a:pathLst>
              <a:path extrusionOk="0" h="7386606" w="5472331">
                <a:moveTo>
                  <a:pt x="0" y="0"/>
                </a:moveTo>
                <a:lnTo>
                  <a:pt x="5472330" y="0"/>
                </a:lnTo>
                <a:lnTo>
                  <a:pt x="5472330" y="7386606"/>
                </a:lnTo>
                <a:lnTo>
                  <a:pt x="0" y="7386606"/>
                </a:lnTo>
                <a:lnTo>
                  <a:pt x="0" y="0"/>
                </a:lnTo>
                <a:close/>
              </a:path>
            </a:pathLst>
          </a:custGeom>
          <a:blipFill rotWithShape="1">
            <a:blip r:embed="rId4">
              <a:alphaModFix/>
            </a:blip>
            <a:stretch>
              <a:fillRect b="0" l="0" r="0" t="0"/>
            </a:stretch>
          </a:blipFill>
          <a:ln>
            <a:noFill/>
          </a:ln>
        </p:spPr>
      </p:sp>
      <p:sp>
        <p:nvSpPr>
          <p:cNvPr id="727" name="Google Shape;727;p39"/>
          <p:cNvSpPr/>
          <p:nvPr/>
        </p:nvSpPr>
        <p:spPr>
          <a:xfrm>
            <a:off x="9258748" y="1845932"/>
            <a:ext cx="5459452" cy="7790338"/>
          </a:xfrm>
          <a:custGeom>
            <a:rect b="b" l="l" r="r" t="t"/>
            <a:pathLst>
              <a:path extrusionOk="0" h="7790338" w="5459452">
                <a:moveTo>
                  <a:pt x="0" y="0"/>
                </a:moveTo>
                <a:lnTo>
                  <a:pt x="5459453" y="0"/>
                </a:lnTo>
                <a:lnTo>
                  <a:pt x="5459453" y="7790338"/>
                </a:lnTo>
                <a:lnTo>
                  <a:pt x="0" y="7790338"/>
                </a:lnTo>
                <a:lnTo>
                  <a:pt x="0" y="0"/>
                </a:lnTo>
                <a:close/>
              </a:path>
            </a:pathLst>
          </a:custGeom>
          <a:blipFill rotWithShape="1">
            <a:blip r:embed="rId5">
              <a:alphaModFix/>
            </a:blip>
            <a:stretch>
              <a:fillRect b="0" l="0" r="0" t="0"/>
            </a:stretch>
          </a:blipFill>
          <a:ln>
            <a:noFill/>
          </a:ln>
        </p:spPr>
      </p:sp>
      <p:sp>
        <p:nvSpPr>
          <p:cNvPr id="728" name="Google Shape;728;p39"/>
          <p:cNvSpPr txBox="1"/>
          <p:nvPr/>
        </p:nvSpPr>
        <p:spPr>
          <a:xfrm>
            <a:off x="1028700" y="1264250"/>
            <a:ext cx="7461900" cy="617700"/>
          </a:xfrm>
          <a:prstGeom prst="rect">
            <a:avLst/>
          </a:prstGeom>
          <a:noFill/>
          <a:ln>
            <a:noFill/>
          </a:ln>
        </p:spPr>
        <p:txBody>
          <a:bodyPr anchorCtr="0" anchor="t" bIns="0" lIns="0" spcFirstLastPara="1" rIns="0" wrap="square" tIns="0">
            <a:spAutoFit/>
          </a:bodyPr>
          <a:lstStyle/>
          <a:p>
            <a:pPr indent="0" lvl="0" marL="0" marR="0" rtl="0" algn="l">
              <a:lnSpc>
                <a:spcPct val="109992"/>
              </a:lnSpc>
              <a:spcBef>
                <a:spcPts val="0"/>
              </a:spcBef>
              <a:spcAft>
                <a:spcPts val="0"/>
              </a:spcAft>
              <a:buNone/>
            </a:pPr>
            <a:r>
              <a:rPr b="1" i="0" lang="en-US" sz="4013" u="none" cap="none" strike="noStrike">
                <a:solidFill>
                  <a:srgbClr val="336BE4"/>
                </a:solidFill>
                <a:latin typeface="Arial"/>
                <a:ea typeface="Arial"/>
                <a:cs typeface="Arial"/>
                <a:sym typeface="Arial"/>
              </a:rPr>
              <a:t>RETROSPECTIVE SPRINT 1</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732" name="Shape 732"/>
        <p:cNvGrpSpPr/>
        <p:nvPr/>
      </p:nvGrpSpPr>
      <p:grpSpPr>
        <a:xfrm>
          <a:off x="0" y="0"/>
          <a:ext cx="0" cy="0"/>
          <a:chOff x="0" y="0"/>
          <a:chExt cx="0" cy="0"/>
        </a:xfrm>
      </p:grpSpPr>
      <p:sp>
        <p:nvSpPr>
          <p:cNvPr id="733" name="Google Shape;733;p40"/>
          <p:cNvSpPr/>
          <p:nvPr/>
        </p:nvSpPr>
        <p:spPr>
          <a:xfrm>
            <a:off x="3345024" y="2642776"/>
            <a:ext cx="2258442" cy="2258442"/>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b="-4957" l="0" r="0" t="-4958"/>
            </a:stretch>
          </a:blipFill>
          <a:ln cap="sq" cmpd="sng" w="95250">
            <a:solidFill>
              <a:srgbClr val="0097B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40"/>
          <p:cNvSpPr/>
          <p:nvPr/>
        </p:nvSpPr>
        <p:spPr>
          <a:xfrm>
            <a:off x="12684534" y="2642776"/>
            <a:ext cx="2258442" cy="2258442"/>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4">
              <a:alphaModFix/>
            </a:blip>
            <a:stretch>
              <a:fillRect b="-2565" l="0" r="0" t="-30924"/>
            </a:stretch>
          </a:blipFill>
          <a:ln cap="sq" cmpd="sng" w="95250">
            <a:solidFill>
              <a:srgbClr val="0097B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0"/>
          <p:cNvSpPr/>
          <p:nvPr/>
        </p:nvSpPr>
        <p:spPr>
          <a:xfrm>
            <a:off x="8016267" y="2642776"/>
            <a:ext cx="2258442" cy="2258442"/>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5">
              <a:alphaModFix/>
            </a:blip>
            <a:stretch>
              <a:fillRect b="0" l="-436" r="-437" t="0"/>
            </a:stretch>
          </a:blipFill>
          <a:ln cap="sq" cmpd="sng" w="95250">
            <a:solidFill>
              <a:srgbClr val="0097B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0"/>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6">
              <a:alphaModFix/>
            </a:blip>
            <a:stretch>
              <a:fillRect b="0" l="0" r="0" t="0"/>
            </a:stretch>
          </a:blipFill>
          <a:ln>
            <a:noFill/>
          </a:ln>
        </p:spPr>
      </p:sp>
      <p:sp>
        <p:nvSpPr>
          <p:cNvPr id="737" name="Google Shape;737;p40"/>
          <p:cNvSpPr txBox="1"/>
          <p:nvPr/>
        </p:nvSpPr>
        <p:spPr>
          <a:xfrm>
            <a:off x="1028700" y="1076325"/>
            <a:ext cx="9350809" cy="77343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400" u="none" cap="none" strike="noStrike">
                <a:solidFill>
                  <a:srgbClr val="152540"/>
                </a:solidFill>
                <a:latin typeface="Arial"/>
                <a:ea typeface="Arial"/>
                <a:cs typeface="Arial"/>
                <a:sym typeface="Arial"/>
              </a:rPr>
              <a:t>19 CONCLUSIONES</a:t>
            </a:r>
            <a:endParaRPr/>
          </a:p>
        </p:txBody>
      </p:sp>
      <p:grpSp>
        <p:nvGrpSpPr>
          <p:cNvPr id="738" name="Google Shape;738;p40"/>
          <p:cNvGrpSpPr/>
          <p:nvPr/>
        </p:nvGrpSpPr>
        <p:grpSpPr>
          <a:xfrm>
            <a:off x="12078208" y="5019574"/>
            <a:ext cx="3471093" cy="4238726"/>
            <a:chOff x="0" y="-38100"/>
            <a:chExt cx="807854" cy="986511"/>
          </a:xfrm>
        </p:grpSpPr>
        <p:sp>
          <p:nvSpPr>
            <p:cNvPr id="739" name="Google Shape;739;p40"/>
            <p:cNvSpPr/>
            <p:nvPr/>
          </p:nvSpPr>
          <p:spPr>
            <a:xfrm>
              <a:off x="0" y="0"/>
              <a:ext cx="807854" cy="948411"/>
            </a:xfrm>
            <a:custGeom>
              <a:rect b="b" l="l" r="r" t="t"/>
              <a:pathLst>
                <a:path extrusionOk="0" h="948411" w="807854">
                  <a:moveTo>
                    <a:pt x="807854" y="0"/>
                  </a:moveTo>
                  <a:lnTo>
                    <a:pt x="807854" y="948411"/>
                  </a:lnTo>
                  <a:lnTo>
                    <a:pt x="403927" y="821411"/>
                  </a:lnTo>
                  <a:lnTo>
                    <a:pt x="0" y="948411"/>
                  </a:lnTo>
                  <a:lnTo>
                    <a:pt x="0" y="0"/>
                  </a:lnTo>
                  <a:lnTo>
                    <a:pt x="807854" y="0"/>
                  </a:lnTo>
                  <a:close/>
                </a:path>
              </a:pathLst>
            </a:custGeom>
            <a:solidFill>
              <a:srgbClr val="0097B2"/>
            </a:solidFill>
            <a:ln>
              <a:noFill/>
            </a:ln>
          </p:spPr>
        </p:sp>
        <p:sp>
          <p:nvSpPr>
            <p:cNvPr id="740" name="Google Shape;740;p40"/>
            <p:cNvSpPr txBox="1"/>
            <p:nvPr/>
          </p:nvSpPr>
          <p:spPr>
            <a:xfrm>
              <a:off x="0" y="-38100"/>
              <a:ext cx="807854" cy="859511"/>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41" name="Google Shape;741;p40"/>
          <p:cNvSpPr txBox="1"/>
          <p:nvPr/>
        </p:nvSpPr>
        <p:spPr>
          <a:xfrm>
            <a:off x="12265509" y="6168512"/>
            <a:ext cx="3096492" cy="144589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00" u="none" cap="none" strike="noStrike">
                <a:solidFill>
                  <a:srgbClr val="FFFFFF"/>
                </a:solidFill>
                <a:latin typeface="Arial"/>
                <a:ea typeface="Arial"/>
                <a:cs typeface="Arial"/>
                <a:sym typeface="Arial"/>
              </a:rPr>
              <a:t>Gran anhelo por poder implementar nuestras habilidades adquiridas durante la carrera, sobre todo en análisis de datos.</a:t>
            </a:r>
            <a:endParaRPr/>
          </a:p>
        </p:txBody>
      </p:sp>
      <p:grpSp>
        <p:nvGrpSpPr>
          <p:cNvPr id="742" name="Google Shape;742;p40"/>
          <p:cNvGrpSpPr/>
          <p:nvPr/>
        </p:nvGrpSpPr>
        <p:grpSpPr>
          <a:xfrm>
            <a:off x="7409942" y="5019574"/>
            <a:ext cx="3471093" cy="4238726"/>
            <a:chOff x="0" y="-38100"/>
            <a:chExt cx="807854" cy="986511"/>
          </a:xfrm>
        </p:grpSpPr>
        <p:sp>
          <p:nvSpPr>
            <p:cNvPr id="743" name="Google Shape;743;p40"/>
            <p:cNvSpPr/>
            <p:nvPr/>
          </p:nvSpPr>
          <p:spPr>
            <a:xfrm>
              <a:off x="0" y="0"/>
              <a:ext cx="807854" cy="948411"/>
            </a:xfrm>
            <a:custGeom>
              <a:rect b="b" l="l" r="r" t="t"/>
              <a:pathLst>
                <a:path extrusionOk="0" h="948411" w="807854">
                  <a:moveTo>
                    <a:pt x="807854" y="0"/>
                  </a:moveTo>
                  <a:lnTo>
                    <a:pt x="807854" y="948411"/>
                  </a:lnTo>
                  <a:lnTo>
                    <a:pt x="403927" y="821411"/>
                  </a:lnTo>
                  <a:lnTo>
                    <a:pt x="0" y="948411"/>
                  </a:lnTo>
                  <a:lnTo>
                    <a:pt x="0" y="0"/>
                  </a:lnTo>
                  <a:lnTo>
                    <a:pt x="807854" y="0"/>
                  </a:lnTo>
                  <a:close/>
                </a:path>
              </a:pathLst>
            </a:custGeom>
            <a:solidFill>
              <a:srgbClr val="0097B2"/>
            </a:solidFill>
            <a:ln>
              <a:noFill/>
            </a:ln>
          </p:spPr>
        </p:sp>
        <p:sp>
          <p:nvSpPr>
            <p:cNvPr id="744" name="Google Shape;744;p40"/>
            <p:cNvSpPr txBox="1"/>
            <p:nvPr/>
          </p:nvSpPr>
          <p:spPr>
            <a:xfrm>
              <a:off x="0" y="-38100"/>
              <a:ext cx="807854" cy="859511"/>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45" name="Google Shape;745;p40"/>
          <p:cNvGrpSpPr/>
          <p:nvPr/>
        </p:nvGrpSpPr>
        <p:grpSpPr>
          <a:xfrm>
            <a:off x="2738699" y="5019574"/>
            <a:ext cx="3471093" cy="4406031"/>
            <a:chOff x="0" y="-38100"/>
            <a:chExt cx="807854" cy="1025449"/>
          </a:xfrm>
        </p:grpSpPr>
        <p:sp>
          <p:nvSpPr>
            <p:cNvPr id="746" name="Google Shape;746;p40"/>
            <p:cNvSpPr/>
            <p:nvPr/>
          </p:nvSpPr>
          <p:spPr>
            <a:xfrm>
              <a:off x="0" y="0"/>
              <a:ext cx="807854" cy="987349"/>
            </a:xfrm>
            <a:custGeom>
              <a:rect b="b" l="l" r="r" t="t"/>
              <a:pathLst>
                <a:path extrusionOk="0" h="987349" w="807854">
                  <a:moveTo>
                    <a:pt x="807854" y="0"/>
                  </a:moveTo>
                  <a:lnTo>
                    <a:pt x="807854" y="987349"/>
                  </a:lnTo>
                  <a:lnTo>
                    <a:pt x="403927" y="860349"/>
                  </a:lnTo>
                  <a:lnTo>
                    <a:pt x="0" y="987349"/>
                  </a:lnTo>
                  <a:lnTo>
                    <a:pt x="0" y="0"/>
                  </a:lnTo>
                  <a:lnTo>
                    <a:pt x="807854" y="0"/>
                  </a:lnTo>
                  <a:close/>
                </a:path>
              </a:pathLst>
            </a:custGeom>
            <a:solidFill>
              <a:srgbClr val="0097B2"/>
            </a:solidFill>
            <a:ln>
              <a:noFill/>
            </a:ln>
          </p:spPr>
        </p:sp>
        <p:sp>
          <p:nvSpPr>
            <p:cNvPr id="747" name="Google Shape;747;p40"/>
            <p:cNvSpPr txBox="1"/>
            <p:nvPr/>
          </p:nvSpPr>
          <p:spPr>
            <a:xfrm>
              <a:off x="0" y="-38100"/>
              <a:ext cx="807854" cy="898449"/>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48" name="Google Shape;748;p40"/>
          <p:cNvSpPr txBox="1"/>
          <p:nvPr/>
        </p:nvSpPr>
        <p:spPr>
          <a:xfrm>
            <a:off x="7595754" y="6168512"/>
            <a:ext cx="3096492" cy="173164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100" u="none" cap="none" strike="noStrike">
                <a:solidFill>
                  <a:srgbClr val="FFFFFF"/>
                </a:solidFill>
                <a:latin typeface="Arial"/>
                <a:ea typeface="Arial"/>
                <a:cs typeface="Arial"/>
                <a:sym typeface="Arial"/>
              </a:rPr>
              <a:t>EcoPulse me permitirá consolidar mis conocimientos técnicos y fortalecer mis habilidades para futuros desafíos profesionales.</a:t>
            </a:r>
            <a:endParaRPr/>
          </a:p>
        </p:txBody>
      </p:sp>
      <p:sp>
        <p:nvSpPr>
          <p:cNvPr id="749" name="Google Shape;749;p40"/>
          <p:cNvSpPr txBox="1"/>
          <p:nvPr/>
        </p:nvSpPr>
        <p:spPr>
          <a:xfrm>
            <a:off x="2861962" y="5236291"/>
            <a:ext cx="3166855" cy="3605612"/>
          </a:xfrm>
          <a:prstGeom prst="rect">
            <a:avLst/>
          </a:prstGeom>
          <a:noFill/>
          <a:ln>
            <a:noFill/>
          </a:ln>
        </p:spPr>
        <p:txBody>
          <a:bodyPr anchorCtr="0" anchor="t" bIns="0" lIns="0" spcFirstLastPara="1" rIns="0" wrap="square" tIns="0">
            <a:spAutoFit/>
          </a:bodyPr>
          <a:lstStyle/>
          <a:p>
            <a:pPr indent="0" lvl="0" marL="0" marR="0" rtl="0" algn="just">
              <a:lnSpc>
                <a:spcPct val="110020"/>
              </a:lnSpc>
              <a:spcBef>
                <a:spcPts val="0"/>
              </a:spcBef>
              <a:spcAft>
                <a:spcPts val="0"/>
              </a:spcAft>
              <a:buNone/>
            </a:pPr>
            <a:r>
              <a:rPr b="1" i="0" lang="en-US" sz="1906" u="none" cap="none" strike="noStrike">
                <a:solidFill>
                  <a:srgbClr val="FFFFFF"/>
                </a:solidFill>
                <a:latin typeface="Arial"/>
                <a:ea typeface="Arial"/>
                <a:cs typeface="Arial"/>
                <a:sym typeface="Arial"/>
              </a:rPr>
              <a:t>EcoPulse me permitió mejorar mis conocimientos en análisis de datos.  También, a fortalecer mis habilidades en el uso de herramientas en la nube, el diseño y gestión de infraestructuras tecnológicas, y la administración de bases de datos, ampliando así mi preparación para afrontar con éxito futuros desafíos en el ámbito profesional.</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C52FF"/>
            </a:gs>
            <a:gs pos="100000">
              <a:srgbClr val="5CE1E6"/>
            </a:gs>
          </a:gsLst>
          <a:lin ang="0" scaled="0"/>
        </a:gradFill>
      </p:bgPr>
    </p:bg>
    <p:spTree>
      <p:nvGrpSpPr>
        <p:cNvPr id="753" name="Shape 753"/>
        <p:cNvGrpSpPr/>
        <p:nvPr/>
      </p:nvGrpSpPr>
      <p:grpSpPr>
        <a:xfrm>
          <a:off x="0" y="0"/>
          <a:ext cx="0" cy="0"/>
          <a:chOff x="0" y="0"/>
          <a:chExt cx="0" cy="0"/>
        </a:xfrm>
      </p:grpSpPr>
      <p:sp>
        <p:nvSpPr>
          <p:cNvPr id="754" name="Google Shape;754;p41"/>
          <p:cNvSpPr/>
          <p:nvPr/>
        </p:nvSpPr>
        <p:spPr>
          <a:xfrm>
            <a:off x="8543958" y="5753691"/>
            <a:ext cx="1200083" cy="940429"/>
          </a:xfrm>
          <a:custGeom>
            <a:rect b="b" l="l" r="r" t="t"/>
            <a:pathLst>
              <a:path extrusionOk="0" h="940429" w="1200083">
                <a:moveTo>
                  <a:pt x="0" y="0"/>
                </a:moveTo>
                <a:lnTo>
                  <a:pt x="1200084" y="0"/>
                </a:lnTo>
                <a:lnTo>
                  <a:pt x="1200084" y="940429"/>
                </a:lnTo>
                <a:lnTo>
                  <a:pt x="0" y="940429"/>
                </a:lnTo>
                <a:lnTo>
                  <a:pt x="0" y="0"/>
                </a:lnTo>
                <a:close/>
              </a:path>
            </a:pathLst>
          </a:custGeom>
          <a:blipFill rotWithShape="1">
            <a:blip r:embed="rId3">
              <a:alphaModFix/>
            </a:blip>
            <a:stretch>
              <a:fillRect b="0" l="0" r="0" t="0"/>
            </a:stretch>
          </a:blipFill>
          <a:ln>
            <a:noFill/>
          </a:ln>
        </p:spPr>
      </p:sp>
      <p:sp>
        <p:nvSpPr>
          <p:cNvPr id="755" name="Google Shape;755;p41"/>
          <p:cNvSpPr txBox="1"/>
          <p:nvPr/>
        </p:nvSpPr>
        <p:spPr>
          <a:xfrm>
            <a:off x="4084775" y="4306500"/>
            <a:ext cx="11051400" cy="874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679" u="none" cap="none" strike="noStrike">
                <a:solidFill>
                  <a:srgbClr val="FFFFFF"/>
                </a:solidFill>
                <a:latin typeface="Arial"/>
                <a:ea typeface="Arial"/>
                <a:cs typeface="Arial"/>
                <a:sym typeface="Arial"/>
              </a:rPr>
              <a:t>GRACIAS POR SU ATENCIÓN</a:t>
            </a:r>
            <a:endParaRPr/>
          </a:p>
        </p:txBody>
      </p:sp>
      <p:sp>
        <p:nvSpPr>
          <p:cNvPr id="756" name="Google Shape;756;p41"/>
          <p:cNvSpPr/>
          <p:nvPr/>
        </p:nvSpPr>
        <p:spPr>
          <a:xfrm>
            <a:off x="16451114" y="220514"/>
            <a:ext cx="1616373" cy="1616373"/>
          </a:xfrm>
          <a:custGeom>
            <a:rect b="b" l="l" r="r" t="t"/>
            <a:pathLst>
              <a:path extrusionOk="0" h="1616373" w="1616373">
                <a:moveTo>
                  <a:pt x="0" y="0"/>
                </a:moveTo>
                <a:lnTo>
                  <a:pt x="1616372" y="0"/>
                </a:lnTo>
                <a:lnTo>
                  <a:pt x="1616372" y="1616372"/>
                </a:lnTo>
                <a:lnTo>
                  <a:pt x="0" y="1616372"/>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